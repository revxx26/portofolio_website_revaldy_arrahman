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47f9e953fe240b3" /><Relationship Type="http://schemas.openxmlformats.org/officeDocument/2006/relationships/extended-properties" Target="/docProps/app.xml" Id="Rf4ea51dcd9e24681" /><Relationship Type="http://schemas.openxmlformats.org/officeDocument/2006/relationships/officeDocument" Target="/ppt/presentation.xml" Id="R0edbee1ad8484f05" /></Relationships>
</file>

<file path=ppt/presentation.xml><?xml version="1.0" encoding="utf-8"?>
<p:presentation xmlns:p="http://schemas.openxmlformats.org/presentationml/2006/main">
  <p:sldMasterIdLst>
    <p:sldMasterId xmlns:r="http://schemas.openxmlformats.org/officeDocument/2006/relationships" id="2147483648" r:id="R34e776007b1f4c50"/>
  </p:sldMasterIdLst>
  <p:notesMasterIdLst>
    <p:notesMasterId xmlns:r="http://schemas.openxmlformats.org/officeDocument/2006/relationships" r:id="R1e95cb5f4b6847d9"/>
  </p:notesMasterIdLst>
  <p:sldIdLst>
    <p:sldId xmlns:r="http://schemas.openxmlformats.org/officeDocument/2006/relationships" id="256" r:id="R86b5ccb28a9a48c1"/>
    <p:sldId xmlns:r="http://schemas.openxmlformats.org/officeDocument/2006/relationships" id="257" r:id="R859b4508bb39456b"/>
    <p:sldId xmlns:r="http://schemas.openxmlformats.org/officeDocument/2006/relationships" id="258" r:id="R3dc31ac9474c44db"/>
    <p:sldId xmlns:r="http://schemas.openxmlformats.org/officeDocument/2006/relationships" id="259" r:id="Rb363cfa9168b4d79"/>
    <p:sldId xmlns:r="http://schemas.openxmlformats.org/officeDocument/2006/relationships" id="260" r:id="Rab7fd9df5d4b48a5"/>
    <p:sldId xmlns:r="http://schemas.openxmlformats.org/officeDocument/2006/relationships" id="261" r:id="R8924e66cfa3643fe"/>
    <p:sldId xmlns:r="http://schemas.openxmlformats.org/officeDocument/2006/relationships" id="262" r:id="R04a6d6798e8547c7"/>
    <p:sldId xmlns:r="http://schemas.openxmlformats.org/officeDocument/2006/relationships" id="263" r:id="R906f3b672325443b"/>
    <p:sldId xmlns:r="http://schemas.openxmlformats.org/officeDocument/2006/relationships" id="264" r:id="Rd1fcac883fc14aa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6785bf6c8ba494e" /><Relationship Type="http://schemas.openxmlformats.org/officeDocument/2006/relationships/slideMaster" Target="/ppt/slideMasters/slideMaster1.xml" Id="R34e776007b1f4c50" /><Relationship Type="http://schemas.openxmlformats.org/officeDocument/2006/relationships/notesMaster" Target="/ppt/notesMasters/notesMaster1.xml" Id="R1e95cb5f4b6847d9" /><Relationship Type="http://schemas.openxmlformats.org/officeDocument/2006/relationships/presProps" Target="/ppt/presProps.xml" Id="Ref038992977b4fcb" /><Relationship Type="http://schemas.openxmlformats.org/officeDocument/2006/relationships/tableStyles" Target="/ppt/tableStyles.xml" Id="Rbeb661bcd9ed486b" /><Relationship Type="http://schemas.openxmlformats.org/officeDocument/2006/relationships/slide" Target="/ppt/slides/slide1.xml" Id="R86b5ccb28a9a48c1" /><Relationship Type="http://schemas.openxmlformats.org/officeDocument/2006/relationships/slide" Target="/ppt/slides/slide2.xml" Id="R859b4508bb39456b" /><Relationship Type="http://schemas.openxmlformats.org/officeDocument/2006/relationships/slide" Target="/ppt/slides/slide3.xml" Id="R3dc31ac9474c44db" /><Relationship Type="http://schemas.openxmlformats.org/officeDocument/2006/relationships/slide" Target="/ppt/slides/slide4.xml" Id="Rb363cfa9168b4d79" /><Relationship Type="http://schemas.openxmlformats.org/officeDocument/2006/relationships/slide" Target="/ppt/slides/slide5.xml" Id="Rab7fd9df5d4b48a5" /><Relationship Type="http://schemas.openxmlformats.org/officeDocument/2006/relationships/slide" Target="/ppt/slides/slide6.xml" Id="R8924e66cfa3643fe" /><Relationship Type="http://schemas.openxmlformats.org/officeDocument/2006/relationships/slide" Target="/ppt/slides/slide7.xml" Id="R04a6d6798e8547c7" /><Relationship Type="http://schemas.openxmlformats.org/officeDocument/2006/relationships/slide" Target="/ppt/slides/slide8.xml" Id="R906f3b672325443b" /><Relationship Type="http://schemas.openxmlformats.org/officeDocument/2006/relationships/slide" Target="/ppt/slides/slide9.xml" Id="Rd1fcac883fc14aa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29447a1e303409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5b97be056fc4955" /><Relationship Type="http://schemas.openxmlformats.org/officeDocument/2006/relationships/notesMaster" Target="/ppt/notesMasters/notesMaster1.xml" Id="R53a0dfa928e24dee" /></Relationships>
</file>

<file path=ppt/notesSlides/_rels/notesSlide2.xml.rels>&#65279;<?xml version="1.0" encoding="utf-8"?><Relationships xmlns="http://schemas.openxmlformats.org/package/2006/relationships"><Relationship Type="http://schemas.openxmlformats.org/officeDocument/2006/relationships/slide" Target="/ppt/slides/slide2.xml" Id="R25e0f5dc13a34cf9" /><Relationship Type="http://schemas.openxmlformats.org/officeDocument/2006/relationships/notesMaster" Target="/ppt/notesMasters/notesMaster1.xml" Id="R5749b38541e748e3" /></Relationships>
</file>

<file path=ppt/notesSlides/_rels/notesSlide3.xml.rels>&#65279;<?xml version="1.0" encoding="utf-8"?><Relationships xmlns="http://schemas.openxmlformats.org/package/2006/relationships"><Relationship Type="http://schemas.openxmlformats.org/officeDocument/2006/relationships/slide" Target="/ppt/slides/slide3.xml" Id="Rcbcedc97594c4931" /><Relationship Type="http://schemas.openxmlformats.org/officeDocument/2006/relationships/notesMaster" Target="/ppt/notesMasters/notesMaster1.xml" Id="Rf1986dfd9f2c4a27" /></Relationships>
</file>

<file path=ppt/notesSlides/_rels/notesSlide4.xml.rels>&#65279;<?xml version="1.0" encoding="utf-8"?><Relationships xmlns="http://schemas.openxmlformats.org/package/2006/relationships"><Relationship Type="http://schemas.openxmlformats.org/officeDocument/2006/relationships/slide" Target="/ppt/slides/slide4.xml" Id="R46884daa9daf4461" /><Relationship Type="http://schemas.openxmlformats.org/officeDocument/2006/relationships/notesMaster" Target="/ppt/notesMasters/notesMaster1.xml" Id="Rb8686c1f180e428e" /></Relationships>
</file>

<file path=ppt/notesSlides/_rels/notesSlide5.xml.rels>&#65279;<?xml version="1.0" encoding="utf-8"?><Relationships xmlns="http://schemas.openxmlformats.org/package/2006/relationships"><Relationship Type="http://schemas.openxmlformats.org/officeDocument/2006/relationships/slide" Target="/ppt/slides/slide5.xml" Id="R36dc9062f7e94969" /><Relationship Type="http://schemas.openxmlformats.org/officeDocument/2006/relationships/notesMaster" Target="/ppt/notesMasters/notesMaster1.xml" Id="R26f8e710c5d24e64" /></Relationships>
</file>

<file path=ppt/notesSlides/_rels/notesSlide6.xml.rels>&#65279;<?xml version="1.0" encoding="utf-8"?><Relationships xmlns="http://schemas.openxmlformats.org/package/2006/relationships"><Relationship Type="http://schemas.openxmlformats.org/officeDocument/2006/relationships/slide" Target="/ppt/slides/slide6.xml" Id="R12abf4ab4b7346b8" /><Relationship Type="http://schemas.openxmlformats.org/officeDocument/2006/relationships/notesMaster" Target="/ppt/notesMasters/notesMaster1.xml" Id="R4df8c699a9584fc7" /></Relationships>
</file>

<file path=ppt/notesSlides/_rels/notesSlide7.xml.rels>&#65279;<?xml version="1.0" encoding="utf-8"?><Relationships xmlns="http://schemas.openxmlformats.org/package/2006/relationships"><Relationship Type="http://schemas.openxmlformats.org/officeDocument/2006/relationships/slide" Target="/ppt/slides/slide7.xml" Id="R3cffceed9ae24eca" /><Relationship Type="http://schemas.openxmlformats.org/officeDocument/2006/relationships/notesMaster" Target="/ppt/notesMasters/notesMaster1.xml" Id="R9c610872e04446ae" /></Relationships>
</file>

<file path=ppt/notesSlides/_rels/notesSlide8.xml.rels>&#65279;<?xml version="1.0" encoding="utf-8"?><Relationships xmlns="http://schemas.openxmlformats.org/package/2006/relationships"><Relationship Type="http://schemas.openxmlformats.org/officeDocument/2006/relationships/slide" Target="/ppt/slides/slide8.xml" Id="Reb61c85cf6884437" /><Relationship Type="http://schemas.openxmlformats.org/officeDocument/2006/relationships/notesMaster" Target="/ppt/notesMasters/notesMaster1.xml" Id="R410820f0335c41cb" /></Relationships>
</file>

<file path=ppt/notesSlides/_rels/notesSlide9.xml.rels>&#65279;<?xml version="1.0" encoding="utf-8"?><Relationships xmlns="http://schemas.openxmlformats.org/package/2006/relationships"><Relationship Type="http://schemas.openxmlformats.org/officeDocument/2006/relationships/slide" Target="/ppt/slides/slide9.xml" Id="R4a810415ad8948f7" /><Relationship Type="http://schemas.openxmlformats.org/officeDocument/2006/relationships/notesMaster" Target="/ppt/notesMasters/notesMaster1.xml" Id="R21602454d8df4bf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Name, education and career interests supplied by user. Cover illustration generated using ImageGen. Illustration contains no project data or measured performance.</a:t>
            </a:r>
          </a:p>
          <a:p xmlns:a="http://schemas.openxmlformats.org/drawingml/2006/main">
            <a:r>
              <a:t>Visual icons: bundled Lucide library (ISC 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profile: Information Systems student, Universitas Bina Sarana Informatika, semester 7, GPA 3.84. GPA scale not provided. Career statements indicate interest and development direction rather than production engineering experience.</a:t>
            </a:r>
          </a:p>
          <a:p xmlns:a="http://schemas.openxmlformats.org/drawingml/2006/main">
            <a:r>
              <a:t>Visual icons: bundled Lucide library (ISC 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Customer_Churn_Analysis_Telecom (7).pdf pages 6, 7, 11, 13; ANALISA_CHURN_TELEKOMUNIKASI (2).ipynb cells 5, 9, 12, 13, 25, 26. Raw 7043 customers, 7032 cleaned after dropping 11 missing total-charge records. Contract churn rates 42.709677% monthly and 2.848665% two year. Balanced logistic regression test churn recall 0.77, precision 0.50, test support 1407. Dashboard is Tableau Public, not Power BI. Image copied from supplied PDF, preserves its original colors and content. Associations do not establish causation.</a:t>
            </a:r>
          </a:p>
          <a:p xmlns:a="http://schemas.openxmlformats.org/drawingml/2006/main">
            <a:r>
              <a:t>Visual icons: bundled Lucide library (ISC 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Academic team project. Sources: analisa_sentimen_MBG.ipynb cells 2, 17, 19, 23, 27, 28; MBG supplied paper pages 13-15. Notebook loads 3459 posts; 3333 remain after preprocessing; 1875 positive/negative auto-labeled records; class counts positive1437/negative438; test375; saved accuracy81.07%; negative recall0.30. Targets generated by a keyword lexicon, neutral data removed. This measures agreement with automatic labels, not independent human-validated public sentiment. The supplied paper reports90.11% and uses different confusion matrix, counts and test support. Images on this slide and metrics all follow the same supplied notebook output. No results re-run or altered. Individual contribution within academic team not specified.</a:t>
            </a:r>
          </a:p>
          <a:p xmlns:a="http://schemas.openxmlformats.org/drawingml/2006/main">
            <a:r>
              <a:t>Visual icons: bundled Lucide library (ISC 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Academic team project; Revaldy Arrahman is a coauthor. Sources: Analisa Klasifikasi Tingkat Kemiskinan di Jawa Timur.pdf pages13-16; KLASIFIKASI_KEMISKINAN_JAWA_TIMUR_MENGGUNAKAN_METODE_NAIVE_BAYES.ipynb cells2-9. Source screenshot is a scatter plot of class labels, not independent proof of predictive performance. Paper reports CA0.921,AUC0.276,MCC0.00,F10.883. Figure and printed paper text place Sampang, Bangkalan, Sumenep in class1 and other regions in class0. Notebook illustrates class statistics and manual Bayes calculations; numerical/manual input inconsistencies prevent treating it as a validated predictor. Reported metrics shown with explicit paper attribution and limitation. Crop removes desktop/tool panels and preserves chart content and class labels.</a:t>
            </a:r>
          </a:p>
          <a:p xmlns:a="http://schemas.openxmlformats.org/drawingml/2006/main">
            <a:r>
              <a:t>Visual icons: bundled Lucide library (ISC 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User-declared skills: Python,SQL,PowerBI,MicrosoftExcel,GoogleSheets/GoogleWorkspace,PostgreSQL,MicrosoftOffice,data processing. Project-evidenced tools from supplied notebooks and PDFs: pandas,scikit-learn,SQLite,Tableau,Orange. No proficiency percentages or measured skill levels assigned.</a:t>
            </a:r>
          </a:p>
          <a:p xmlns:a="http://schemas.openxmlformats.org/drawingml/2006/main">
            <a:r>
              <a:t>Visual icons: bundled Lucide library (ISC 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experiences from user description. HOK shown as primary data-relevant experience. Five-stage diagram depicts the program process; support through disbursement does not imply Revaldy personally approved or disbursed funds. No dates/formal job titles or performance metrics supplied. PT Palapa Alta Utama was a vocational school PKL internship, involved e-commerce operations and assisting network-printing configuration.</a:t>
            </a:r>
          </a:p>
          <a:p xmlns:a="http://schemas.openxmlformats.org/drawingml/2006/main">
            <a:r>
              <a:t>Visual icons: bundled Lucide library (ISC 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Workflow synthesized from project steps and data operations experience. User-declared strengths: teamwork, detail-oriented, quick adaptation and interest in solving problems using data. No independently measured behavioral outcomes claimed.</a:t>
            </a:r>
          </a:p>
          <a:p xmlns:a="http://schemas.openxmlformats.org/drawingml/2006/main">
            <a:r>
              <a:t>Visual icons: bundled Lucide library (ISC 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Contact placeholders requested by user. QR icon is a visible placeholder, not a working QR code. Replace it with a real QR once the portfolio URL is available.</a:t>
            </a:r>
          </a:p>
          <a:p xmlns:a="http://schemas.openxmlformats.org/drawingml/2006/main">
            <a:r>
              <a:t>Visual icons: bundled Lucide library (ISC 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7b75a598165487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563b93fdf4a498b" /><Relationship Type="http://schemas.openxmlformats.org/officeDocument/2006/relationships/slideLayout" Target="/ppt/slideLayouts/slideLayout1.xml" Id="Raafae7c2f6ce41a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afae7c2f6ce41a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6e43ba6aa47436c" /><Relationship Type="http://schemas.openxmlformats.org/officeDocument/2006/relationships/image" Target="/ppt/media/image.png" Id="R98623ba11fb84084" /><Relationship Type="http://schemas.openxmlformats.org/officeDocument/2006/relationships/image" Target="/ppt/media/image2.png" Id="R66822f1c8a9e4eb5" /><Relationship Type="http://schemas.openxmlformats.org/officeDocument/2006/relationships/image" Target="/ppt/media/image3.png" Id="Rc0b8c369f80e4748" /><Relationship Type="http://schemas.openxmlformats.org/officeDocument/2006/relationships/image" Target="/ppt/media/image4.png" Id="Rdf07719d4d1644a3" /><Relationship Type="http://schemas.openxmlformats.org/officeDocument/2006/relationships/notesSlide" Target="/ppt/notesSlides/notesSlide1.xml" Id="Rc74528f522fc4b8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452bc7efabe4b81" /><Relationship Type="http://schemas.openxmlformats.org/officeDocument/2006/relationships/image" Target="/ppt/media/image5.png" Id="R70b119682a804ad2" /><Relationship Type="http://schemas.openxmlformats.org/officeDocument/2006/relationships/image" Target="/ppt/media/image6.png" Id="R6cadf15d49864685" /><Relationship Type="http://schemas.openxmlformats.org/officeDocument/2006/relationships/image" Target="/ppt/media/image7.png" Id="R22e2d0fa201945c7" /><Relationship Type="http://schemas.openxmlformats.org/officeDocument/2006/relationships/notesSlide" Target="/ppt/notesSlides/notesSlide2.xml" Id="R75c8e186476944e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83a70df5e0240db" /><Relationship Type="http://schemas.openxmlformats.org/officeDocument/2006/relationships/image" Target="/ppt/media/image8.png" Id="R3be2d5f8963046be" /><Relationship Type="http://schemas.openxmlformats.org/officeDocument/2006/relationships/image" Target="/ppt/media/image9.png" Id="R1f0d61e5dedc4a3c" /><Relationship Type="http://schemas.openxmlformats.org/officeDocument/2006/relationships/image" Target="/ppt/media/image10.png" Id="R6a7953e33f6147da" /><Relationship Type="http://schemas.openxmlformats.org/officeDocument/2006/relationships/image" Target="/ppt/media/image.jpeg" Id="Rc41a3419dac94fff" /><Relationship Type="http://schemas.openxmlformats.org/officeDocument/2006/relationships/notesSlide" Target="/ppt/notesSlides/notesSlide3.xml" Id="Rae59af822f6148c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47f26408c524e82" /><Relationship Type="http://schemas.openxmlformats.org/officeDocument/2006/relationships/image" Target="/ppt/media/image11.png" Id="Rdd268aef930e4702" /><Relationship Type="http://schemas.openxmlformats.org/officeDocument/2006/relationships/image" Target="/ppt/media/image12.png" Id="R7fdba8f2b88041a2" /><Relationship Type="http://schemas.openxmlformats.org/officeDocument/2006/relationships/image" Target="/ppt/media/image13.png" Id="Rb617f103e5424cdd" /><Relationship Type="http://schemas.openxmlformats.org/officeDocument/2006/relationships/image" Target="/ppt/media/image14.png" Id="R5edafbb678274a11" /><Relationship Type="http://schemas.openxmlformats.org/officeDocument/2006/relationships/image" Target="/ppt/media/image15.png" Id="R2ea4c8b3acd34d3b" /><Relationship Type="http://schemas.openxmlformats.org/officeDocument/2006/relationships/chart" Target="/ppt/slides/charts/chart1.xml" Id="R55323bd4dd05490a" /><Relationship Type="http://schemas.openxmlformats.org/officeDocument/2006/relationships/notesSlide" Target="/ppt/notesSlides/notesSlide4.xml" Id="R890eb4059b2e4b1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2838da0dfcf440d" /><Relationship Type="http://schemas.openxmlformats.org/officeDocument/2006/relationships/image" Target="/ppt/media/image16.png" Id="R85fbc3fa07014b96" /><Relationship Type="http://schemas.openxmlformats.org/officeDocument/2006/relationships/image" Target="/ppt/media/image17.png" Id="R9acdf7ebe41c47d1" /><Relationship Type="http://schemas.openxmlformats.org/officeDocument/2006/relationships/image" Target="/ppt/media/image18.png" Id="R4af95dd449924f45" /><Relationship Type="http://schemas.openxmlformats.org/officeDocument/2006/relationships/image" Target="/ppt/media/image19.png" Id="Re6f338910bee4cc5" /><Relationship Type="http://schemas.openxmlformats.org/officeDocument/2006/relationships/image" Target="/ppt/media/image20.png" Id="R6fdde5ddcd3c4643" /><Relationship Type="http://schemas.openxmlformats.org/officeDocument/2006/relationships/notesSlide" Target="/ppt/notesSlides/notesSlide5.xml" Id="R3fafb976c26f446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06c1d7400bb4175" /><Relationship Type="http://schemas.openxmlformats.org/officeDocument/2006/relationships/image" Target="/ppt/media/image21.png" Id="Ra5f5d0f4bd2c4100" /><Relationship Type="http://schemas.openxmlformats.org/officeDocument/2006/relationships/image" Target="/ppt/media/image22.png" Id="R98c334f364744b81" /><Relationship Type="http://schemas.openxmlformats.org/officeDocument/2006/relationships/image" Target="/ppt/media/image23.png" Id="R0b50f15c211e49eb" /><Relationship Type="http://schemas.openxmlformats.org/officeDocument/2006/relationships/notesSlide" Target="/ppt/notesSlides/notesSlide6.xml" Id="Rbd67a07ef3474ad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b127f300ff44703" /><Relationship Type="http://schemas.openxmlformats.org/officeDocument/2006/relationships/image" Target="/ppt/media/image24.png" Id="R2df33921dba64602" /><Relationship Type="http://schemas.openxmlformats.org/officeDocument/2006/relationships/image" Target="/ppt/media/image25.png" Id="R1528223f3ab14a38" /><Relationship Type="http://schemas.openxmlformats.org/officeDocument/2006/relationships/notesSlide" Target="/ppt/notesSlides/notesSlide7.xml" Id="R9cf817e12cd9481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d5ed125848347f0" /><Relationship Type="http://schemas.openxmlformats.org/officeDocument/2006/relationships/image" Target="/ppt/media/image26.png" Id="Rab38d128344a4b7f" /><Relationship Type="http://schemas.openxmlformats.org/officeDocument/2006/relationships/image" Target="/ppt/media/image27.png" Id="R163fc758697c4cf9" /><Relationship Type="http://schemas.openxmlformats.org/officeDocument/2006/relationships/image" Target="/ppt/media/image28.png" Id="Rfc62ee2de0df4652" /><Relationship Type="http://schemas.openxmlformats.org/officeDocument/2006/relationships/image" Target="/ppt/media/image29.png" Id="R44108b65d681427e" /><Relationship Type="http://schemas.openxmlformats.org/officeDocument/2006/relationships/image" Target="/ppt/media/image30.png" Id="R02ce3922d39b434b" /><Relationship Type="http://schemas.openxmlformats.org/officeDocument/2006/relationships/image" Target="/ppt/media/image31.png" Id="Rc18010f7272a4738" /><Relationship Type="http://schemas.openxmlformats.org/officeDocument/2006/relationships/image" Target="/ppt/media/image32.png" Id="R54448f65868f4393" /><Relationship Type="http://schemas.openxmlformats.org/officeDocument/2006/relationships/image" Target="/ppt/media/image33.png" Id="Rb8624de5ac7c436e" /><Relationship Type="http://schemas.openxmlformats.org/officeDocument/2006/relationships/image" Target="/ppt/media/image34.png" Id="Rc4b3be30e2cd4a81" /><Relationship Type="http://schemas.openxmlformats.org/officeDocument/2006/relationships/notesSlide" Target="/ppt/notesSlides/notesSlide8.xml" Id="R27f7e7eb129a428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bd987decfc04c00" /><Relationship Type="http://schemas.openxmlformats.org/officeDocument/2006/relationships/image" Target="/ppt/media/image35.png" Id="R73713ae02f694a2c" /><Relationship Type="http://schemas.openxmlformats.org/officeDocument/2006/relationships/image" Target="/ppt/media/image36.png" Id="Rc2f7d15384444b77" /><Relationship Type="http://schemas.openxmlformats.org/officeDocument/2006/relationships/image" Target="/ppt/media/image37.png" Id="R8275c3aa2db04542" /><Relationship Type="http://schemas.openxmlformats.org/officeDocument/2006/relationships/image" Target="/ppt/media/image38.png" Id="Rb0cf1f200e01400b" /><Relationship Type="http://schemas.openxmlformats.org/officeDocument/2006/relationships/notesSlide" Target="/ppt/notesSlides/notesSlide9.xml" Id="R1c12457b00bc493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Posts</c:v>
          </c:tx>
          <c:spPr>
            <a:solidFill xmlns:a="http://schemas.openxmlformats.org/drawingml/2006/main">
              <a:srgbClr val="2463EB"/>
            </a:solidFill>
          </c:spPr>
          <c:dPt>
            <c:idx val="1"/>
            <c:invertIfNegative val="0"/>
            <c:spPr>
              <a:solidFill xmlns:a="http://schemas.openxmlformats.org/drawingml/2006/main">
                <a:srgbClr val="019CAC"/>
              </a:solidFill>
            </c:spPr>
          </c:dPt>
          <c:cat>
            <c:strRef>
              <c:f>'Chart Data'!$A$2:$A$3</c:f>
              <c:strCache>
                <c:ptCount val="2"/>
                <c:pt idx="0">
                  <c:v>Positive</c:v>
                </c:pt>
                <c:pt idx="1">
                  <c:v>Negative</c:v>
                </c:pt>
              </c:strCache>
            </c:strRef>
          </c:cat>
          <c:val>
            <c:numRef>
              <c:f>'Chart Data'!$B$2:$B$3</c:f>
              <c:numCache>
                <c:formatCode>0</c:formatCode>
                <c:ptCount val="2"/>
                <c:pt idx="0">
                  <c:v>1437</c:v>
                </c:pt>
                <c:pt idx="1">
                  <c:v>438</c:v>
                </c:pt>
              </c:numCache>
            </c:numRef>
          </c:val>
        </c:ser>
        <c:dLbls>
          <c:txPr>
            <a:bodyPr xmlns:a="http://schemas.openxmlformats.org/drawingml/2006/main" anchorCtr="1"/>
            <a:lstStyle xmlns:a="http://schemas.openxmlformats.org/drawingml/2006/main"/>
            <a:p xmlns:a="http://schemas.openxmlformats.org/drawingml/2006/main">
              <a:pPr>
                <a:defRPr sz="1200" b="1">
                  <a:solidFill>
                    <a:srgbClr val="112139"/>
                  </a:solidFill>
                  <a:latin typeface="Segoe UI"/>
                  <a:ea typeface="Segoe UI"/>
                  <a:cs typeface="Segoe UI"/>
                </a:defRPr>
              </a:pPr>
            </a:p>
          </c:txPr>
          <c:dLblPos val="outEnd"/>
          <c:showLegendKey val="0"/>
          <c:showVal val="1"/>
          <c:showCatName val="1"/>
          <c:showSerName val="0"/>
          <c:showPercent val="0"/>
          <c:showBubbleSize val="0"/>
          <c:showLeaderLines val="0"/>
        </c:dLbls>
        <c:gapWidth val="60"/>
        <c:axId val="48650112"/>
        <c:axId val="48672768"/>
      </c:barChart>
      <c:catAx>
        <c:axId val="48650112"/>
        <c:scaling>
          <c:orientation val="minMax"/>
        </c:scaling>
        <c:delete val="0"/>
        <c:axPos val="l"/>
        <c:numFmt formatCode="General"/>
        <c:majorTickMark val="none"/>
        <c:minorTickMark val="none"/>
        <c:tickLblPos val="nextTo"/>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050">
                <a:solidFill>
                  <a:srgbClr val="5B6B83"/>
                </a:solidFill>
                <a:latin typeface="Segoe UI"/>
                <a:ea typeface="Segoe UI"/>
                <a:cs typeface="Segoe UI"/>
              </a:defRPr>
            </a:pPr>
          </a:p>
        </c:txPr>
        <c:crossAx val="48672768"/>
      </c:catAx>
      <c:valAx>
        <c:axId val="48672768"/>
        <c:scaling>
          <c:orientation val="minMax"/>
          <c:max val="1700"/>
          <c:min val="0"/>
        </c:scaling>
        <c:delete val="0"/>
        <c:axPos val="b"/>
        <c:numFmt formatCode="General"/>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Segoe UI"/>
                <a:ea typeface="Segoe UI"/>
                <a:cs typeface="Segoe UI"/>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gradFill xmlns:a="http://schemas.openxmlformats.org/drawingml/2006/main">
          <a:gsLst>
            <a:gs pos="0">
              <a:srgbClr val="FFFFFF"/>
            </a:gs>
            <a:gs pos="70000">
              <a:srgbClr val="F3F8FF"/>
            </a:gs>
            <a:gs pos="100000">
              <a:srgbClr val="EAF6FF"/>
            </a:gs>
          </a:gsLst>
          <a:lin ang="0"/>
        </a:gradFill>
      </p:bgPr>
    </p:bg>
    <p:spTree>
      <p:nvGrpSpPr>
        <p:cNvPr id="1" name=""/>
        <p:cNvGrpSpPr/>
        <p:nvPr/>
      </p:nvGrpSpPr>
      <p:grpSpPr>
        <a:xfrm xmlns:a="http://schemas.openxmlformats.org/drawingml/2006/main"/>
      </p:grpSpPr>
      <p:sp>
        <p:nvSpPr>
          <p:cNvPr id="15" name="PORTFOLIO">
            <a:extLst xmlns:a="http://schemas.openxmlformats.org/drawingml/2006/main">
              <a:ext uri="{FF2B5EF4-FFF2-40B4-BE49-F238E27FC236}">
                <a16:creationId xmlns:a16="http://schemas.microsoft.com/office/drawing/2014/main" id="{E6176CC9-3108-4991-A1F2-60312B25F767}"/>
              </a:ext>
            </a:extLst>
          </p:cNvPr>
          <p:cNvSpPr>
            <a:spLocks xmlns:a="http://schemas.openxmlformats.org/drawingml/2006/main" noGrp="1"/>
          </p:cNvSpPr>
          <p:nvPr/>
        </p:nvSpPr>
        <p:spPr>
          <a:xfrm xmlns:a="http://schemas.openxmlformats.org/drawingml/2006/main">
            <a:off x="571500" y="304800"/>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2463EB"/>
                </a:solidFill>
                <a:latin typeface="Segoe UI"/>
                <a:ea typeface="Segoe UI"/>
                <a:cs typeface="Segoe UI"/>
              </a:defRPr>
            </a:pPr>
            <a:r>
              <a:rPr sz="1050" b="1">
                <a:solidFill>
                  <a:srgbClr val="2463EB"/>
                </a:solidFill>
                <a:latin typeface="Segoe UI"/>
                <a:ea typeface="Segoe UI"/>
                <a:cs typeface="Segoe UI"/>
              </a:rPr>
              <a:t>PORTFOLIO</a:t>
            </a:r>
          </a:p>
        </p:txBody>
      </p:sp>
      <p:sp>
        <p:nvSpPr>
          <p:cNvPr id="2" name="REVALDY ARRAHMAN">
            <a:extLst xmlns:a="http://schemas.openxmlformats.org/drawingml/2006/main">
              <a:ext uri="{FF2B5EF4-FFF2-40B4-BE49-F238E27FC236}">
                <a16:creationId xmlns:a16="http://schemas.microsoft.com/office/drawing/2014/main" id="{C4217C79-193F-4F67-9F74-8C879127D153}"/>
              </a:ext>
            </a:extLst>
          </p:cNvPr>
          <p:cNvSpPr>
            <a:spLocks xmlns:a="http://schemas.openxmlformats.org/drawingml/2006/main" noGrp="1"/>
          </p:cNvSpPr>
          <p:nvPr/>
        </p:nvSpPr>
        <p:spPr>
          <a:xfrm xmlns:a="http://schemas.openxmlformats.org/drawingml/2006/main">
            <a:off x="8810625" y="314325"/>
            <a:ext cx="2800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00" b="1">
                <a:solidFill>
                  <a:srgbClr val="5B6B83"/>
                </a:solidFill>
                <a:latin typeface="Segoe UI"/>
                <a:ea typeface="Segoe UI"/>
                <a:cs typeface="Segoe UI"/>
              </a:defRPr>
            </a:pPr>
            <a:r>
              <a:rPr sz="900" b="1">
                <a:solidFill>
                  <a:srgbClr val="5B6B83"/>
                </a:solidFill>
                <a:latin typeface="Segoe UI"/>
                <a:ea typeface="Segoe UI"/>
                <a:cs typeface="Segoe UI"/>
              </a:rPr>
              <a:t>REVALDY ARRAHMAN</a:t>
            </a:r>
          </a:p>
        </p:txBody>
      </p:sp>
      <p:sp>
        <p:nvSpPr>
          <p:cNvPr id="3" name="">
            <a:extLst xmlns:a="http://schemas.openxmlformats.org/drawingml/2006/main">
              <a:ext uri="{FF2B5EF4-FFF2-40B4-BE49-F238E27FC236}">
                <a16:creationId xmlns:a16="http://schemas.microsoft.com/office/drawing/2014/main" id="{85121AA9-A547-4A88-961E-9CEA61AA2780}"/>
              </a:ext>
            </a:extLst>
          </p:cNvPr>
          <p:cNvSpPr>
            <a:spLocks xmlns:a="http://schemas.openxmlformats.org/drawingml/2006/main" noGrp="1"/>
          </p:cNvSpPr>
          <p:nvPr/>
        </p:nvSpPr>
        <p:spPr>
          <a:xfrm xmlns:a="http://schemas.openxmlformats.org/drawingml/2006/main">
            <a:off x="571500" y="6496050"/>
            <a:ext cx="11049000" cy="0"/>
          </a:xfrm>
          <a:prstGeom xmlns:a="http://schemas.openxmlformats.org/drawingml/2006/main" prst="line">
            <a:avLst/>
          </a:prstGeom>
          <a:noFill xmlns:a="http://schemas.openxmlformats.org/drawingml/2006/main"/>
          <a:ln xmlns:a="http://schemas.openxmlformats.org/drawingml/2006/main" w="9525">
            <a:solidFill>
              <a:srgbClr val="DFE7F1"/>
            </a:solidFill>
          </a:ln>
        </p:spPr>
      </p:sp>
      <p:sp>
        <p:nvSpPr>
          <p:cNvPr id="4" name="DATA PORTFOLIO">
            <a:extLst xmlns:a="http://schemas.openxmlformats.org/drawingml/2006/main">
              <a:ext uri="{FF2B5EF4-FFF2-40B4-BE49-F238E27FC236}">
                <a16:creationId xmlns:a16="http://schemas.microsoft.com/office/drawing/2014/main" id="{1448FC80-5BD0-42D6-A4C4-2ED062A6DC35}"/>
              </a:ext>
            </a:extLst>
          </p:cNvPr>
          <p:cNvSpPr>
            <a:spLocks xmlns:a="http://schemas.openxmlformats.org/drawingml/2006/main" noGrp="1"/>
          </p:cNvSpPr>
          <p:nvPr/>
        </p:nvSpPr>
        <p:spPr>
          <a:xfrm xmlns:a="http://schemas.openxmlformats.org/drawingml/2006/main">
            <a:off x="571500" y="6581775"/>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825" b="1">
                <a:solidFill>
                  <a:srgbClr val="5B6B83"/>
                </a:solidFill>
                <a:latin typeface="Segoe UI"/>
                <a:ea typeface="Segoe UI"/>
                <a:cs typeface="Segoe UI"/>
              </a:defRPr>
            </a:pPr>
            <a:r>
              <a:rPr sz="825" b="1">
                <a:solidFill>
                  <a:srgbClr val="5B6B83"/>
                </a:solidFill>
                <a:latin typeface="Segoe UI"/>
                <a:ea typeface="Segoe UI"/>
                <a:cs typeface="Segoe UI"/>
              </a:rPr>
              <a:t>DATA PORTFOLIO</a:t>
            </a:r>
          </a:p>
        </p:txBody>
      </p:sp>
      <p:sp>
        <p:nvSpPr>
          <p:cNvPr id="5" name="01">
            <a:extLst xmlns:a="http://schemas.openxmlformats.org/drawingml/2006/main">
              <a:ext uri="{FF2B5EF4-FFF2-40B4-BE49-F238E27FC236}">
                <a16:creationId xmlns:a16="http://schemas.microsoft.com/office/drawing/2014/main" id="{3264C082-1CEF-400A-8FAE-9A1BCF531919}"/>
              </a:ext>
            </a:extLst>
          </p:cNvPr>
          <p:cNvSpPr>
            <a:spLocks xmlns:a="http://schemas.openxmlformats.org/drawingml/2006/main" noGrp="1"/>
          </p:cNvSpPr>
          <p:nvPr/>
        </p:nvSpPr>
        <p:spPr>
          <a:xfrm xmlns:a="http://schemas.openxmlformats.org/drawingml/2006/main">
            <a:off x="11106150" y="6562725"/>
            <a:ext cx="5143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1">
                <a:solidFill>
                  <a:srgbClr val="2463EB"/>
                </a:solidFill>
                <a:latin typeface="Segoe UI"/>
                <a:ea typeface="Segoe UI"/>
                <a:cs typeface="Segoe UI"/>
              </a:defRPr>
            </a:pPr>
            <a:r>
              <a:rPr sz="975" b="1">
                <a:solidFill>
                  <a:srgbClr val="2463EB"/>
                </a:solidFill>
                <a:latin typeface="Segoe UI"/>
                <a:ea typeface="Segoe UI"/>
                <a:cs typeface="Segoe UI"/>
              </a:rPr>
              <a:t>01</a:t>
            </a:r>
          </a:p>
        </p:txBody>
      </p:sp>
      <p:sp>
        <p:nvSpPr>
          <p:cNvPr id="6" name="Revaldy Arrahman">
            <a:extLst xmlns:a="http://schemas.openxmlformats.org/drawingml/2006/main">
              <a:ext uri="{FF2B5EF4-FFF2-40B4-BE49-F238E27FC236}">
                <a16:creationId xmlns:a16="http://schemas.microsoft.com/office/drawing/2014/main" id="{2081340B-D482-48A5-A84E-0FB6AF4A0BB4}"/>
              </a:ext>
            </a:extLst>
          </p:cNvPr>
          <p:cNvSpPr>
            <a:spLocks xmlns:a="http://schemas.openxmlformats.org/drawingml/2006/main" noGrp="1"/>
          </p:cNvSpPr>
          <p:nvPr/>
        </p:nvSpPr>
        <p:spPr>
          <a:xfrm xmlns:a="http://schemas.openxmlformats.org/drawingml/2006/main">
            <a:off x="542925" y="1724025"/>
            <a:ext cx="6257925"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850" b="1">
                <a:solidFill>
                  <a:srgbClr val="112139"/>
                </a:solidFill>
                <a:latin typeface="Segoe UI"/>
                <a:ea typeface="Segoe UI"/>
                <a:cs typeface="Segoe UI"/>
              </a:defRPr>
            </a:pPr>
            <a:r>
              <a:rPr sz="5850" b="1">
                <a:solidFill>
                  <a:srgbClr val="112139"/>
                </a:solidFill>
                <a:latin typeface="Segoe UI"/>
                <a:ea typeface="Segoe UI"/>
                <a:cs typeface="Segoe UI"/>
              </a:rPr>
              <a:t>Revaldy</a:t>
            </a:r>
          </a:p>
          <a:p xmlns:a="http://schemas.openxmlformats.org/drawingml/2006/main">
            <a:pPr algn="l">
              <a:defRPr sz="5850" b="1">
                <a:solidFill>
                  <a:srgbClr val="112139"/>
                </a:solidFill>
                <a:latin typeface="Segoe UI"/>
                <a:ea typeface="Segoe UI"/>
                <a:cs typeface="Segoe UI"/>
              </a:defRPr>
            </a:pPr>
            <a:r>
              <a:rPr sz="5850" b="1">
                <a:solidFill>
                  <a:srgbClr val="112139"/>
                </a:solidFill>
                <a:latin typeface="Segoe UI"/>
                <a:ea typeface="Segoe UI"/>
                <a:cs typeface="Segoe UI"/>
              </a:rPr>
              <a:t>Arrahman</a:t>
            </a:r>
          </a:p>
        </p:txBody>
      </p:sp>
      <p:sp>
        <p:nvSpPr>
          <p:cNvPr id="7" name="Data Analyst">
            <a:extLst xmlns:a="http://schemas.openxmlformats.org/drawingml/2006/main">
              <a:ext uri="{FF2B5EF4-FFF2-40B4-BE49-F238E27FC236}">
                <a16:creationId xmlns:a16="http://schemas.microsoft.com/office/drawing/2014/main" id="{5AC37462-2197-4D26-9863-8D5DCF8EC136}"/>
              </a:ext>
            </a:extLst>
          </p:cNvPr>
          <p:cNvSpPr>
            <a:spLocks xmlns:a="http://schemas.openxmlformats.org/drawingml/2006/main" noGrp="1"/>
          </p:cNvSpPr>
          <p:nvPr/>
        </p:nvSpPr>
        <p:spPr>
          <a:xfrm xmlns:a="http://schemas.openxmlformats.org/drawingml/2006/main">
            <a:off x="581025" y="3914775"/>
            <a:ext cx="5619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1">
                <a:solidFill>
                  <a:srgbClr val="2463EB"/>
                </a:solidFill>
                <a:latin typeface="Segoe UI"/>
                <a:ea typeface="Segoe UI"/>
                <a:cs typeface="Segoe UI"/>
              </a:defRPr>
            </a:pPr>
            <a:r>
              <a:rPr sz="2475" b="1">
                <a:solidFill>
                  <a:srgbClr val="2463EB"/>
                </a:solidFill>
                <a:latin typeface="Segoe UI"/>
                <a:ea typeface="Segoe UI"/>
                <a:cs typeface="Segoe UI"/>
              </a:rPr>
              <a:t>Data Analyst</a:t>
            </a:r>
          </a:p>
        </p:txBody>
      </p:sp>
      <p:sp>
        <p:nvSpPr>
          <p:cNvPr id="8" name="Data Engineer">
            <a:extLst xmlns:a="http://schemas.openxmlformats.org/drawingml/2006/main">
              <a:ext uri="{FF2B5EF4-FFF2-40B4-BE49-F238E27FC236}">
                <a16:creationId xmlns:a16="http://schemas.microsoft.com/office/drawing/2014/main" id="{C51F1024-283F-4CC3-9190-0D13720FB506}"/>
              </a:ext>
            </a:extLst>
          </p:cNvPr>
          <p:cNvSpPr>
            <a:spLocks xmlns:a="http://schemas.openxmlformats.org/drawingml/2006/main" noGrp="1"/>
          </p:cNvSpPr>
          <p:nvPr/>
        </p:nvSpPr>
        <p:spPr>
          <a:xfrm xmlns:a="http://schemas.openxmlformats.org/drawingml/2006/main">
            <a:off x="581025" y="4333875"/>
            <a:ext cx="5619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1">
                <a:solidFill>
                  <a:srgbClr val="2463EB"/>
                </a:solidFill>
                <a:latin typeface="Segoe UI"/>
                <a:ea typeface="Segoe UI"/>
                <a:cs typeface="Segoe UI"/>
              </a:defRPr>
            </a:pPr>
            <a:r>
              <a:rPr sz="2475" b="1">
                <a:solidFill>
                  <a:srgbClr val="2463EB"/>
                </a:solidFill>
                <a:latin typeface="Segoe UI"/>
                <a:ea typeface="Segoe UI"/>
                <a:cs typeface="Segoe UI"/>
              </a:rPr>
              <a:t>Data Engineer</a:t>
            </a:r>
          </a:p>
        </p:txBody>
      </p:sp>
      <p:sp>
        <p:nvSpPr>
          <p:cNvPr id="9" name="Information Systems student Internship &amp; early-c">
            <a:extLst xmlns:a="http://schemas.openxmlformats.org/drawingml/2006/main">
              <a:ext uri="{FF2B5EF4-FFF2-40B4-BE49-F238E27FC236}">
                <a16:creationId xmlns:a16="http://schemas.microsoft.com/office/drawing/2014/main" id="{FF98163B-1D34-4340-853A-7D1E5308FC5B}"/>
              </a:ext>
            </a:extLst>
          </p:cNvPr>
          <p:cNvSpPr>
            <a:spLocks xmlns:a="http://schemas.openxmlformats.org/drawingml/2006/main" noGrp="1"/>
          </p:cNvSpPr>
          <p:nvPr/>
        </p:nvSpPr>
        <p:spPr>
          <a:xfrm xmlns:a="http://schemas.openxmlformats.org/drawingml/2006/main">
            <a:off x="590550" y="5010150"/>
            <a:ext cx="5619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B6B83"/>
                </a:solidFill>
                <a:latin typeface="Segoe UI"/>
                <a:ea typeface="Segoe UI"/>
                <a:cs typeface="Segoe UI"/>
              </a:defRPr>
            </a:pPr>
            <a:r>
              <a:rPr sz="1725" b="0">
                <a:solidFill>
                  <a:srgbClr val="5B6B83"/>
                </a:solidFill>
                <a:latin typeface="Segoe UI"/>
                <a:ea typeface="Segoe UI"/>
                <a:cs typeface="Segoe UI"/>
              </a:rPr>
              <a:t>Information Systems student</a:t>
            </a:r>
          </a:p>
          <a:p xmlns:a="http://schemas.openxmlformats.org/drawingml/2006/main">
            <a:pPr algn="l">
              <a:defRPr sz="1725" b="0">
                <a:solidFill>
                  <a:srgbClr val="5B6B83"/>
                </a:solidFill>
                <a:latin typeface="Segoe UI"/>
                <a:ea typeface="Segoe UI"/>
                <a:cs typeface="Segoe UI"/>
              </a:defRPr>
            </a:pPr>
            <a:r>
              <a:rPr sz="1725" b="0">
                <a:solidFill>
                  <a:srgbClr val="5B6B83"/>
                </a:solidFill>
                <a:latin typeface="Segoe UI"/>
                <a:ea typeface="Segoe UI"/>
                <a:cs typeface="Segoe UI"/>
              </a:rPr>
              <a:t>Internship &amp; early-career opportunities</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98623ba11fb84084"/>
          <a:stretch xmlns:a="http://schemas.openxmlformats.org/drawingml/2006/main"/>
        </p:blipFill>
        <p:spPr>
          <a:xfrm xmlns:a="http://schemas.openxmlformats.org/drawingml/2006/main">
            <a:off x="6553200" y="962025"/>
            <a:ext cx="5257800" cy="5257800"/>
          </a:xfrm>
          <a:prstGeom xmlns:a="http://schemas.openxmlformats.org/drawingml/2006/main" prst="rect">
            <a:avLst/>
          </a:prstGeom>
        </p:spPr>
      </p:pic>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66822f1c8a9e4eb5"/>
          <a:stretch xmlns:a="http://schemas.openxmlformats.org/drawingml/2006/main"/>
        </p:blipFill>
        <p:spPr>
          <a:xfrm xmlns:a="http://schemas.openxmlformats.org/drawingml/2006/main">
            <a:off x="581025" y="5962650"/>
            <a:ext cx="285750" cy="285750"/>
          </a:xfrm>
          <a:prstGeom xmlns:a="http://schemas.openxmlformats.org/drawingml/2006/main" prst="rect">
            <a:avLst/>
          </a:prstGeom>
        </p:spPr>
      </p:pic>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c0b8c369f80e4748"/>
          <a:stretch xmlns:a="http://schemas.openxmlformats.org/drawingml/2006/main"/>
        </p:blipFill>
        <p:spPr>
          <a:xfrm xmlns:a="http://schemas.openxmlformats.org/drawingml/2006/main">
            <a:off x="1066800" y="5962650"/>
            <a:ext cx="285750" cy="285750"/>
          </a:xfrm>
          <a:prstGeom xmlns:a="http://schemas.openxmlformats.org/drawingml/2006/main" prst="rect">
            <a:avLst/>
          </a:prstGeom>
        </p:spPr>
      </p:pic>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df07719d4d1644a3"/>
          <a:stretch xmlns:a="http://schemas.openxmlformats.org/drawingml/2006/main"/>
        </p:blipFill>
        <p:spPr>
          <a:xfrm xmlns:a="http://schemas.openxmlformats.org/drawingml/2006/main">
            <a:off x="1543050" y="5962650"/>
            <a:ext cx="285750" cy="285750"/>
          </a:xfrm>
          <a:prstGeom xmlns:a="http://schemas.openxmlformats.org/drawingml/2006/main" prst="rect">
            <a:avLst/>
          </a:prstGeom>
        </p:spPr>
      </p:pic>
      <p:sp>
        <p:nvSpPr>
          <p:cNvPr id="14" name="PYTHON    SQL    ANALYTICS">
            <a:extLst xmlns:a="http://schemas.openxmlformats.org/drawingml/2006/main">
              <a:ext uri="{FF2B5EF4-FFF2-40B4-BE49-F238E27FC236}">
                <a16:creationId xmlns:a16="http://schemas.microsoft.com/office/drawing/2014/main" id="{07B1F600-5C88-4C6C-9E49-C1B75F872746}"/>
              </a:ext>
            </a:extLst>
          </p:cNvPr>
          <p:cNvSpPr>
            <a:spLocks xmlns:a="http://schemas.openxmlformats.org/drawingml/2006/main" noGrp="1"/>
          </p:cNvSpPr>
          <p:nvPr/>
        </p:nvSpPr>
        <p:spPr>
          <a:xfrm xmlns:a="http://schemas.openxmlformats.org/drawingml/2006/main">
            <a:off x="2076450" y="6010275"/>
            <a:ext cx="609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B6B83"/>
                </a:solidFill>
                <a:latin typeface="Segoe UI"/>
                <a:ea typeface="Segoe UI"/>
                <a:cs typeface="Segoe UI"/>
              </a:defRPr>
            </a:pPr>
            <a:r>
              <a:rPr sz="1050" b="1">
                <a:solidFill>
                  <a:srgbClr val="5B6B83"/>
                </a:solidFill>
                <a:latin typeface="Segoe UI"/>
                <a:ea typeface="Segoe UI"/>
                <a:cs typeface="Segoe UI"/>
              </a:rPr>
              <a:t>PYTHON    SQL    ANALYTICS</a:t>
            </a:r>
          </a:p>
        </p:txBody>
      </p:sp>
    </p:spTree>
    <p:extLst>
      <p:ext uri="{BB962C8B-B14F-4D97-AF65-F5344CB8AC3E}">
        <p14:creationId xmlns:p14="http://schemas.microsoft.com/office/powerpoint/2010/main" val="546142074"/>
      </p:ext>
    </p:extLst>
  </p:cSld>
</p:sld>
</file>

<file path=ppt/slides/slide2.xml><?xml version="1.0" encoding="utf-8"?>
<p:sld xmlns:p="http://schemas.openxmlformats.org/presentationml/2006/main">
  <p:cSld>
    <p:bg>
      <p:bgPr>
        <a:solidFill xmlns:a="http://schemas.openxmlformats.org/drawingml/2006/main">
          <a:srgbClr val="F9FBFE"/>
        </a:solidFill>
      </p:bgPr>
    </p:bg>
    <p:spTree>
      <p:nvGrpSpPr>
        <p:cNvPr id="1" name=""/>
        <p:cNvGrpSpPr/>
        <p:nvPr/>
      </p:nvGrpSpPr>
      <p:grpSpPr>
        <a:xfrm xmlns:a="http://schemas.openxmlformats.org/drawingml/2006/main"/>
      </p:grpSpPr>
      <p:sp>
        <p:nvSpPr>
          <p:cNvPr id="25" name="PROFILE">
            <a:extLst xmlns:a="http://schemas.openxmlformats.org/drawingml/2006/main">
              <a:ext uri="{FF2B5EF4-FFF2-40B4-BE49-F238E27FC236}">
                <a16:creationId xmlns:a16="http://schemas.microsoft.com/office/drawing/2014/main" id="{0E6AD01A-5104-4CEE-A3A4-7CA7E0672041}"/>
              </a:ext>
            </a:extLst>
          </p:cNvPr>
          <p:cNvSpPr>
            <a:spLocks xmlns:a="http://schemas.openxmlformats.org/drawingml/2006/main" noGrp="1"/>
          </p:cNvSpPr>
          <p:nvPr/>
        </p:nvSpPr>
        <p:spPr>
          <a:xfrm xmlns:a="http://schemas.openxmlformats.org/drawingml/2006/main">
            <a:off x="571500" y="304800"/>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2463EB"/>
                </a:solidFill>
                <a:latin typeface="Segoe UI"/>
                <a:ea typeface="Segoe UI"/>
                <a:cs typeface="Segoe UI"/>
              </a:defRPr>
            </a:pPr>
            <a:r>
              <a:rPr sz="1050" b="1">
                <a:solidFill>
                  <a:srgbClr val="2463EB"/>
                </a:solidFill>
                <a:latin typeface="Segoe UI"/>
                <a:ea typeface="Segoe UI"/>
                <a:cs typeface="Segoe UI"/>
              </a:rPr>
              <a:t>PROFILE</a:t>
            </a:r>
          </a:p>
        </p:txBody>
      </p:sp>
      <p:sp>
        <p:nvSpPr>
          <p:cNvPr id="2" name="REVALDY ARRAHMAN">
            <a:extLst xmlns:a="http://schemas.openxmlformats.org/drawingml/2006/main">
              <a:ext uri="{FF2B5EF4-FFF2-40B4-BE49-F238E27FC236}">
                <a16:creationId xmlns:a16="http://schemas.microsoft.com/office/drawing/2014/main" id="{61E378AA-F2BA-4FFF-A489-791D39CCC2CA}"/>
              </a:ext>
            </a:extLst>
          </p:cNvPr>
          <p:cNvSpPr>
            <a:spLocks xmlns:a="http://schemas.openxmlformats.org/drawingml/2006/main" noGrp="1"/>
          </p:cNvSpPr>
          <p:nvPr/>
        </p:nvSpPr>
        <p:spPr>
          <a:xfrm xmlns:a="http://schemas.openxmlformats.org/drawingml/2006/main">
            <a:off x="8810625" y="314325"/>
            <a:ext cx="2800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00" b="1">
                <a:solidFill>
                  <a:srgbClr val="5B6B83"/>
                </a:solidFill>
                <a:latin typeface="Segoe UI"/>
                <a:ea typeface="Segoe UI"/>
                <a:cs typeface="Segoe UI"/>
              </a:defRPr>
            </a:pPr>
            <a:r>
              <a:rPr sz="900" b="1">
                <a:solidFill>
                  <a:srgbClr val="5B6B83"/>
                </a:solidFill>
                <a:latin typeface="Segoe UI"/>
                <a:ea typeface="Segoe UI"/>
                <a:cs typeface="Segoe UI"/>
              </a:rPr>
              <a:t>REVALDY ARRAHMAN</a:t>
            </a:r>
          </a:p>
        </p:txBody>
      </p:sp>
      <p:sp>
        <p:nvSpPr>
          <p:cNvPr id="3" name="About me">
            <a:extLst xmlns:a="http://schemas.openxmlformats.org/drawingml/2006/main">
              <a:ext uri="{FF2B5EF4-FFF2-40B4-BE49-F238E27FC236}">
                <a16:creationId xmlns:a16="http://schemas.microsoft.com/office/drawing/2014/main" id="{E88295EA-C435-4566-BDA9-FA0624C964E3}"/>
              </a:ext>
            </a:extLst>
          </p:cNvPr>
          <p:cNvSpPr>
            <a:spLocks xmlns:a="http://schemas.openxmlformats.org/drawingml/2006/main" noGrp="1"/>
          </p:cNvSpPr>
          <p:nvPr/>
        </p:nvSpPr>
        <p:spPr>
          <a:xfrm xmlns:a="http://schemas.openxmlformats.org/drawingml/2006/main">
            <a:off x="552450" y="819150"/>
            <a:ext cx="11049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12139"/>
                </a:solidFill>
                <a:latin typeface="Segoe UI"/>
                <a:ea typeface="Segoe UI"/>
                <a:cs typeface="Segoe UI"/>
              </a:defRPr>
            </a:pPr>
            <a:r>
              <a:rPr sz="3300" b="1">
                <a:solidFill>
                  <a:srgbClr val="112139"/>
                </a:solidFill>
                <a:latin typeface="Segoe UI"/>
                <a:ea typeface="Segoe UI"/>
                <a:cs typeface="Segoe UI"/>
              </a:rPr>
              <a:t>About me</a:t>
            </a:r>
          </a:p>
        </p:txBody>
      </p:sp>
      <p:sp>
        <p:nvSpPr>
          <p:cNvPr id="4" name="A strong academic foundation, with practical exp">
            <a:extLst xmlns:a="http://schemas.openxmlformats.org/drawingml/2006/main">
              <a:ext uri="{FF2B5EF4-FFF2-40B4-BE49-F238E27FC236}">
                <a16:creationId xmlns:a16="http://schemas.microsoft.com/office/drawing/2014/main" id="{2AFE3146-D2BE-41AE-9BB5-85F1C2CFDB42}"/>
              </a:ext>
            </a:extLst>
          </p:cNvPr>
          <p:cNvSpPr>
            <a:spLocks xmlns:a="http://schemas.openxmlformats.org/drawingml/2006/main" noGrp="1"/>
          </p:cNvSpPr>
          <p:nvPr/>
        </p:nvSpPr>
        <p:spPr>
          <a:xfrm xmlns:a="http://schemas.openxmlformats.org/drawingml/2006/main">
            <a:off x="571500" y="14382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5B6B83"/>
                </a:solidFill>
                <a:latin typeface="Segoe UI"/>
                <a:ea typeface="Segoe UI"/>
                <a:cs typeface="Segoe UI"/>
              </a:defRPr>
            </a:pPr>
            <a:r>
              <a:rPr sz="1575" b="0">
                <a:solidFill>
                  <a:srgbClr val="5B6B83"/>
                </a:solidFill>
                <a:latin typeface="Segoe UI"/>
                <a:ea typeface="Segoe UI"/>
                <a:cs typeface="Segoe UI"/>
              </a:rPr>
              <a:t>A strong academic foundation, with practical experience working with data</a:t>
            </a:r>
          </a:p>
        </p:txBody>
      </p:sp>
      <p:sp>
        <p:nvSpPr>
          <p:cNvPr id="5" name="">
            <a:extLst xmlns:a="http://schemas.openxmlformats.org/drawingml/2006/main">
              <a:ext uri="{FF2B5EF4-FFF2-40B4-BE49-F238E27FC236}">
                <a16:creationId xmlns:a16="http://schemas.microsoft.com/office/drawing/2014/main" id="{D97F6EDD-72E9-42A7-B2DD-CDE55D9CD46F}"/>
              </a:ext>
            </a:extLst>
          </p:cNvPr>
          <p:cNvSpPr>
            <a:spLocks xmlns:a="http://schemas.openxmlformats.org/drawingml/2006/main" noGrp="1"/>
          </p:cNvSpPr>
          <p:nvPr/>
        </p:nvSpPr>
        <p:spPr>
          <a:xfrm xmlns:a="http://schemas.openxmlformats.org/drawingml/2006/main">
            <a:off x="571500" y="6496050"/>
            <a:ext cx="11049000" cy="0"/>
          </a:xfrm>
          <a:prstGeom xmlns:a="http://schemas.openxmlformats.org/drawingml/2006/main" prst="line">
            <a:avLst/>
          </a:prstGeom>
          <a:noFill xmlns:a="http://schemas.openxmlformats.org/drawingml/2006/main"/>
          <a:ln xmlns:a="http://schemas.openxmlformats.org/drawingml/2006/main" w="9525">
            <a:solidFill>
              <a:srgbClr val="DFE7F1"/>
            </a:solidFill>
          </a:ln>
        </p:spPr>
      </p:sp>
      <p:sp>
        <p:nvSpPr>
          <p:cNvPr id="6" name="DATA PORTFOLIO">
            <a:extLst xmlns:a="http://schemas.openxmlformats.org/drawingml/2006/main">
              <a:ext uri="{FF2B5EF4-FFF2-40B4-BE49-F238E27FC236}">
                <a16:creationId xmlns:a16="http://schemas.microsoft.com/office/drawing/2014/main" id="{ED4614C9-03A2-4EED-8EEE-7305ED7505BD}"/>
              </a:ext>
            </a:extLst>
          </p:cNvPr>
          <p:cNvSpPr>
            <a:spLocks xmlns:a="http://schemas.openxmlformats.org/drawingml/2006/main" noGrp="1"/>
          </p:cNvSpPr>
          <p:nvPr/>
        </p:nvSpPr>
        <p:spPr>
          <a:xfrm xmlns:a="http://schemas.openxmlformats.org/drawingml/2006/main">
            <a:off x="571500" y="6581775"/>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825" b="1">
                <a:solidFill>
                  <a:srgbClr val="5B6B83"/>
                </a:solidFill>
                <a:latin typeface="Segoe UI"/>
                <a:ea typeface="Segoe UI"/>
                <a:cs typeface="Segoe UI"/>
              </a:defRPr>
            </a:pPr>
            <a:r>
              <a:rPr sz="825" b="1">
                <a:solidFill>
                  <a:srgbClr val="5B6B83"/>
                </a:solidFill>
                <a:latin typeface="Segoe UI"/>
                <a:ea typeface="Segoe UI"/>
                <a:cs typeface="Segoe UI"/>
              </a:rPr>
              <a:t>DATA PORTFOLIO</a:t>
            </a:r>
          </a:p>
        </p:txBody>
      </p:sp>
      <p:sp>
        <p:nvSpPr>
          <p:cNvPr id="7" name="02">
            <a:extLst xmlns:a="http://schemas.openxmlformats.org/drawingml/2006/main">
              <a:ext uri="{FF2B5EF4-FFF2-40B4-BE49-F238E27FC236}">
                <a16:creationId xmlns:a16="http://schemas.microsoft.com/office/drawing/2014/main" id="{4CB4E421-76F2-4E8C-841D-55CAB389E36D}"/>
              </a:ext>
            </a:extLst>
          </p:cNvPr>
          <p:cNvSpPr>
            <a:spLocks xmlns:a="http://schemas.openxmlformats.org/drawingml/2006/main" noGrp="1"/>
          </p:cNvSpPr>
          <p:nvPr/>
        </p:nvSpPr>
        <p:spPr>
          <a:xfrm xmlns:a="http://schemas.openxmlformats.org/drawingml/2006/main">
            <a:off x="11106150" y="6562725"/>
            <a:ext cx="5143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1">
                <a:solidFill>
                  <a:srgbClr val="2463EB"/>
                </a:solidFill>
                <a:latin typeface="Segoe UI"/>
                <a:ea typeface="Segoe UI"/>
                <a:cs typeface="Segoe UI"/>
              </a:defRPr>
            </a:pPr>
            <a:r>
              <a:rPr sz="975" b="1">
                <a:solidFill>
                  <a:srgbClr val="2463EB"/>
                </a:solidFill>
                <a:latin typeface="Segoe UI"/>
                <a:ea typeface="Segoe UI"/>
                <a:cs typeface="Segoe UI"/>
              </a:rPr>
              <a:t>02</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70b119682a804ad2"/>
          <a:stretch xmlns:a="http://schemas.openxmlformats.org/drawingml/2006/main"/>
        </p:blipFill>
        <p:spPr>
          <a:xfrm xmlns:a="http://schemas.openxmlformats.org/drawingml/2006/main">
            <a:off x="571500" y="2171700"/>
            <a:ext cx="438150" cy="438150"/>
          </a:xfrm>
          <a:prstGeom xmlns:a="http://schemas.openxmlformats.org/drawingml/2006/main" prst="rect">
            <a:avLst/>
          </a:prstGeom>
        </p:spPr>
      </p:pic>
      <p:sp>
        <p:nvSpPr>
          <p:cNvPr id="9" name="Information Systems">
            <a:extLst xmlns:a="http://schemas.openxmlformats.org/drawingml/2006/main">
              <a:ext uri="{FF2B5EF4-FFF2-40B4-BE49-F238E27FC236}">
                <a16:creationId xmlns:a16="http://schemas.microsoft.com/office/drawing/2014/main" id="{3539FA33-C70F-46EC-B7D1-9A8727106443}"/>
              </a:ext>
            </a:extLst>
          </p:cNvPr>
          <p:cNvSpPr>
            <a:spLocks xmlns:a="http://schemas.openxmlformats.org/drawingml/2006/main" noGrp="1"/>
          </p:cNvSpPr>
          <p:nvPr/>
        </p:nvSpPr>
        <p:spPr>
          <a:xfrm xmlns:a="http://schemas.openxmlformats.org/drawingml/2006/main">
            <a:off x="1152525" y="2133600"/>
            <a:ext cx="5867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12139"/>
                </a:solidFill>
                <a:latin typeface="Segoe UI"/>
                <a:ea typeface="Segoe UI"/>
                <a:cs typeface="Segoe UI"/>
              </a:defRPr>
            </a:pPr>
            <a:r>
              <a:rPr sz="2550" b="1">
                <a:solidFill>
                  <a:srgbClr val="112139"/>
                </a:solidFill>
                <a:latin typeface="Segoe UI"/>
                <a:ea typeface="Segoe UI"/>
                <a:cs typeface="Segoe UI"/>
              </a:rPr>
              <a:t>Information Systems</a:t>
            </a:r>
          </a:p>
        </p:txBody>
      </p:sp>
      <p:sp>
        <p:nvSpPr>
          <p:cNvPr id="10" name="Universitas Bina Sarana Informatika">
            <a:extLst xmlns:a="http://schemas.openxmlformats.org/drawingml/2006/main">
              <a:ext uri="{FF2B5EF4-FFF2-40B4-BE49-F238E27FC236}">
                <a16:creationId xmlns:a16="http://schemas.microsoft.com/office/drawing/2014/main" id="{D4AB490D-7D0F-4EB3-8C3F-0F6EA3E42ABA}"/>
              </a:ext>
            </a:extLst>
          </p:cNvPr>
          <p:cNvSpPr>
            <a:spLocks xmlns:a="http://schemas.openxmlformats.org/drawingml/2006/main" noGrp="1"/>
          </p:cNvSpPr>
          <p:nvPr/>
        </p:nvSpPr>
        <p:spPr>
          <a:xfrm xmlns:a="http://schemas.openxmlformats.org/drawingml/2006/main">
            <a:off x="1152525" y="2695575"/>
            <a:ext cx="61245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B6B83"/>
                </a:solidFill>
                <a:latin typeface="Segoe UI"/>
                <a:ea typeface="Segoe UI"/>
                <a:cs typeface="Segoe UI"/>
              </a:defRPr>
            </a:pPr>
            <a:r>
              <a:rPr sz="1725" b="0">
                <a:solidFill>
                  <a:srgbClr val="5B6B83"/>
                </a:solidFill>
                <a:latin typeface="Segoe UI"/>
                <a:ea typeface="Segoe UI"/>
                <a:cs typeface="Segoe UI"/>
              </a:rPr>
              <a:t>Universitas Bina Sarana Informatika</a:t>
            </a:r>
          </a:p>
        </p:txBody>
      </p:sp>
      <p:sp>
        <p:nvSpPr>
          <p:cNvPr id="11" name="I enjoy finding patterns, checking data quality ">
            <a:extLst xmlns:a="http://schemas.openxmlformats.org/drawingml/2006/main">
              <a:ext uri="{FF2B5EF4-FFF2-40B4-BE49-F238E27FC236}">
                <a16:creationId xmlns:a16="http://schemas.microsoft.com/office/drawing/2014/main" id="{704163B3-5A2A-4CD8-AF4C-8DD21D1727B5}"/>
              </a:ext>
            </a:extLst>
          </p:cNvPr>
          <p:cNvSpPr>
            <a:spLocks xmlns:a="http://schemas.openxmlformats.org/drawingml/2006/main" noGrp="1"/>
          </p:cNvSpPr>
          <p:nvPr/>
        </p:nvSpPr>
        <p:spPr>
          <a:xfrm xmlns:a="http://schemas.openxmlformats.org/drawingml/2006/main">
            <a:off x="590550" y="3362325"/>
            <a:ext cx="65341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112139"/>
                </a:solidFill>
                <a:latin typeface="Segoe UI"/>
                <a:ea typeface="Segoe UI"/>
                <a:cs typeface="Segoe UI"/>
              </a:defRPr>
            </a:pPr>
            <a:r>
              <a:rPr sz="2025" b="0">
                <a:solidFill>
                  <a:srgbClr val="112139"/>
                </a:solidFill>
                <a:latin typeface="Segoe UI"/>
                <a:ea typeface="Segoe UI"/>
                <a:cs typeface="Segoe UI"/>
              </a:rPr>
              <a:t>I enjoy finding patterns, checking data quality</a:t>
            </a:r>
          </a:p>
          <a:p xmlns:a="http://schemas.openxmlformats.org/drawingml/2006/main">
            <a:pPr algn="l">
              <a:defRPr sz="2025" b="0">
                <a:solidFill>
                  <a:srgbClr val="112139"/>
                </a:solidFill>
                <a:latin typeface="Segoe UI"/>
                <a:ea typeface="Segoe UI"/>
                <a:cs typeface="Segoe UI"/>
              </a:defRPr>
            </a:pPr>
            <a:r>
              <a:rPr sz="2025" b="0">
                <a:solidFill>
                  <a:srgbClr val="112139"/>
                </a:solidFill>
                <a:latin typeface="Segoe UI"/>
                <a:ea typeface="Segoe UI"/>
                <a:cs typeface="Segoe UI"/>
              </a:rPr>
              <a:t>and making results easy to understand.</a:t>
            </a:r>
          </a:p>
        </p:txBody>
      </p:sp>
      <p:sp>
        <p:nvSpPr>
          <p:cNvPr id="12" name="">
            <a:extLst xmlns:a="http://schemas.openxmlformats.org/drawingml/2006/main">
              <a:ext uri="{FF2B5EF4-FFF2-40B4-BE49-F238E27FC236}">
                <a16:creationId xmlns:a16="http://schemas.microsoft.com/office/drawing/2014/main" id="{7909449C-5EB8-48FE-B245-F39A22AE2E99}"/>
              </a:ext>
            </a:extLst>
          </p:cNvPr>
          <p:cNvSpPr>
            <a:spLocks xmlns:a="http://schemas.openxmlformats.org/drawingml/2006/main" noGrp="1"/>
          </p:cNvSpPr>
          <p:nvPr/>
        </p:nvSpPr>
        <p:spPr>
          <a:xfrm xmlns:a="http://schemas.openxmlformats.org/drawingml/2006/main">
            <a:off x="8324850" y="2028825"/>
            <a:ext cx="3276600" cy="2238375"/>
          </a:xfrm>
          <a:prstGeom xmlns:a="http://schemas.openxmlformats.org/drawingml/2006/main" prst="roundRect">
            <a:avLst>
              <a:gd name="adj" fmla="val 8511"/>
            </a:avLst>
          </a:prstGeom>
          <a:solidFill xmlns:a="http://schemas.openxmlformats.org/drawingml/2006/main">
            <a:srgbClr val="FFFFFF"/>
          </a:solidFill>
          <a:ln xmlns:a="http://schemas.openxmlformats.org/drawingml/2006/main" w="9525">
            <a:solidFill>
              <a:srgbClr val="DFE7F1"/>
            </a:solidFill>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3.84">
            <a:extLst xmlns:a="http://schemas.openxmlformats.org/drawingml/2006/main">
              <a:ext uri="{FF2B5EF4-FFF2-40B4-BE49-F238E27FC236}">
                <a16:creationId xmlns:a16="http://schemas.microsoft.com/office/drawing/2014/main" id="{CBA945B6-2171-405C-98AB-A8F711B8CB45}"/>
              </a:ext>
            </a:extLst>
          </p:cNvPr>
          <p:cNvSpPr>
            <a:spLocks xmlns:a="http://schemas.openxmlformats.org/drawingml/2006/main" noGrp="1"/>
          </p:cNvSpPr>
          <p:nvPr/>
        </p:nvSpPr>
        <p:spPr>
          <a:xfrm xmlns:a="http://schemas.openxmlformats.org/drawingml/2006/main">
            <a:off x="8591550" y="2266950"/>
            <a:ext cx="27241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650" b="1">
                <a:solidFill>
                  <a:srgbClr val="2463EB"/>
                </a:solidFill>
                <a:latin typeface="Segoe UI"/>
                <a:ea typeface="Segoe UI"/>
                <a:cs typeface="Segoe UI"/>
              </a:defRPr>
            </a:pPr>
            <a:r>
              <a:rPr sz="4650" b="1">
                <a:solidFill>
                  <a:srgbClr val="2463EB"/>
                </a:solidFill>
                <a:latin typeface="Segoe UI"/>
                <a:ea typeface="Segoe UI"/>
                <a:cs typeface="Segoe UI"/>
              </a:rPr>
              <a:t>3.84</a:t>
            </a:r>
          </a:p>
        </p:txBody>
      </p:sp>
      <p:sp>
        <p:nvSpPr>
          <p:cNvPr id="14" name="GPA">
            <a:extLst xmlns:a="http://schemas.openxmlformats.org/drawingml/2006/main">
              <a:ext uri="{FF2B5EF4-FFF2-40B4-BE49-F238E27FC236}">
                <a16:creationId xmlns:a16="http://schemas.microsoft.com/office/drawing/2014/main" id="{3172216E-772F-44BA-B234-6BC5BA46D5CD}"/>
              </a:ext>
            </a:extLst>
          </p:cNvPr>
          <p:cNvSpPr>
            <a:spLocks xmlns:a="http://schemas.openxmlformats.org/drawingml/2006/main" noGrp="1"/>
          </p:cNvSpPr>
          <p:nvPr/>
        </p:nvSpPr>
        <p:spPr>
          <a:xfrm xmlns:a="http://schemas.openxmlformats.org/drawingml/2006/main">
            <a:off x="8591550" y="2886075"/>
            <a:ext cx="27241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B6B83"/>
                </a:solidFill>
                <a:latin typeface="Segoe UI"/>
                <a:ea typeface="Segoe UI"/>
                <a:cs typeface="Segoe UI"/>
              </a:defRPr>
            </a:pPr>
            <a:r>
              <a:rPr sz="1275" b="0">
                <a:solidFill>
                  <a:srgbClr val="5B6B83"/>
                </a:solidFill>
                <a:latin typeface="Segoe UI"/>
                <a:ea typeface="Segoe UI"/>
                <a:cs typeface="Segoe UI"/>
              </a:rPr>
              <a:t>GPA</a:t>
            </a:r>
          </a:p>
        </p:txBody>
      </p:sp>
      <p:sp>
        <p:nvSpPr>
          <p:cNvPr id="15" name="">
            <a:extLst xmlns:a="http://schemas.openxmlformats.org/drawingml/2006/main">
              <a:ext uri="{FF2B5EF4-FFF2-40B4-BE49-F238E27FC236}">
                <a16:creationId xmlns:a16="http://schemas.microsoft.com/office/drawing/2014/main" id="{38CDC658-102D-4A41-AAE4-9C0AB60657AE}"/>
              </a:ext>
            </a:extLst>
          </p:cNvPr>
          <p:cNvSpPr>
            <a:spLocks xmlns:a="http://schemas.openxmlformats.org/drawingml/2006/main" noGrp="1"/>
          </p:cNvSpPr>
          <p:nvPr/>
        </p:nvSpPr>
        <p:spPr>
          <a:xfrm xmlns:a="http://schemas.openxmlformats.org/drawingml/2006/main">
            <a:off x="8601075" y="3429000"/>
            <a:ext cx="2705100" cy="0"/>
          </a:xfrm>
          <a:prstGeom xmlns:a="http://schemas.openxmlformats.org/drawingml/2006/main" prst="line">
            <a:avLst/>
          </a:prstGeom>
          <a:noFill xmlns:a="http://schemas.openxmlformats.org/drawingml/2006/main"/>
          <a:ln xmlns:a="http://schemas.openxmlformats.org/drawingml/2006/main" w="9525">
            <a:solidFill>
              <a:srgbClr val="DFE7F1"/>
            </a:solidFill>
          </a:ln>
        </p:spPr>
      </p:sp>
      <p:sp>
        <p:nvSpPr>
          <p:cNvPr id="16" name="Semester 7">
            <a:extLst xmlns:a="http://schemas.openxmlformats.org/drawingml/2006/main">
              <a:ext uri="{FF2B5EF4-FFF2-40B4-BE49-F238E27FC236}">
                <a16:creationId xmlns:a16="http://schemas.microsoft.com/office/drawing/2014/main" id="{1578BEEC-DFEC-4B86-A9E4-B62AFBBDAFE9}"/>
              </a:ext>
            </a:extLst>
          </p:cNvPr>
          <p:cNvSpPr>
            <a:spLocks xmlns:a="http://schemas.openxmlformats.org/drawingml/2006/main" noGrp="1"/>
          </p:cNvSpPr>
          <p:nvPr/>
        </p:nvSpPr>
        <p:spPr>
          <a:xfrm xmlns:a="http://schemas.openxmlformats.org/drawingml/2006/main">
            <a:off x="8591550" y="3638550"/>
            <a:ext cx="2667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12139"/>
                </a:solidFill>
                <a:latin typeface="Segoe UI"/>
                <a:ea typeface="Segoe UI"/>
                <a:cs typeface="Segoe UI"/>
              </a:defRPr>
            </a:pPr>
            <a:r>
              <a:rPr sz="2175" b="1">
                <a:solidFill>
                  <a:srgbClr val="112139"/>
                </a:solidFill>
                <a:latin typeface="Segoe UI"/>
                <a:ea typeface="Segoe UI"/>
                <a:cs typeface="Segoe UI"/>
              </a:rPr>
              <a:t>Semester 7</a:t>
            </a:r>
          </a:p>
        </p:txBody>
      </p:sp>
      <p:sp>
        <p:nvSpPr>
          <p:cNvPr id="17" name="">
            <a:extLst xmlns:a="http://schemas.openxmlformats.org/drawingml/2006/main">
              <a:ext uri="{FF2B5EF4-FFF2-40B4-BE49-F238E27FC236}">
                <a16:creationId xmlns:a16="http://schemas.microsoft.com/office/drawing/2014/main" id="{F87C3A00-9DE0-4493-AC92-D0E704A73857}"/>
              </a:ext>
            </a:extLst>
          </p:cNvPr>
          <p:cNvSpPr>
            <a:spLocks xmlns:a="http://schemas.openxmlformats.org/drawingml/2006/main" noGrp="1"/>
          </p:cNvSpPr>
          <p:nvPr/>
        </p:nvSpPr>
        <p:spPr>
          <a:xfrm xmlns:a="http://schemas.openxmlformats.org/drawingml/2006/main">
            <a:off x="571500" y="4514850"/>
            <a:ext cx="11049000" cy="0"/>
          </a:xfrm>
          <a:prstGeom xmlns:a="http://schemas.openxmlformats.org/drawingml/2006/main" prst="line">
            <a:avLst/>
          </a:prstGeom>
          <a:noFill xmlns:a="http://schemas.openxmlformats.org/drawingml/2006/main"/>
          <a:ln xmlns:a="http://schemas.openxmlformats.org/drawingml/2006/main" w="9525">
            <a:solidFill>
              <a:srgbClr val="DFE7F1"/>
            </a:solidFill>
          </a:ln>
        </p:spPr>
      </p:sp>
      <p:sp>
        <p:nvSpPr>
          <p:cNvPr id="18" name="CAREER FOCUS">
            <a:extLst xmlns:a="http://schemas.openxmlformats.org/drawingml/2006/main">
              <a:ext uri="{FF2B5EF4-FFF2-40B4-BE49-F238E27FC236}">
                <a16:creationId xmlns:a16="http://schemas.microsoft.com/office/drawing/2014/main" id="{62E3CDA3-58C4-4656-AF1B-66F91958045B}"/>
              </a:ext>
            </a:extLst>
          </p:cNvPr>
          <p:cNvSpPr>
            <a:spLocks xmlns:a="http://schemas.openxmlformats.org/drawingml/2006/main" noGrp="1"/>
          </p:cNvSpPr>
          <p:nvPr/>
        </p:nvSpPr>
        <p:spPr>
          <a:xfrm xmlns:a="http://schemas.openxmlformats.org/drawingml/2006/main">
            <a:off x="571500" y="473392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2463EB"/>
                </a:solidFill>
                <a:latin typeface="Segoe UI"/>
                <a:ea typeface="Segoe UI"/>
                <a:cs typeface="Segoe UI"/>
              </a:defRPr>
            </a:pPr>
            <a:r>
              <a:rPr sz="1050" b="1">
                <a:solidFill>
                  <a:srgbClr val="2463EB"/>
                </a:solidFill>
                <a:latin typeface="Segoe UI"/>
                <a:ea typeface="Segoe UI"/>
                <a:cs typeface="Segoe UI"/>
              </a:rPr>
              <a:t>CAREER FOCUS</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6cadf15d49864685"/>
          <a:stretch xmlns:a="http://schemas.openxmlformats.org/drawingml/2006/main"/>
        </p:blipFill>
        <p:spPr>
          <a:xfrm xmlns:a="http://schemas.openxmlformats.org/drawingml/2006/main">
            <a:off x="581025" y="5172075"/>
            <a:ext cx="409575" cy="409575"/>
          </a:xfrm>
          <a:prstGeom xmlns:a="http://schemas.openxmlformats.org/drawingml/2006/main" prst="rect">
            <a:avLst/>
          </a:prstGeom>
        </p:spPr>
      </p:pic>
      <p:sp>
        <p:nvSpPr>
          <p:cNvPr id="20" name="Data Analyst">
            <a:extLst xmlns:a="http://schemas.openxmlformats.org/drawingml/2006/main">
              <a:ext uri="{FF2B5EF4-FFF2-40B4-BE49-F238E27FC236}">
                <a16:creationId xmlns:a16="http://schemas.microsoft.com/office/drawing/2014/main" id="{5EEA8095-6281-45E5-8789-4D11CF2CD1A0}"/>
              </a:ext>
            </a:extLst>
          </p:cNvPr>
          <p:cNvSpPr>
            <a:spLocks xmlns:a="http://schemas.openxmlformats.org/drawingml/2006/main" noGrp="1"/>
          </p:cNvSpPr>
          <p:nvPr/>
        </p:nvSpPr>
        <p:spPr>
          <a:xfrm xmlns:a="http://schemas.openxmlformats.org/drawingml/2006/main">
            <a:off x="1171575" y="5124450"/>
            <a:ext cx="4572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112139"/>
                </a:solidFill>
                <a:latin typeface="Segoe UI"/>
                <a:ea typeface="Segoe UI"/>
                <a:cs typeface="Segoe UI"/>
              </a:defRPr>
            </a:pPr>
            <a:r>
              <a:rPr sz="2025" b="1">
                <a:solidFill>
                  <a:srgbClr val="112139"/>
                </a:solidFill>
                <a:latin typeface="Segoe UI"/>
                <a:ea typeface="Segoe UI"/>
                <a:cs typeface="Segoe UI"/>
              </a:rPr>
              <a:t>Data Analyst</a:t>
            </a:r>
          </a:p>
        </p:txBody>
      </p:sp>
      <p:sp>
        <p:nvSpPr>
          <p:cNvPr id="21" name="Explore data and communicate insights through an">
            <a:extLst xmlns:a="http://schemas.openxmlformats.org/drawingml/2006/main">
              <a:ext uri="{FF2B5EF4-FFF2-40B4-BE49-F238E27FC236}">
                <a16:creationId xmlns:a16="http://schemas.microsoft.com/office/drawing/2014/main" id="{DB2DE85A-4305-4309-871F-F7E3F20BF092}"/>
              </a:ext>
            </a:extLst>
          </p:cNvPr>
          <p:cNvSpPr>
            <a:spLocks xmlns:a="http://schemas.openxmlformats.org/drawingml/2006/main" noGrp="1"/>
          </p:cNvSpPr>
          <p:nvPr/>
        </p:nvSpPr>
        <p:spPr>
          <a:xfrm xmlns:a="http://schemas.openxmlformats.org/drawingml/2006/main">
            <a:off x="1171575" y="5581650"/>
            <a:ext cx="45434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B6B83"/>
                </a:solidFill>
                <a:latin typeface="Segoe UI"/>
                <a:ea typeface="Segoe UI"/>
                <a:cs typeface="Segoe UI"/>
              </a:defRPr>
            </a:pPr>
            <a:r>
              <a:rPr sz="1500" b="0">
                <a:solidFill>
                  <a:srgbClr val="5B6B83"/>
                </a:solidFill>
                <a:latin typeface="Segoe UI"/>
                <a:ea typeface="Segoe UI"/>
                <a:cs typeface="Segoe UI"/>
              </a:rPr>
              <a:t>Explore data and communicate insights</a:t>
            </a:r>
          </a:p>
          <a:p xmlns:a="http://schemas.openxmlformats.org/drawingml/2006/main">
            <a:pPr algn="l">
              <a:defRPr sz="1500" b="0">
                <a:solidFill>
                  <a:srgbClr val="5B6B83"/>
                </a:solidFill>
                <a:latin typeface="Segoe UI"/>
                <a:ea typeface="Segoe UI"/>
                <a:cs typeface="Segoe UI"/>
              </a:defRPr>
            </a:pPr>
            <a:r>
              <a:rPr sz="1500" b="0">
                <a:solidFill>
                  <a:srgbClr val="5B6B83"/>
                </a:solidFill>
                <a:latin typeface="Segoe UI"/>
                <a:ea typeface="Segoe UI"/>
                <a:cs typeface="Segoe UI"/>
              </a:rPr>
              <a:t>through analysis and dashboards.</a:t>
            </a:r>
          </a:p>
        </p:txBody>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22e2d0fa201945c7"/>
          <a:stretch xmlns:a="http://schemas.openxmlformats.org/drawingml/2006/main"/>
        </p:blipFill>
        <p:spPr>
          <a:xfrm xmlns:a="http://schemas.openxmlformats.org/drawingml/2006/main">
            <a:off x="6667500" y="5172075"/>
            <a:ext cx="409575" cy="409575"/>
          </a:xfrm>
          <a:prstGeom xmlns:a="http://schemas.openxmlformats.org/drawingml/2006/main" prst="rect">
            <a:avLst/>
          </a:prstGeom>
        </p:spPr>
      </p:pic>
      <p:sp>
        <p:nvSpPr>
          <p:cNvPr id="23" name="Data Engineer">
            <a:extLst xmlns:a="http://schemas.openxmlformats.org/drawingml/2006/main">
              <a:ext uri="{FF2B5EF4-FFF2-40B4-BE49-F238E27FC236}">
                <a16:creationId xmlns:a16="http://schemas.microsoft.com/office/drawing/2014/main" id="{9754D312-489C-4AE1-9F28-1CE6257126AC}"/>
              </a:ext>
            </a:extLst>
          </p:cNvPr>
          <p:cNvSpPr>
            <a:spLocks xmlns:a="http://schemas.openxmlformats.org/drawingml/2006/main" noGrp="1"/>
          </p:cNvSpPr>
          <p:nvPr/>
        </p:nvSpPr>
        <p:spPr>
          <a:xfrm xmlns:a="http://schemas.openxmlformats.org/drawingml/2006/main">
            <a:off x="7258050" y="5124450"/>
            <a:ext cx="4286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112139"/>
                </a:solidFill>
                <a:latin typeface="Segoe UI"/>
                <a:ea typeface="Segoe UI"/>
                <a:cs typeface="Segoe UI"/>
              </a:defRPr>
            </a:pPr>
            <a:r>
              <a:rPr sz="2025" b="1">
                <a:solidFill>
                  <a:srgbClr val="112139"/>
                </a:solidFill>
                <a:latin typeface="Segoe UI"/>
                <a:ea typeface="Segoe UI"/>
                <a:cs typeface="Segoe UI"/>
              </a:rPr>
              <a:t>Data Engineer</a:t>
            </a:r>
          </a:p>
        </p:txBody>
      </p:sp>
      <p:sp>
        <p:nvSpPr>
          <p:cNvPr id="24" name="Develop reliable data preparation and database w">
            <a:extLst xmlns:a="http://schemas.openxmlformats.org/drawingml/2006/main">
              <a:ext uri="{FF2B5EF4-FFF2-40B4-BE49-F238E27FC236}">
                <a16:creationId xmlns:a16="http://schemas.microsoft.com/office/drawing/2014/main" id="{9A3BF46B-93D5-4C0C-B077-3F6F0B64B43D}"/>
              </a:ext>
            </a:extLst>
          </p:cNvPr>
          <p:cNvSpPr>
            <a:spLocks xmlns:a="http://schemas.openxmlformats.org/drawingml/2006/main" noGrp="1"/>
          </p:cNvSpPr>
          <p:nvPr/>
        </p:nvSpPr>
        <p:spPr>
          <a:xfrm xmlns:a="http://schemas.openxmlformats.org/drawingml/2006/main">
            <a:off x="7258050" y="5581650"/>
            <a:ext cx="428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B6B83"/>
                </a:solidFill>
                <a:latin typeface="Segoe UI"/>
                <a:ea typeface="Segoe UI"/>
                <a:cs typeface="Segoe UI"/>
              </a:defRPr>
            </a:pPr>
            <a:r>
              <a:rPr sz="1500" b="0">
                <a:solidFill>
                  <a:srgbClr val="5B6B83"/>
                </a:solidFill>
                <a:latin typeface="Segoe UI"/>
                <a:ea typeface="Segoe UI"/>
                <a:cs typeface="Segoe UI"/>
              </a:rPr>
              <a:t>Develop reliable data preparation</a:t>
            </a:r>
          </a:p>
          <a:p xmlns:a="http://schemas.openxmlformats.org/drawingml/2006/main">
            <a:pPr algn="l">
              <a:defRPr sz="1500" b="0">
                <a:solidFill>
                  <a:srgbClr val="5B6B83"/>
                </a:solidFill>
                <a:latin typeface="Segoe UI"/>
                <a:ea typeface="Segoe UI"/>
                <a:cs typeface="Segoe UI"/>
              </a:defRPr>
            </a:pPr>
            <a:r>
              <a:rPr sz="1500" b="0">
                <a:solidFill>
                  <a:srgbClr val="5B6B83"/>
                </a:solidFill>
                <a:latin typeface="Segoe UI"/>
                <a:ea typeface="Segoe UI"/>
                <a:cs typeface="Segoe UI"/>
              </a:rPr>
              <a:t>and database workflows.</a:t>
            </a:r>
          </a:p>
        </p:txBody>
      </p:sp>
    </p:spTree>
    <p:extLst>
      <p:ext uri="{BB962C8B-B14F-4D97-AF65-F5344CB8AC3E}">
        <p14:creationId xmlns:p14="http://schemas.microsoft.com/office/powerpoint/2010/main" val="24478679"/>
      </p:ext>
    </p:extLst>
  </p:cSld>
</p:sld>
</file>

<file path=ppt/slides/slide3.xml><?xml version="1.0" encoding="utf-8"?>
<p:sld xmlns:p="http://schemas.openxmlformats.org/presentationml/2006/main">
  <p:cSld>
    <p:bg>
      <p:bgPr>
        <a:solidFill xmlns:a="http://schemas.openxmlformats.org/drawingml/2006/main">
          <a:srgbClr val="F9FBFE"/>
        </a:solidFill>
      </p:bgPr>
    </p:bg>
    <p:spTree>
      <p:nvGrpSpPr>
        <p:cNvPr id="1" name=""/>
        <p:cNvGrpSpPr/>
        <p:nvPr/>
      </p:nvGrpSpPr>
      <p:grpSpPr>
        <a:xfrm xmlns:a="http://schemas.openxmlformats.org/drawingml/2006/main"/>
      </p:grpSpPr>
      <p:sp>
        <p:nvSpPr>
          <p:cNvPr id="24" name="SELECTED PROJECT 01">
            <a:extLst xmlns:a="http://schemas.openxmlformats.org/drawingml/2006/main">
              <a:ext uri="{FF2B5EF4-FFF2-40B4-BE49-F238E27FC236}">
                <a16:creationId xmlns:a16="http://schemas.microsoft.com/office/drawing/2014/main" id="{3C90ABED-FD49-4864-A27E-2F004F8C1290}"/>
              </a:ext>
            </a:extLst>
          </p:cNvPr>
          <p:cNvSpPr>
            <a:spLocks xmlns:a="http://schemas.openxmlformats.org/drawingml/2006/main" noGrp="1"/>
          </p:cNvSpPr>
          <p:nvPr/>
        </p:nvSpPr>
        <p:spPr>
          <a:xfrm xmlns:a="http://schemas.openxmlformats.org/drawingml/2006/main">
            <a:off x="571500" y="304800"/>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2463EB"/>
                </a:solidFill>
                <a:latin typeface="Segoe UI"/>
                <a:ea typeface="Segoe UI"/>
                <a:cs typeface="Segoe UI"/>
              </a:defRPr>
            </a:pPr>
            <a:r>
              <a:rPr sz="1050" b="1">
                <a:solidFill>
                  <a:srgbClr val="2463EB"/>
                </a:solidFill>
                <a:latin typeface="Segoe UI"/>
                <a:ea typeface="Segoe UI"/>
                <a:cs typeface="Segoe UI"/>
              </a:rPr>
              <a:t>SELECTED PROJECT 01</a:t>
            </a:r>
          </a:p>
        </p:txBody>
      </p:sp>
      <p:sp>
        <p:nvSpPr>
          <p:cNvPr id="2" name="REVALDY ARRAHMAN">
            <a:extLst xmlns:a="http://schemas.openxmlformats.org/drawingml/2006/main">
              <a:ext uri="{FF2B5EF4-FFF2-40B4-BE49-F238E27FC236}">
                <a16:creationId xmlns:a16="http://schemas.microsoft.com/office/drawing/2014/main" id="{25BE8102-9750-4234-BFB8-1CD3B34ED55F}"/>
              </a:ext>
            </a:extLst>
          </p:cNvPr>
          <p:cNvSpPr>
            <a:spLocks xmlns:a="http://schemas.openxmlformats.org/drawingml/2006/main" noGrp="1"/>
          </p:cNvSpPr>
          <p:nvPr/>
        </p:nvSpPr>
        <p:spPr>
          <a:xfrm xmlns:a="http://schemas.openxmlformats.org/drawingml/2006/main">
            <a:off x="8810625" y="314325"/>
            <a:ext cx="2800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00" b="1">
                <a:solidFill>
                  <a:srgbClr val="5B6B83"/>
                </a:solidFill>
                <a:latin typeface="Segoe UI"/>
                <a:ea typeface="Segoe UI"/>
                <a:cs typeface="Segoe UI"/>
              </a:defRPr>
            </a:pPr>
            <a:r>
              <a:rPr sz="900" b="1">
                <a:solidFill>
                  <a:srgbClr val="5B6B83"/>
                </a:solidFill>
                <a:latin typeface="Segoe UI"/>
                <a:ea typeface="Segoe UI"/>
                <a:cs typeface="Segoe UI"/>
              </a:rPr>
              <a:t>REVALDY ARRAHMAN</a:t>
            </a:r>
          </a:p>
        </p:txBody>
      </p:sp>
      <p:sp>
        <p:nvSpPr>
          <p:cNvPr id="3" name="Customer churn analysis">
            <a:extLst xmlns:a="http://schemas.openxmlformats.org/drawingml/2006/main">
              <a:ext uri="{FF2B5EF4-FFF2-40B4-BE49-F238E27FC236}">
                <a16:creationId xmlns:a16="http://schemas.microsoft.com/office/drawing/2014/main" id="{3784AE72-B5FE-415C-9429-99D315F7F780}"/>
              </a:ext>
            </a:extLst>
          </p:cNvPr>
          <p:cNvSpPr>
            <a:spLocks xmlns:a="http://schemas.openxmlformats.org/drawingml/2006/main" noGrp="1"/>
          </p:cNvSpPr>
          <p:nvPr/>
        </p:nvSpPr>
        <p:spPr>
          <a:xfrm xmlns:a="http://schemas.openxmlformats.org/drawingml/2006/main">
            <a:off x="552450" y="819150"/>
            <a:ext cx="11049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12139"/>
                </a:solidFill>
                <a:latin typeface="Segoe UI"/>
                <a:ea typeface="Segoe UI"/>
                <a:cs typeface="Segoe UI"/>
              </a:defRPr>
            </a:pPr>
            <a:r>
              <a:rPr sz="3300" b="1">
                <a:solidFill>
                  <a:srgbClr val="112139"/>
                </a:solidFill>
                <a:latin typeface="Segoe UI"/>
                <a:ea typeface="Segoe UI"/>
                <a:cs typeface="Segoe UI"/>
              </a:rPr>
              <a:t>Customer churn analysis</a:t>
            </a:r>
          </a:p>
        </p:txBody>
      </p:sp>
      <p:sp>
        <p:nvSpPr>
          <p:cNvPr id="4" name="Customer behavior, risk scoring and a Tableau da">
            <a:extLst xmlns:a="http://schemas.openxmlformats.org/drawingml/2006/main">
              <a:ext uri="{FF2B5EF4-FFF2-40B4-BE49-F238E27FC236}">
                <a16:creationId xmlns:a16="http://schemas.microsoft.com/office/drawing/2014/main" id="{BAF9ACB4-8EB8-4092-B253-177485F41E00}"/>
              </a:ext>
            </a:extLst>
          </p:cNvPr>
          <p:cNvSpPr>
            <a:spLocks xmlns:a="http://schemas.openxmlformats.org/drawingml/2006/main" noGrp="1"/>
          </p:cNvSpPr>
          <p:nvPr/>
        </p:nvSpPr>
        <p:spPr>
          <a:xfrm xmlns:a="http://schemas.openxmlformats.org/drawingml/2006/main">
            <a:off x="571500" y="14382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5B6B83"/>
                </a:solidFill>
                <a:latin typeface="Segoe UI"/>
                <a:ea typeface="Segoe UI"/>
                <a:cs typeface="Segoe UI"/>
              </a:defRPr>
            </a:pPr>
            <a:r>
              <a:rPr sz="1575" b="0">
                <a:solidFill>
                  <a:srgbClr val="5B6B83"/>
                </a:solidFill>
                <a:latin typeface="Segoe UI"/>
                <a:ea typeface="Segoe UI"/>
                <a:cs typeface="Segoe UI"/>
              </a:rPr>
              <a:t>Customer behavior, risk scoring and a Tableau dashboard</a:t>
            </a:r>
          </a:p>
        </p:txBody>
      </p:sp>
      <p:sp>
        <p:nvSpPr>
          <p:cNvPr id="5" name="">
            <a:extLst xmlns:a="http://schemas.openxmlformats.org/drawingml/2006/main">
              <a:ext uri="{FF2B5EF4-FFF2-40B4-BE49-F238E27FC236}">
                <a16:creationId xmlns:a16="http://schemas.microsoft.com/office/drawing/2014/main" id="{9E23CFA3-811A-49B7-9F47-EE876C4DA410}"/>
              </a:ext>
            </a:extLst>
          </p:cNvPr>
          <p:cNvSpPr>
            <a:spLocks xmlns:a="http://schemas.openxmlformats.org/drawingml/2006/main" noGrp="1"/>
          </p:cNvSpPr>
          <p:nvPr/>
        </p:nvSpPr>
        <p:spPr>
          <a:xfrm xmlns:a="http://schemas.openxmlformats.org/drawingml/2006/main">
            <a:off x="571500" y="6496050"/>
            <a:ext cx="11049000" cy="0"/>
          </a:xfrm>
          <a:prstGeom xmlns:a="http://schemas.openxmlformats.org/drawingml/2006/main" prst="line">
            <a:avLst/>
          </a:prstGeom>
          <a:noFill xmlns:a="http://schemas.openxmlformats.org/drawingml/2006/main"/>
          <a:ln xmlns:a="http://schemas.openxmlformats.org/drawingml/2006/main" w="9525">
            <a:solidFill>
              <a:srgbClr val="DFE7F1"/>
            </a:solidFill>
          </a:ln>
        </p:spPr>
      </p:sp>
      <p:sp>
        <p:nvSpPr>
          <p:cNvPr id="6" name="DATA PORTFOLIO">
            <a:extLst xmlns:a="http://schemas.openxmlformats.org/drawingml/2006/main">
              <a:ext uri="{FF2B5EF4-FFF2-40B4-BE49-F238E27FC236}">
                <a16:creationId xmlns:a16="http://schemas.microsoft.com/office/drawing/2014/main" id="{956B42F8-B434-4D6A-981D-507C92D2AAE4}"/>
              </a:ext>
            </a:extLst>
          </p:cNvPr>
          <p:cNvSpPr>
            <a:spLocks xmlns:a="http://schemas.openxmlformats.org/drawingml/2006/main" noGrp="1"/>
          </p:cNvSpPr>
          <p:nvPr/>
        </p:nvSpPr>
        <p:spPr>
          <a:xfrm xmlns:a="http://schemas.openxmlformats.org/drawingml/2006/main">
            <a:off x="571500" y="6581775"/>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825" b="1">
                <a:solidFill>
                  <a:srgbClr val="5B6B83"/>
                </a:solidFill>
                <a:latin typeface="Segoe UI"/>
                <a:ea typeface="Segoe UI"/>
                <a:cs typeface="Segoe UI"/>
              </a:defRPr>
            </a:pPr>
            <a:r>
              <a:rPr sz="825" b="1">
                <a:solidFill>
                  <a:srgbClr val="5B6B83"/>
                </a:solidFill>
                <a:latin typeface="Segoe UI"/>
                <a:ea typeface="Segoe UI"/>
                <a:cs typeface="Segoe UI"/>
              </a:rPr>
              <a:t>DATA PORTFOLIO</a:t>
            </a:r>
          </a:p>
        </p:txBody>
      </p:sp>
      <p:sp>
        <p:nvSpPr>
          <p:cNvPr id="7" name="03">
            <a:extLst xmlns:a="http://schemas.openxmlformats.org/drawingml/2006/main">
              <a:ext uri="{FF2B5EF4-FFF2-40B4-BE49-F238E27FC236}">
                <a16:creationId xmlns:a16="http://schemas.microsoft.com/office/drawing/2014/main" id="{A85CB334-4A0A-4488-A65B-F63C5981619F}"/>
              </a:ext>
            </a:extLst>
          </p:cNvPr>
          <p:cNvSpPr>
            <a:spLocks xmlns:a="http://schemas.openxmlformats.org/drawingml/2006/main" noGrp="1"/>
          </p:cNvSpPr>
          <p:nvPr/>
        </p:nvSpPr>
        <p:spPr>
          <a:xfrm xmlns:a="http://schemas.openxmlformats.org/drawingml/2006/main">
            <a:off x="11106150" y="6562725"/>
            <a:ext cx="5143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1">
                <a:solidFill>
                  <a:srgbClr val="2463EB"/>
                </a:solidFill>
                <a:latin typeface="Segoe UI"/>
                <a:ea typeface="Segoe UI"/>
                <a:cs typeface="Segoe UI"/>
              </a:defRPr>
            </a:pPr>
            <a:r>
              <a:rPr sz="975" b="1">
                <a:solidFill>
                  <a:srgbClr val="2463EB"/>
                </a:solidFill>
                <a:latin typeface="Segoe UI"/>
                <a:ea typeface="Segoe UI"/>
                <a:cs typeface="Segoe UI"/>
              </a:rPr>
              <a:t>03</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3be2d5f8963046be"/>
          <a:stretch xmlns:a="http://schemas.openxmlformats.org/drawingml/2006/main"/>
        </p:blipFill>
        <p:spPr>
          <a:xfrm xmlns:a="http://schemas.openxmlformats.org/drawingml/2006/main">
            <a:off x="571500" y="2066925"/>
            <a:ext cx="238125" cy="238125"/>
          </a:xfrm>
          <a:prstGeom xmlns:a="http://schemas.openxmlformats.org/drawingml/2006/main" prst="rect">
            <a:avLst/>
          </a:prstGeom>
        </p:spPr>
      </p:pic>
      <p:sp>
        <p:nvSpPr>
          <p:cNvPr id="9" name="PROBLEM">
            <a:extLst xmlns:a="http://schemas.openxmlformats.org/drawingml/2006/main">
              <a:ext uri="{FF2B5EF4-FFF2-40B4-BE49-F238E27FC236}">
                <a16:creationId xmlns:a16="http://schemas.microsoft.com/office/drawing/2014/main" id="{775387BD-E536-4FF6-9DB0-F58560E45C82}"/>
              </a:ext>
            </a:extLst>
          </p:cNvPr>
          <p:cNvSpPr>
            <a:spLocks xmlns:a="http://schemas.openxmlformats.org/drawingml/2006/main" noGrp="1"/>
          </p:cNvSpPr>
          <p:nvPr/>
        </p:nvSpPr>
        <p:spPr>
          <a:xfrm xmlns:a="http://schemas.openxmlformats.org/drawingml/2006/main">
            <a:off x="933450" y="2047875"/>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2463EB"/>
                </a:solidFill>
                <a:latin typeface="Segoe UI"/>
                <a:ea typeface="Segoe UI"/>
                <a:cs typeface="Segoe UI"/>
              </a:defRPr>
            </a:pPr>
            <a:r>
              <a:rPr sz="1050" b="1">
                <a:solidFill>
                  <a:srgbClr val="2463EB"/>
                </a:solidFill>
                <a:latin typeface="Segoe UI"/>
                <a:ea typeface="Segoe UI"/>
                <a:cs typeface="Segoe UI"/>
              </a:rPr>
              <a:t>PROBLEM</a:t>
            </a:r>
          </a:p>
        </p:txBody>
      </p:sp>
      <p:sp>
        <p:nvSpPr>
          <p:cNvPr id="10" name="Identify churn risk and understand the main driv">
            <a:extLst xmlns:a="http://schemas.openxmlformats.org/drawingml/2006/main">
              <a:ext uri="{FF2B5EF4-FFF2-40B4-BE49-F238E27FC236}">
                <a16:creationId xmlns:a16="http://schemas.microsoft.com/office/drawing/2014/main" id="{087FFE07-66AA-4FDF-A36B-36BE327D3300}"/>
              </a:ext>
            </a:extLst>
          </p:cNvPr>
          <p:cNvSpPr>
            <a:spLocks xmlns:a="http://schemas.openxmlformats.org/drawingml/2006/main" noGrp="1"/>
          </p:cNvSpPr>
          <p:nvPr/>
        </p:nvSpPr>
        <p:spPr>
          <a:xfrm xmlns:a="http://schemas.openxmlformats.org/drawingml/2006/main">
            <a:off x="933450" y="2295525"/>
            <a:ext cx="28765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112139"/>
                </a:solidFill>
                <a:latin typeface="Segoe UI"/>
                <a:ea typeface="Segoe UI"/>
                <a:cs typeface="Segoe UI"/>
              </a:defRPr>
            </a:pPr>
            <a:r>
              <a:rPr sz="1500" b="0">
                <a:solidFill>
                  <a:srgbClr val="112139"/>
                </a:solidFill>
                <a:latin typeface="Segoe UI"/>
                <a:ea typeface="Segoe UI"/>
                <a:cs typeface="Segoe UI"/>
              </a:rPr>
              <a:t>Identify churn risk and</a:t>
            </a:r>
          </a:p>
          <a:p xmlns:a="http://schemas.openxmlformats.org/drawingml/2006/main">
            <a:pPr algn="l">
              <a:defRPr sz="1500" b="0">
                <a:solidFill>
                  <a:srgbClr val="112139"/>
                </a:solidFill>
                <a:latin typeface="Segoe UI"/>
                <a:ea typeface="Segoe UI"/>
                <a:cs typeface="Segoe UI"/>
              </a:defRPr>
            </a:pPr>
            <a:r>
              <a:rPr sz="1500" b="0">
                <a:solidFill>
                  <a:srgbClr val="112139"/>
                </a:solidFill>
                <a:latin typeface="Segoe UI"/>
                <a:ea typeface="Segoe UI"/>
                <a:cs typeface="Segoe UI"/>
              </a:rPr>
              <a:t>understand the main drivers.</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1f0d61e5dedc4a3c"/>
          <a:stretch xmlns:a="http://schemas.openxmlformats.org/drawingml/2006/main"/>
        </p:blipFill>
        <p:spPr>
          <a:xfrm xmlns:a="http://schemas.openxmlformats.org/drawingml/2006/main">
            <a:off x="571500" y="3105150"/>
            <a:ext cx="238125" cy="238125"/>
          </a:xfrm>
          <a:prstGeom xmlns:a="http://schemas.openxmlformats.org/drawingml/2006/main" prst="rect">
            <a:avLst/>
          </a:prstGeom>
        </p:spPr>
      </p:pic>
      <p:sp>
        <p:nvSpPr>
          <p:cNvPr id="12" name="DATA / TOOLS">
            <a:extLst xmlns:a="http://schemas.openxmlformats.org/drawingml/2006/main">
              <a:ext uri="{FF2B5EF4-FFF2-40B4-BE49-F238E27FC236}">
                <a16:creationId xmlns:a16="http://schemas.microsoft.com/office/drawing/2014/main" id="{F43C6755-D810-4FA6-B8DF-EDAD9C63EC56}"/>
              </a:ext>
            </a:extLst>
          </p:cNvPr>
          <p:cNvSpPr>
            <a:spLocks xmlns:a="http://schemas.openxmlformats.org/drawingml/2006/main" noGrp="1"/>
          </p:cNvSpPr>
          <p:nvPr/>
        </p:nvSpPr>
        <p:spPr>
          <a:xfrm xmlns:a="http://schemas.openxmlformats.org/drawingml/2006/main">
            <a:off x="933450" y="30861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2463EB"/>
                </a:solidFill>
                <a:latin typeface="Segoe UI"/>
                <a:ea typeface="Segoe UI"/>
                <a:cs typeface="Segoe UI"/>
              </a:defRPr>
            </a:pPr>
            <a:r>
              <a:rPr sz="1050" b="1">
                <a:solidFill>
                  <a:srgbClr val="2463EB"/>
                </a:solidFill>
                <a:latin typeface="Segoe UI"/>
                <a:ea typeface="Segoe UI"/>
                <a:cs typeface="Segoe UI"/>
              </a:rPr>
              <a:t>DATA / TOOLS</a:t>
            </a:r>
          </a:p>
        </p:txBody>
      </p:sp>
      <p:sp>
        <p:nvSpPr>
          <p:cNvPr id="13" name="Telco customer dataset SQL, Python, SQLite, Tabl">
            <a:extLst xmlns:a="http://schemas.openxmlformats.org/drawingml/2006/main">
              <a:ext uri="{FF2B5EF4-FFF2-40B4-BE49-F238E27FC236}">
                <a16:creationId xmlns:a16="http://schemas.microsoft.com/office/drawing/2014/main" id="{F0358D27-E4FE-47C7-8882-54E11148941F}"/>
              </a:ext>
            </a:extLst>
          </p:cNvPr>
          <p:cNvSpPr>
            <a:spLocks xmlns:a="http://schemas.openxmlformats.org/drawingml/2006/main" noGrp="1"/>
          </p:cNvSpPr>
          <p:nvPr/>
        </p:nvSpPr>
        <p:spPr>
          <a:xfrm xmlns:a="http://schemas.openxmlformats.org/drawingml/2006/main">
            <a:off x="933450" y="3333750"/>
            <a:ext cx="28765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112139"/>
                </a:solidFill>
                <a:latin typeface="Segoe UI"/>
                <a:ea typeface="Segoe UI"/>
                <a:cs typeface="Segoe UI"/>
              </a:defRPr>
            </a:pPr>
            <a:r>
              <a:rPr sz="1500" b="0">
                <a:solidFill>
                  <a:srgbClr val="112139"/>
                </a:solidFill>
                <a:latin typeface="Segoe UI"/>
                <a:ea typeface="Segoe UI"/>
                <a:cs typeface="Segoe UI"/>
              </a:rPr>
              <a:t>Telco customer dataset</a:t>
            </a:r>
          </a:p>
          <a:p xmlns:a="http://schemas.openxmlformats.org/drawingml/2006/main">
            <a:pPr algn="l">
              <a:defRPr sz="1500" b="0">
                <a:solidFill>
                  <a:srgbClr val="112139"/>
                </a:solidFill>
                <a:latin typeface="Segoe UI"/>
                <a:ea typeface="Segoe UI"/>
                <a:cs typeface="Segoe UI"/>
              </a:defRPr>
            </a:pPr>
            <a:r>
              <a:rPr sz="1500" b="0">
                <a:solidFill>
                  <a:srgbClr val="112139"/>
                </a:solidFill>
                <a:latin typeface="Segoe UI"/>
                <a:ea typeface="Segoe UI"/>
                <a:cs typeface="Segoe UI"/>
              </a:rPr>
              <a:t>SQL, Python, SQLite, Tableau</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6a7953e33f6147da"/>
          <a:stretch xmlns:a="http://schemas.openxmlformats.org/drawingml/2006/main"/>
        </p:blipFill>
        <p:spPr>
          <a:xfrm xmlns:a="http://schemas.openxmlformats.org/drawingml/2006/main">
            <a:off x="571500" y="4143375"/>
            <a:ext cx="238125" cy="238125"/>
          </a:xfrm>
          <a:prstGeom xmlns:a="http://schemas.openxmlformats.org/drawingml/2006/main" prst="rect">
            <a:avLst/>
          </a:prstGeom>
        </p:spPr>
      </p:pic>
      <p:sp>
        <p:nvSpPr>
          <p:cNvPr id="15" name="PROCESS">
            <a:extLst xmlns:a="http://schemas.openxmlformats.org/drawingml/2006/main">
              <a:ext uri="{FF2B5EF4-FFF2-40B4-BE49-F238E27FC236}">
                <a16:creationId xmlns:a16="http://schemas.microsoft.com/office/drawing/2014/main" id="{52D105DB-E1FE-476F-B7A4-41C0A3BF4746}"/>
              </a:ext>
            </a:extLst>
          </p:cNvPr>
          <p:cNvSpPr>
            <a:spLocks xmlns:a="http://schemas.openxmlformats.org/drawingml/2006/main" noGrp="1"/>
          </p:cNvSpPr>
          <p:nvPr/>
        </p:nvSpPr>
        <p:spPr>
          <a:xfrm xmlns:a="http://schemas.openxmlformats.org/drawingml/2006/main">
            <a:off x="933450" y="4124325"/>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2463EB"/>
                </a:solidFill>
                <a:latin typeface="Segoe UI"/>
                <a:ea typeface="Segoe UI"/>
                <a:cs typeface="Segoe UI"/>
              </a:defRPr>
            </a:pPr>
            <a:r>
              <a:rPr sz="1050" b="1">
                <a:solidFill>
                  <a:srgbClr val="2463EB"/>
                </a:solidFill>
                <a:latin typeface="Segoe UI"/>
                <a:ea typeface="Segoe UI"/>
                <a:cs typeface="Segoe UI"/>
              </a:rPr>
              <a:t>PROCESS</a:t>
            </a:r>
          </a:p>
        </p:txBody>
      </p:sp>
      <p:sp>
        <p:nvSpPr>
          <p:cNvPr id="16" name="Clean data with SQL. Explore patterns and train ">
            <a:extLst xmlns:a="http://schemas.openxmlformats.org/drawingml/2006/main">
              <a:ext uri="{FF2B5EF4-FFF2-40B4-BE49-F238E27FC236}">
                <a16:creationId xmlns:a16="http://schemas.microsoft.com/office/drawing/2014/main" id="{4BED0165-646E-42B1-ADDD-392895F5E021}"/>
              </a:ext>
            </a:extLst>
          </p:cNvPr>
          <p:cNvSpPr>
            <a:spLocks xmlns:a="http://schemas.openxmlformats.org/drawingml/2006/main" noGrp="1"/>
          </p:cNvSpPr>
          <p:nvPr/>
        </p:nvSpPr>
        <p:spPr>
          <a:xfrm xmlns:a="http://schemas.openxmlformats.org/drawingml/2006/main">
            <a:off x="933450" y="4371975"/>
            <a:ext cx="28765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112139"/>
                </a:solidFill>
                <a:latin typeface="Segoe UI"/>
                <a:ea typeface="Segoe UI"/>
                <a:cs typeface="Segoe UI"/>
              </a:defRPr>
            </a:pPr>
            <a:r>
              <a:rPr sz="1500" b="0">
                <a:solidFill>
                  <a:srgbClr val="112139"/>
                </a:solidFill>
                <a:latin typeface="Segoe UI"/>
                <a:ea typeface="Segoe UI"/>
                <a:cs typeface="Segoe UI"/>
              </a:rPr>
              <a:t>Clean data with SQL. Explore</a:t>
            </a:r>
          </a:p>
          <a:p xmlns:a="http://schemas.openxmlformats.org/drawingml/2006/main">
            <a:pPr algn="l">
              <a:defRPr sz="1500" b="0">
                <a:solidFill>
                  <a:srgbClr val="112139"/>
                </a:solidFill>
                <a:latin typeface="Segoe UI"/>
                <a:ea typeface="Segoe UI"/>
                <a:cs typeface="Segoe UI"/>
              </a:defRPr>
            </a:pPr>
            <a:r>
              <a:rPr sz="1500" b="0">
                <a:solidFill>
                  <a:srgbClr val="112139"/>
                </a:solidFill>
                <a:latin typeface="Segoe UI"/>
                <a:ea typeface="Segoe UI"/>
                <a:cs typeface="Segoe UI"/>
              </a:rPr>
              <a:t>patterns and train a balanced</a:t>
            </a:r>
          </a:p>
          <a:p xmlns:a="http://schemas.openxmlformats.org/drawingml/2006/main">
            <a:pPr algn="l">
              <a:defRPr sz="1500" b="0">
                <a:solidFill>
                  <a:srgbClr val="112139"/>
                </a:solidFill>
                <a:latin typeface="Segoe UI"/>
                <a:ea typeface="Segoe UI"/>
                <a:cs typeface="Segoe UI"/>
              </a:defRPr>
            </a:pPr>
            <a:r>
              <a:rPr sz="1500" b="0">
                <a:solidFill>
                  <a:srgbClr val="112139"/>
                </a:solidFill>
                <a:latin typeface="Segoe UI"/>
                <a:ea typeface="Segoe UI"/>
                <a:cs typeface="Segoe UI"/>
              </a:rPr>
              <a:t>logistic regression model.</a:t>
            </a:r>
          </a:p>
        </p:txBody>
      </p:sp>
      <p:sp>
        <p:nvSpPr>
          <p:cNvPr id="17" name="">
            <a:extLst xmlns:a="http://schemas.openxmlformats.org/drawingml/2006/main">
              <a:ext uri="{FF2B5EF4-FFF2-40B4-BE49-F238E27FC236}">
                <a16:creationId xmlns:a16="http://schemas.microsoft.com/office/drawing/2014/main" id="{6976E605-7A81-46AB-A5D3-1D28C433235C}"/>
              </a:ext>
            </a:extLst>
          </p:cNvPr>
          <p:cNvSpPr>
            <a:spLocks xmlns:a="http://schemas.openxmlformats.org/drawingml/2006/main" noGrp="1"/>
          </p:cNvSpPr>
          <p:nvPr/>
        </p:nvSpPr>
        <p:spPr>
          <a:xfrm xmlns:a="http://schemas.openxmlformats.org/drawingml/2006/main">
            <a:off x="571500" y="5248275"/>
            <a:ext cx="3267075" cy="904875"/>
          </a:xfrm>
          <a:prstGeom xmlns:a="http://schemas.openxmlformats.org/drawingml/2006/main" prst="roundRect">
            <a:avLst>
              <a:gd name="adj" fmla="val 21053"/>
            </a:avLst>
          </a:prstGeom>
          <a:solidFill xmlns:a="http://schemas.openxmlformats.org/drawingml/2006/main">
            <a:srgbClr val="ECF3FF"/>
          </a:solidFill>
          <a:ln xmlns:a="http://schemas.openxmlformats.org/drawingml/2006/main" w="9525">
            <a:solidFill>
              <a:srgbClr val="DFE7F1"/>
            </a:solidFill>
          </a:ln>
        </p:spPr>
      </p:sp>
      <p:sp>
        <p:nvSpPr>
          <p:cNvPr id="18" name="KEY INSIGHT">
            <a:extLst xmlns:a="http://schemas.openxmlformats.org/drawingml/2006/main">
              <a:ext uri="{FF2B5EF4-FFF2-40B4-BE49-F238E27FC236}">
                <a16:creationId xmlns:a16="http://schemas.microsoft.com/office/drawing/2014/main" id="{D281F150-7281-46D7-8D67-A87CA3E99001}"/>
              </a:ext>
            </a:extLst>
          </p:cNvPr>
          <p:cNvSpPr>
            <a:spLocks xmlns:a="http://schemas.openxmlformats.org/drawingml/2006/main" noGrp="1"/>
          </p:cNvSpPr>
          <p:nvPr/>
        </p:nvSpPr>
        <p:spPr>
          <a:xfrm xmlns:a="http://schemas.openxmlformats.org/drawingml/2006/main">
            <a:off x="742950" y="5362575"/>
            <a:ext cx="2924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2463EB"/>
                </a:solidFill>
                <a:latin typeface="Segoe UI"/>
                <a:ea typeface="Segoe UI"/>
                <a:cs typeface="Segoe UI"/>
              </a:defRPr>
            </a:pPr>
            <a:r>
              <a:rPr sz="1050" b="1">
                <a:solidFill>
                  <a:srgbClr val="2463EB"/>
                </a:solidFill>
                <a:latin typeface="Segoe UI"/>
                <a:ea typeface="Segoe UI"/>
                <a:cs typeface="Segoe UI"/>
              </a:rPr>
              <a:t>KEY INSIGHT</a:t>
            </a:r>
          </a:p>
        </p:txBody>
      </p:sp>
      <p:sp>
        <p:nvSpPr>
          <p:cNvPr id="19" name="Monthly contracts: 42.7% churn. Two-year contrac">
            <a:extLst xmlns:a="http://schemas.openxmlformats.org/drawingml/2006/main">
              <a:ext uri="{FF2B5EF4-FFF2-40B4-BE49-F238E27FC236}">
                <a16:creationId xmlns:a16="http://schemas.microsoft.com/office/drawing/2014/main" id="{23AFA93E-017D-4EE8-B4FD-83978E79E697}"/>
              </a:ext>
            </a:extLst>
          </p:cNvPr>
          <p:cNvSpPr>
            <a:spLocks xmlns:a="http://schemas.openxmlformats.org/drawingml/2006/main" noGrp="1"/>
          </p:cNvSpPr>
          <p:nvPr/>
        </p:nvSpPr>
        <p:spPr>
          <a:xfrm xmlns:a="http://schemas.openxmlformats.org/drawingml/2006/main">
            <a:off x="742950" y="5657850"/>
            <a:ext cx="29432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1">
                <a:solidFill>
                  <a:srgbClr val="112139"/>
                </a:solidFill>
                <a:latin typeface="Segoe UI"/>
                <a:ea typeface="Segoe UI"/>
                <a:cs typeface="Segoe UI"/>
              </a:defRPr>
            </a:pPr>
            <a:r>
              <a:rPr sz="1425" b="1">
                <a:solidFill>
                  <a:srgbClr val="112139"/>
                </a:solidFill>
                <a:latin typeface="Segoe UI"/>
                <a:ea typeface="Segoe UI"/>
                <a:cs typeface="Segoe UI"/>
              </a:rPr>
              <a:t>Monthly contracts: 42.7% churn.</a:t>
            </a:r>
          </a:p>
          <a:p xmlns:a="http://schemas.openxmlformats.org/drawingml/2006/main">
            <a:pPr algn="l">
              <a:defRPr sz="1425" b="1">
                <a:solidFill>
                  <a:srgbClr val="112139"/>
                </a:solidFill>
                <a:latin typeface="Segoe UI"/>
                <a:ea typeface="Segoe UI"/>
                <a:cs typeface="Segoe UI"/>
              </a:defRPr>
            </a:pPr>
            <a:r>
              <a:rPr sz="1425" b="1">
                <a:solidFill>
                  <a:srgbClr val="112139"/>
                </a:solidFill>
                <a:latin typeface="Segoe UI"/>
                <a:ea typeface="Segoe UI"/>
                <a:cs typeface="Segoe UI"/>
              </a:rPr>
              <a:t>Two-year contracts: 2.85%.</a:t>
            </a:r>
          </a:p>
        </p:txBody>
      </p:sp>
      <p:sp>
        <p:nvSpPr>
          <p:cNvPr id="20" name="">
            <a:extLst xmlns:a="http://schemas.openxmlformats.org/drawingml/2006/main">
              <a:ext uri="{FF2B5EF4-FFF2-40B4-BE49-F238E27FC236}">
                <a16:creationId xmlns:a16="http://schemas.microsoft.com/office/drawing/2014/main" id="{A85EB9F8-C7A7-473E-AEDC-AF9F3CD34FCF}"/>
              </a:ext>
            </a:extLst>
          </p:cNvPr>
          <p:cNvSpPr>
            <a:spLocks xmlns:a="http://schemas.openxmlformats.org/drawingml/2006/main" noGrp="1"/>
          </p:cNvSpPr>
          <p:nvPr/>
        </p:nvSpPr>
        <p:spPr>
          <a:xfrm xmlns:a="http://schemas.openxmlformats.org/drawingml/2006/main">
            <a:off x="4114800" y="1952625"/>
            <a:ext cx="7505700" cy="4200525"/>
          </a:xfrm>
          <a:prstGeom xmlns:a="http://schemas.openxmlformats.org/drawingml/2006/main" prst="roundRect">
            <a:avLst>
              <a:gd name="adj" fmla="val 4535"/>
            </a:avLst>
          </a:prstGeom>
          <a:solidFill xmlns:a="http://schemas.openxmlformats.org/drawingml/2006/main">
            <a:srgbClr val="FFFFFF"/>
          </a:solidFill>
          <a:ln xmlns:a="http://schemas.openxmlformats.org/drawingml/2006/main" w="9525">
            <a:solidFill>
              <a:srgbClr val="DFE7F1"/>
            </a:solidFill>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1" name="ACTUAL PROJECT DASHBOARD">
            <a:extLst xmlns:a="http://schemas.openxmlformats.org/drawingml/2006/main">
              <a:ext uri="{FF2B5EF4-FFF2-40B4-BE49-F238E27FC236}">
                <a16:creationId xmlns:a16="http://schemas.microsoft.com/office/drawing/2014/main" id="{EA675E09-21D8-4DF9-A629-D6CAE8B93687}"/>
              </a:ext>
            </a:extLst>
          </p:cNvPr>
          <p:cNvSpPr>
            <a:spLocks xmlns:a="http://schemas.openxmlformats.org/drawingml/2006/main" noGrp="1"/>
          </p:cNvSpPr>
          <p:nvPr/>
        </p:nvSpPr>
        <p:spPr>
          <a:xfrm xmlns:a="http://schemas.openxmlformats.org/drawingml/2006/main">
            <a:off x="4314825" y="2105025"/>
            <a:ext cx="695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2463EB"/>
                </a:solidFill>
                <a:latin typeface="Segoe UI"/>
                <a:ea typeface="Segoe UI"/>
                <a:cs typeface="Segoe UI"/>
              </a:defRPr>
            </a:pPr>
            <a:r>
              <a:rPr sz="1050" b="1">
                <a:solidFill>
                  <a:srgbClr val="2463EB"/>
                </a:solidFill>
                <a:latin typeface="Segoe UI"/>
                <a:ea typeface="Segoe UI"/>
                <a:cs typeface="Segoe UI"/>
              </a:rPr>
              <a:t>ACTUAL PROJECT DASHBOARD</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c41a3419dac94fff"/>
          <a:stretch xmlns:a="http://schemas.openxmlformats.org/drawingml/2006/main"/>
        </p:blipFill>
        <p:spPr>
          <a:xfrm xmlns:a="http://schemas.openxmlformats.org/drawingml/2006/main">
            <a:off x="4544433" y="2438400"/>
            <a:ext cx="6646433" cy="3695700"/>
          </a:xfrm>
          <a:prstGeom xmlns:a="http://schemas.openxmlformats.org/drawingml/2006/main" prst="rect">
            <a:avLst/>
          </a:prstGeom>
        </p:spPr>
      </p:pic>
      <p:sp>
        <p:nvSpPr>
          <p:cNvPr id="23" name="7,032 clean records     26.58% churn     77% rec">
            <a:extLst xmlns:a="http://schemas.openxmlformats.org/drawingml/2006/main">
              <a:ext uri="{FF2B5EF4-FFF2-40B4-BE49-F238E27FC236}">
                <a16:creationId xmlns:a16="http://schemas.microsoft.com/office/drawing/2014/main" id="{9DBBE21C-20C4-40A5-ADB8-29FDDA8F53AD}"/>
              </a:ext>
            </a:extLst>
          </p:cNvPr>
          <p:cNvSpPr>
            <a:spLocks xmlns:a="http://schemas.openxmlformats.org/drawingml/2006/main" noGrp="1"/>
          </p:cNvSpPr>
          <p:nvPr/>
        </p:nvSpPr>
        <p:spPr>
          <a:xfrm xmlns:a="http://schemas.openxmlformats.org/drawingml/2006/main">
            <a:off x="4295775" y="6229350"/>
            <a:ext cx="73247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2463EB"/>
                </a:solidFill>
                <a:latin typeface="Segoe UI"/>
                <a:ea typeface="Segoe UI"/>
                <a:cs typeface="Segoe UI"/>
              </a:defRPr>
            </a:pPr>
            <a:r>
              <a:rPr sz="1275" b="1">
                <a:solidFill>
                  <a:srgbClr val="2463EB"/>
                </a:solidFill>
                <a:latin typeface="Segoe UI"/>
                <a:ea typeface="Segoe UI"/>
                <a:cs typeface="Segoe UI"/>
              </a:rPr>
              <a:t>7,032 clean records     26.58% churn     77% recall / 50% precision</a:t>
            </a:r>
          </a:p>
        </p:txBody>
      </p:sp>
    </p:spTree>
    <p:extLst>
      <p:ext uri="{BB962C8B-B14F-4D97-AF65-F5344CB8AC3E}">
        <p14:creationId xmlns:p14="http://schemas.microsoft.com/office/powerpoint/2010/main" val="1624423553"/>
      </p:ext>
    </p:extLst>
  </p:cSld>
</p:sld>
</file>

<file path=ppt/slides/slide4.xml><?xml version="1.0" encoding="utf-8"?>
<p:sld xmlns:p="http://schemas.openxmlformats.org/presentationml/2006/main">
  <p:cSld>
    <p:bg>
      <p:bgPr>
        <a:solidFill xmlns:a="http://schemas.openxmlformats.org/drawingml/2006/main">
          <a:srgbClr val="F9FBFE"/>
        </a:solidFill>
      </p:bgPr>
    </p:bg>
    <p:spTree>
      <p:nvGrpSpPr>
        <p:cNvPr id="1" name=""/>
        <p:cNvGrpSpPr/>
        <p:nvPr/>
      </p:nvGrpSpPr>
      <p:grpSpPr>
        <a:xfrm xmlns:a="http://schemas.openxmlformats.org/drawingml/2006/main"/>
      </p:grpSpPr>
      <p:sp>
        <p:nvSpPr>
          <p:cNvPr id="31" name="SELECTED PROJECT 02">
            <a:extLst xmlns:a="http://schemas.openxmlformats.org/drawingml/2006/main">
              <a:ext uri="{FF2B5EF4-FFF2-40B4-BE49-F238E27FC236}">
                <a16:creationId xmlns:a16="http://schemas.microsoft.com/office/drawing/2014/main" id="{1E8CA738-1CD4-4E10-A7A1-6080B305F0CA}"/>
              </a:ext>
            </a:extLst>
          </p:cNvPr>
          <p:cNvSpPr>
            <a:spLocks xmlns:a="http://schemas.openxmlformats.org/drawingml/2006/main" noGrp="1"/>
          </p:cNvSpPr>
          <p:nvPr/>
        </p:nvSpPr>
        <p:spPr>
          <a:xfrm xmlns:a="http://schemas.openxmlformats.org/drawingml/2006/main">
            <a:off x="571500" y="304800"/>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2463EB"/>
                </a:solidFill>
                <a:latin typeface="Segoe UI"/>
                <a:ea typeface="Segoe UI"/>
                <a:cs typeface="Segoe UI"/>
              </a:defRPr>
            </a:pPr>
            <a:r>
              <a:rPr sz="1050" b="1">
                <a:solidFill>
                  <a:srgbClr val="2463EB"/>
                </a:solidFill>
                <a:latin typeface="Segoe UI"/>
                <a:ea typeface="Segoe UI"/>
                <a:cs typeface="Segoe UI"/>
              </a:rPr>
              <a:t>SELECTED PROJECT 02</a:t>
            </a:r>
          </a:p>
        </p:txBody>
      </p:sp>
      <p:sp>
        <p:nvSpPr>
          <p:cNvPr id="2" name="REVALDY ARRAHMAN">
            <a:extLst xmlns:a="http://schemas.openxmlformats.org/drawingml/2006/main">
              <a:ext uri="{FF2B5EF4-FFF2-40B4-BE49-F238E27FC236}">
                <a16:creationId xmlns:a16="http://schemas.microsoft.com/office/drawing/2014/main" id="{608ED1E9-C762-4959-949A-A3AA71F65E00}"/>
              </a:ext>
            </a:extLst>
          </p:cNvPr>
          <p:cNvSpPr>
            <a:spLocks xmlns:a="http://schemas.openxmlformats.org/drawingml/2006/main" noGrp="1"/>
          </p:cNvSpPr>
          <p:nvPr/>
        </p:nvSpPr>
        <p:spPr>
          <a:xfrm xmlns:a="http://schemas.openxmlformats.org/drawingml/2006/main">
            <a:off x="8810625" y="314325"/>
            <a:ext cx="2800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00" b="1">
                <a:solidFill>
                  <a:srgbClr val="5B6B83"/>
                </a:solidFill>
                <a:latin typeface="Segoe UI"/>
                <a:ea typeface="Segoe UI"/>
                <a:cs typeface="Segoe UI"/>
              </a:defRPr>
            </a:pPr>
            <a:r>
              <a:rPr sz="900" b="1">
                <a:solidFill>
                  <a:srgbClr val="5B6B83"/>
                </a:solidFill>
                <a:latin typeface="Segoe UI"/>
                <a:ea typeface="Segoe UI"/>
                <a:cs typeface="Segoe UI"/>
              </a:rPr>
              <a:t>REVALDY ARRAHMAN</a:t>
            </a:r>
          </a:p>
        </p:txBody>
      </p:sp>
      <p:sp>
        <p:nvSpPr>
          <p:cNvPr id="3" name="MBG sentiment analysis">
            <a:extLst xmlns:a="http://schemas.openxmlformats.org/drawingml/2006/main">
              <a:ext uri="{FF2B5EF4-FFF2-40B4-BE49-F238E27FC236}">
                <a16:creationId xmlns:a16="http://schemas.microsoft.com/office/drawing/2014/main" id="{01D4DD19-2584-499E-9951-FA6AE0965556}"/>
              </a:ext>
            </a:extLst>
          </p:cNvPr>
          <p:cNvSpPr>
            <a:spLocks xmlns:a="http://schemas.openxmlformats.org/drawingml/2006/main" noGrp="1"/>
          </p:cNvSpPr>
          <p:nvPr/>
        </p:nvSpPr>
        <p:spPr>
          <a:xfrm xmlns:a="http://schemas.openxmlformats.org/drawingml/2006/main">
            <a:off x="552450" y="819150"/>
            <a:ext cx="11049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12139"/>
                </a:solidFill>
                <a:latin typeface="Segoe UI"/>
                <a:ea typeface="Segoe UI"/>
                <a:cs typeface="Segoe UI"/>
              </a:defRPr>
            </a:pPr>
            <a:r>
              <a:rPr sz="3300" b="1">
                <a:solidFill>
                  <a:srgbClr val="112139"/>
                </a:solidFill>
                <a:latin typeface="Segoe UI"/>
                <a:ea typeface="Segoe UI"/>
                <a:cs typeface="Segoe UI"/>
              </a:rPr>
              <a:t>MBG sentiment analysis</a:t>
            </a:r>
          </a:p>
        </p:txBody>
      </p:sp>
      <p:sp>
        <p:nvSpPr>
          <p:cNvPr id="4" name="Indonesian text classification with TF-IDF and M">
            <a:extLst xmlns:a="http://schemas.openxmlformats.org/drawingml/2006/main">
              <a:ext uri="{FF2B5EF4-FFF2-40B4-BE49-F238E27FC236}">
                <a16:creationId xmlns:a16="http://schemas.microsoft.com/office/drawing/2014/main" id="{7C2E9F2E-9CC1-49F6-B119-15A6315A5E83}"/>
              </a:ext>
            </a:extLst>
          </p:cNvPr>
          <p:cNvSpPr>
            <a:spLocks xmlns:a="http://schemas.openxmlformats.org/drawingml/2006/main" noGrp="1"/>
          </p:cNvSpPr>
          <p:nvPr/>
        </p:nvSpPr>
        <p:spPr>
          <a:xfrm xmlns:a="http://schemas.openxmlformats.org/drawingml/2006/main">
            <a:off x="571500" y="14382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5B6B83"/>
                </a:solidFill>
                <a:latin typeface="Segoe UI"/>
                <a:ea typeface="Segoe UI"/>
                <a:cs typeface="Segoe UI"/>
              </a:defRPr>
            </a:pPr>
            <a:r>
              <a:rPr sz="1575" b="0">
                <a:solidFill>
                  <a:srgbClr val="5B6B83"/>
                </a:solidFill>
                <a:latin typeface="Segoe UI"/>
                <a:ea typeface="Segoe UI"/>
                <a:cs typeface="Segoe UI"/>
              </a:rPr>
              <a:t>Indonesian text classification with TF-IDF and Multinomial Naïve Bayes</a:t>
            </a:r>
          </a:p>
        </p:txBody>
      </p:sp>
      <p:sp>
        <p:nvSpPr>
          <p:cNvPr id="5" name="">
            <a:extLst xmlns:a="http://schemas.openxmlformats.org/drawingml/2006/main">
              <a:ext uri="{FF2B5EF4-FFF2-40B4-BE49-F238E27FC236}">
                <a16:creationId xmlns:a16="http://schemas.microsoft.com/office/drawing/2014/main" id="{CDEA353B-E6A0-4F17-B7B2-41F5E1257678}"/>
              </a:ext>
            </a:extLst>
          </p:cNvPr>
          <p:cNvSpPr>
            <a:spLocks xmlns:a="http://schemas.openxmlformats.org/drawingml/2006/main" noGrp="1"/>
          </p:cNvSpPr>
          <p:nvPr/>
        </p:nvSpPr>
        <p:spPr>
          <a:xfrm xmlns:a="http://schemas.openxmlformats.org/drawingml/2006/main">
            <a:off x="571500" y="6496050"/>
            <a:ext cx="11049000" cy="0"/>
          </a:xfrm>
          <a:prstGeom xmlns:a="http://schemas.openxmlformats.org/drawingml/2006/main" prst="line">
            <a:avLst/>
          </a:prstGeom>
          <a:noFill xmlns:a="http://schemas.openxmlformats.org/drawingml/2006/main"/>
          <a:ln xmlns:a="http://schemas.openxmlformats.org/drawingml/2006/main" w="9525">
            <a:solidFill>
              <a:srgbClr val="DFE7F1"/>
            </a:solidFill>
          </a:ln>
        </p:spPr>
      </p:sp>
      <p:sp>
        <p:nvSpPr>
          <p:cNvPr id="6" name="DATA PORTFOLIO">
            <a:extLst xmlns:a="http://schemas.openxmlformats.org/drawingml/2006/main">
              <a:ext uri="{FF2B5EF4-FFF2-40B4-BE49-F238E27FC236}">
                <a16:creationId xmlns:a16="http://schemas.microsoft.com/office/drawing/2014/main" id="{C9E63AEB-60C7-4989-9EC1-19DB65A6FF40}"/>
              </a:ext>
            </a:extLst>
          </p:cNvPr>
          <p:cNvSpPr>
            <a:spLocks xmlns:a="http://schemas.openxmlformats.org/drawingml/2006/main" noGrp="1"/>
          </p:cNvSpPr>
          <p:nvPr/>
        </p:nvSpPr>
        <p:spPr>
          <a:xfrm xmlns:a="http://schemas.openxmlformats.org/drawingml/2006/main">
            <a:off x="571500" y="6581775"/>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825" b="1">
                <a:solidFill>
                  <a:srgbClr val="5B6B83"/>
                </a:solidFill>
                <a:latin typeface="Segoe UI"/>
                <a:ea typeface="Segoe UI"/>
                <a:cs typeface="Segoe UI"/>
              </a:defRPr>
            </a:pPr>
            <a:r>
              <a:rPr sz="825" b="1">
                <a:solidFill>
                  <a:srgbClr val="5B6B83"/>
                </a:solidFill>
                <a:latin typeface="Segoe UI"/>
                <a:ea typeface="Segoe UI"/>
                <a:cs typeface="Segoe UI"/>
              </a:rPr>
              <a:t>DATA PORTFOLIO</a:t>
            </a:r>
          </a:p>
        </p:txBody>
      </p:sp>
      <p:sp>
        <p:nvSpPr>
          <p:cNvPr id="7" name="04">
            <a:extLst xmlns:a="http://schemas.openxmlformats.org/drawingml/2006/main">
              <a:ext uri="{FF2B5EF4-FFF2-40B4-BE49-F238E27FC236}">
                <a16:creationId xmlns:a16="http://schemas.microsoft.com/office/drawing/2014/main" id="{1AEFBAA7-1B2D-443E-AE88-2165E4B304D8}"/>
              </a:ext>
            </a:extLst>
          </p:cNvPr>
          <p:cNvSpPr>
            <a:spLocks xmlns:a="http://schemas.openxmlformats.org/drawingml/2006/main" noGrp="1"/>
          </p:cNvSpPr>
          <p:nvPr/>
        </p:nvSpPr>
        <p:spPr>
          <a:xfrm xmlns:a="http://schemas.openxmlformats.org/drawingml/2006/main">
            <a:off x="11106150" y="6562725"/>
            <a:ext cx="5143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1">
                <a:solidFill>
                  <a:srgbClr val="2463EB"/>
                </a:solidFill>
                <a:latin typeface="Segoe UI"/>
                <a:ea typeface="Segoe UI"/>
                <a:cs typeface="Segoe UI"/>
              </a:defRPr>
            </a:pPr>
            <a:r>
              <a:rPr sz="975" b="1">
                <a:solidFill>
                  <a:srgbClr val="2463EB"/>
                </a:solidFill>
                <a:latin typeface="Segoe UI"/>
                <a:ea typeface="Segoe UI"/>
                <a:cs typeface="Segoe UI"/>
              </a:rPr>
              <a:t>04</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dd268aef930e4702"/>
          <a:stretch xmlns:a="http://schemas.openxmlformats.org/drawingml/2006/main"/>
        </p:blipFill>
        <p:spPr>
          <a:xfrm xmlns:a="http://schemas.openxmlformats.org/drawingml/2006/main">
            <a:off x="571500" y="2066925"/>
            <a:ext cx="238125" cy="238125"/>
          </a:xfrm>
          <a:prstGeom xmlns:a="http://schemas.openxmlformats.org/drawingml/2006/main" prst="rect">
            <a:avLst/>
          </a:prstGeom>
        </p:spPr>
      </p:pic>
      <p:sp>
        <p:nvSpPr>
          <p:cNvPr id="9" name="PROBLEM">
            <a:extLst xmlns:a="http://schemas.openxmlformats.org/drawingml/2006/main">
              <a:ext uri="{FF2B5EF4-FFF2-40B4-BE49-F238E27FC236}">
                <a16:creationId xmlns:a16="http://schemas.microsoft.com/office/drawing/2014/main" id="{FE1A2B6E-C651-4092-85C9-6FA7FD194007}"/>
              </a:ext>
            </a:extLst>
          </p:cNvPr>
          <p:cNvSpPr>
            <a:spLocks xmlns:a="http://schemas.openxmlformats.org/drawingml/2006/main" noGrp="1"/>
          </p:cNvSpPr>
          <p:nvPr/>
        </p:nvSpPr>
        <p:spPr>
          <a:xfrm xmlns:a="http://schemas.openxmlformats.org/drawingml/2006/main">
            <a:off x="933450" y="2047875"/>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2463EB"/>
                </a:solidFill>
                <a:latin typeface="Segoe UI"/>
                <a:ea typeface="Segoe UI"/>
                <a:cs typeface="Segoe UI"/>
              </a:defRPr>
            </a:pPr>
            <a:r>
              <a:rPr sz="1050" b="1">
                <a:solidFill>
                  <a:srgbClr val="2463EB"/>
                </a:solidFill>
                <a:latin typeface="Segoe UI"/>
                <a:ea typeface="Segoe UI"/>
                <a:cs typeface="Segoe UI"/>
              </a:rPr>
              <a:t>PROBLEM</a:t>
            </a:r>
          </a:p>
        </p:txBody>
      </p:sp>
      <p:sp>
        <p:nvSpPr>
          <p:cNvPr id="10" name="Classify sentiment in social media posts about t">
            <a:extLst xmlns:a="http://schemas.openxmlformats.org/drawingml/2006/main">
              <a:ext uri="{FF2B5EF4-FFF2-40B4-BE49-F238E27FC236}">
                <a16:creationId xmlns:a16="http://schemas.microsoft.com/office/drawing/2014/main" id="{23FA8B43-A3C8-4AA8-9951-374E6114353F}"/>
              </a:ext>
            </a:extLst>
          </p:cNvPr>
          <p:cNvSpPr>
            <a:spLocks xmlns:a="http://schemas.openxmlformats.org/drawingml/2006/main" noGrp="1"/>
          </p:cNvSpPr>
          <p:nvPr/>
        </p:nvSpPr>
        <p:spPr>
          <a:xfrm xmlns:a="http://schemas.openxmlformats.org/drawingml/2006/main">
            <a:off x="933450" y="2295525"/>
            <a:ext cx="28765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112139"/>
                </a:solidFill>
                <a:latin typeface="Segoe UI"/>
                <a:ea typeface="Segoe UI"/>
                <a:cs typeface="Segoe UI"/>
              </a:defRPr>
            </a:pPr>
            <a:r>
              <a:rPr sz="1500" b="0">
                <a:solidFill>
                  <a:srgbClr val="112139"/>
                </a:solidFill>
                <a:latin typeface="Segoe UI"/>
                <a:ea typeface="Segoe UI"/>
                <a:cs typeface="Segoe UI"/>
              </a:rPr>
              <a:t>Classify sentiment in social media</a:t>
            </a:r>
          </a:p>
          <a:p xmlns:a="http://schemas.openxmlformats.org/drawingml/2006/main">
            <a:pPr algn="l">
              <a:defRPr sz="1500" b="0">
                <a:solidFill>
                  <a:srgbClr val="112139"/>
                </a:solidFill>
                <a:latin typeface="Segoe UI"/>
                <a:ea typeface="Segoe UI"/>
                <a:cs typeface="Segoe UI"/>
              </a:defRPr>
            </a:pPr>
            <a:r>
              <a:rPr sz="1500" b="0">
                <a:solidFill>
                  <a:srgbClr val="112139"/>
                </a:solidFill>
                <a:latin typeface="Segoe UI"/>
                <a:ea typeface="Segoe UI"/>
                <a:cs typeface="Segoe UI"/>
              </a:rPr>
              <a:t>posts about the MBG program.</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7fdba8f2b88041a2"/>
          <a:stretch xmlns:a="http://schemas.openxmlformats.org/drawingml/2006/main"/>
        </p:blipFill>
        <p:spPr>
          <a:xfrm xmlns:a="http://schemas.openxmlformats.org/drawingml/2006/main">
            <a:off x="571500" y="3105150"/>
            <a:ext cx="238125" cy="238125"/>
          </a:xfrm>
          <a:prstGeom xmlns:a="http://schemas.openxmlformats.org/drawingml/2006/main" prst="rect">
            <a:avLst/>
          </a:prstGeom>
        </p:spPr>
      </p:pic>
      <p:sp>
        <p:nvSpPr>
          <p:cNvPr id="12" name="DATA / TOOLS">
            <a:extLst xmlns:a="http://schemas.openxmlformats.org/drawingml/2006/main">
              <a:ext uri="{FF2B5EF4-FFF2-40B4-BE49-F238E27FC236}">
                <a16:creationId xmlns:a16="http://schemas.microsoft.com/office/drawing/2014/main" id="{31C30B7A-3634-48C9-9F0E-362F220DBB73}"/>
              </a:ext>
            </a:extLst>
          </p:cNvPr>
          <p:cNvSpPr>
            <a:spLocks xmlns:a="http://schemas.openxmlformats.org/drawingml/2006/main" noGrp="1"/>
          </p:cNvSpPr>
          <p:nvPr/>
        </p:nvSpPr>
        <p:spPr>
          <a:xfrm xmlns:a="http://schemas.openxmlformats.org/drawingml/2006/main">
            <a:off x="933450" y="30861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2463EB"/>
                </a:solidFill>
                <a:latin typeface="Segoe UI"/>
                <a:ea typeface="Segoe UI"/>
                <a:cs typeface="Segoe UI"/>
              </a:defRPr>
            </a:pPr>
            <a:r>
              <a:rPr sz="1050" b="1">
                <a:solidFill>
                  <a:srgbClr val="2463EB"/>
                </a:solidFill>
                <a:latin typeface="Segoe UI"/>
                <a:ea typeface="Segoe UI"/>
                <a:cs typeface="Segoe UI"/>
              </a:rPr>
              <a:t>DATA / TOOLS</a:t>
            </a:r>
          </a:p>
        </p:txBody>
      </p:sp>
      <p:sp>
        <p:nvSpPr>
          <p:cNvPr id="13" name="1,875 positive / negative posts Python, NLTK, Sa">
            <a:extLst xmlns:a="http://schemas.openxmlformats.org/drawingml/2006/main">
              <a:ext uri="{FF2B5EF4-FFF2-40B4-BE49-F238E27FC236}">
                <a16:creationId xmlns:a16="http://schemas.microsoft.com/office/drawing/2014/main" id="{502F2D52-35C4-4D5F-9F2E-7E76CCAB5FB4}"/>
              </a:ext>
            </a:extLst>
          </p:cNvPr>
          <p:cNvSpPr>
            <a:spLocks xmlns:a="http://schemas.openxmlformats.org/drawingml/2006/main" noGrp="1"/>
          </p:cNvSpPr>
          <p:nvPr/>
        </p:nvSpPr>
        <p:spPr>
          <a:xfrm xmlns:a="http://schemas.openxmlformats.org/drawingml/2006/main">
            <a:off x="933450" y="3333750"/>
            <a:ext cx="28765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112139"/>
                </a:solidFill>
                <a:latin typeface="Segoe UI"/>
                <a:ea typeface="Segoe UI"/>
                <a:cs typeface="Segoe UI"/>
              </a:defRPr>
            </a:pPr>
            <a:r>
              <a:rPr sz="1500" b="0">
                <a:solidFill>
                  <a:srgbClr val="112139"/>
                </a:solidFill>
                <a:latin typeface="Segoe UI"/>
                <a:ea typeface="Segoe UI"/>
                <a:cs typeface="Segoe UI"/>
              </a:rPr>
              <a:t>1,875 positive / negative posts</a:t>
            </a:r>
          </a:p>
          <a:p xmlns:a="http://schemas.openxmlformats.org/drawingml/2006/main">
            <a:pPr algn="l">
              <a:defRPr sz="1500" b="0">
                <a:solidFill>
                  <a:srgbClr val="112139"/>
                </a:solidFill>
                <a:latin typeface="Segoe UI"/>
                <a:ea typeface="Segoe UI"/>
                <a:cs typeface="Segoe UI"/>
              </a:defRPr>
            </a:pPr>
            <a:r>
              <a:rPr sz="1500" b="0">
                <a:solidFill>
                  <a:srgbClr val="112139"/>
                </a:solidFill>
                <a:latin typeface="Segoe UI"/>
                <a:ea typeface="Segoe UI"/>
                <a:cs typeface="Segoe UI"/>
              </a:rPr>
              <a:t>Python, NLTK, Sastrawi, scikit-learn</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b617f103e5424cdd"/>
          <a:stretch xmlns:a="http://schemas.openxmlformats.org/drawingml/2006/main"/>
        </p:blipFill>
        <p:spPr>
          <a:xfrm xmlns:a="http://schemas.openxmlformats.org/drawingml/2006/main">
            <a:off x="571500" y="4143375"/>
            <a:ext cx="238125" cy="238125"/>
          </a:xfrm>
          <a:prstGeom xmlns:a="http://schemas.openxmlformats.org/drawingml/2006/main" prst="rect">
            <a:avLst/>
          </a:prstGeom>
        </p:spPr>
      </p:pic>
      <p:sp>
        <p:nvSpPr>
          <p:cNvPr id="15" name="PROCESS">
            <a:extLst xmlns:a="http://schemas.openxmlformats.org/drawingml/2006/main">
              <a:ext uri="{FF2B5EF4-FFF2-40B4-BE49-F238E27FC236}">
                <a16:creationId xmlns:a16="http://schemas.microsoft.com/office/drawing/2014/main" id="{61E82060-EEB6-46D0-9DB1-2D9D7BBA9925}"/>
              </a:ext>
            </a:extLst>
          </p:cNvPr>
          <p:cNvSpPr>
            <a:spLocks xmlns:a="http://schemas.openxmlformats.org/drawingml/2006/main" noGrp="1"/>
          </p:cNvSpPr>
          <p:nvPr/>
        </p:nvSpPr>
        <p:spPr>
          <a:xfrm xmlns:a="http://schemas.openxmlformats.org/drawingml/2006/main">
            <a:off x="933450" y="4124325"/>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2463EB"/>
                </a:solidFill>
                <a:latin typeface="Segoe UI"/>
                <a:ea typeface="Segoe UI"/>
                <a:cs typeface="Segoe UI"/>
              </a:defRPr>
            </a:pPr>
            <a:r>
              <a:rPr sz="1050" b="1">
                <a:solidFill>
                  <a:srgbClr val="2463EB"/>
                </a:solidFill>
                <a:latin typeface="Segoe UI"/>
                <a:ea typeface="Segoe UI"/>
                <a:cs typeface="Segoe UI"/>
              </a:rPr>
              <a:t>PROCESS</a:t>
            </a:r>
          </a:p>
        </p:txBody>
      </p:sp>
      <p:sp>
        <p:nvSpPr>
          <p:cNvPr id="16" name="Clean, tokenize and stem text. Create automatic ">
            <a:extLst xmlns:a="http://schemas.openxmlformats.org/drawingml/2006/main">
              <a:ext uri="{FF2B5EF4-FFF2-40B4-BE49-F238E27FC236}">
                <a16:creationId xmlns:a16="http://schemas.microsoft.com/office/drawing/2014/main" id="{5FCF03CB-4620-4C0A-886D-EC5E16F4C82D}"/>
              </a:ext>
            </a:extLst>
          </p:cNvPr>
          <p:cNvSpPr>
            <a:spLocks xmlns:a="http://schemas.openxmlformats.org/drawingml/2006/main" noGrp="1"/>
          </p:cNvSpPr>
          <p:nvPr/>
        </p:nvSpPr>
        <p:spPr>
          <a:xfrm xmlns:a="http://schemas.openxmlformats.org/drawingml/2006/main">
            <a:off x="933450" y="4371975"/>
            <a:ext cx="28765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112139"/>
                </a:solidFill>
                <a:latin typeface="Segoe UI"/>
                <a:ea typeface="Segoe UI"/>
                <a:cs typeface="Segoe UI"/>
              </a:defRPr>
            </a:pPr>
            <a:r>
              <a:rPr sz="1500" b="0">
                <a:solidFill>
                  <a:srgbClr val="112139"/>
                </a:solidFill>
                <a:latin typeface="Segoe UI"/>
                <a:ea typeface="Segoe UI"/>
                <a:cs typeface="Segoe UI"/>
              </a:rPr>
              <a:t>Clean, tokenize and stem text.</a:t>
            </a:r>
          </a:p>
          <a:p xmlns:a="http://schemas.openxmlformats.org/drawingml/2006/main">
            <a:pPr algn="l">
              <a:defRPr sz="1500" b="0">
                <a:solidFill>
                  <a:srgbClr val="112139"/>
                </a:solidFill>
                <a:latin typeface="Segoe UI"/>
                <a:ea typeface="Segoe UI"/>
                <a:cs typeface="Segoe UI"/>
              </a:defRPr>
            </a:pPr>
            <a:r>
              <a:rPr sz="1500" b="0">
                <a:solidFill>
                  <a:srgbClr val="112139"/>
                </a:solidFill>
                <a:latin typeface="Segoe UI"/>
                <a:ea typeface="Segoe UI"/>
                <a:cs typeface="Segoe UI"/>
              </a:rPr>
              <a:t>Create automatic labels, then train.</a:t>
            </a:r>
          </a:p>
        </p:txBody>
      </p:sp>
      <p:sp>
        <p:nvSpPr>
          <p:cNvPr id="17" name="">
            <a:extLst xmlns:a="http://schemas.openxmlformats.org/drawingml/2006/main">
              <a:ext uri="{FF2B5EF4-FFF2-40B4-BE49-F238E27FC236}">
                <a16:creationId xmlns:a16="http://schemas.microsoft.com/office/drawing/2014/main" id="{4E472402-A3B5-41F8-AB7A-BC2A7011C7EE}"/>
              </a:ext>
            </a:extLst>
          </p:cNvPr>
          <p:cNvSpPr>
            <a:spLocks xmlns:a="http://schemas.openxmlformats.org/drawingml/2006/main" noGrp="1"/>
          </p:cNvSpPr>
          <p:nvPr/>
        </p:nvSpPr>
        <p:spPr>
          <a:xfrm xmlns:a="http://schemas.openxmlformats.org/drawingml/2006/main">
            <a:off x="571500" y="5248275"/>
            <a:ext cx="3267075" cy="904875"/>
          </a:xfrm>
          <a:prstGeom xmlns:a="http://schemas.openxmlformats.org/drawingml/2006/main" prst="roundRect">
            <a:avLst>
              <a:gd name="adj" fmla="val 21053"/>
            </a:avLst>
          </a:prstGeom>
          <a:solidFill xmlns:a="http://schemas.openxmlformats.org/drawingml/2006/main">
            <a:srgbClr val="ECF3FF"/>
          </a:solidFill>
          <a:ln xmlns:a="http://schemas.openxmlformats.org/drawingml/2006/main" w="9525">
            <a:solidFill>
              <a:srgbClr val="DFE7F1"/>
            </a:solidFill>
          </a:ln>
        </p:spPr>
      </p:sp>
      <p:sp>
        <p:nvSpPr>
          <p:cNvPr id="18" name="RESULT / LEARNING">
            <a:extLst xmlns:a="http://schemas.openxmlformats.org/drawingml/2006/main">
              <a:ext uri="{FF2B5EF4-FFF2-40B4-BE49-F238E27FC236}">
                <a16:creationId xmlns:a16="http://schemas.microsoft.com/office/drawing/2014/main" id="{25E9F0BF-0106-4EF0-BBA9-9BB7296F22DB}"/>
              </a:ext>
            </a:extLst>
          </p:cNvPr>
          <p:cNvSpPr>
            <a:spLocks xmlns:a="http://schemas.openxmlformats.org/drawingml/2006/main" noGrp="1"/>
          </p:cNvSpPr>
          <p:nvPr/>
        </p:nvSpPr>
        <p:spPr>
          <a:xfrm xmlns:a="http://schemas.openxmlformats.org/drawingml/2006/main">
            <a:off x="742950" y="5362575"/>
            <a:ext cx="2924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2463EB"/>
                </a:solidFill>
                <a:latin typeface="Segoe UI"/>
                <a:ea typeface="Segoe UI"/>
                <a:cs typeface="Segoe UI"/>
              </a:defRPr>
            </a:pPr>
            <a:r>
              <a:rPr sz="1050" b="1">
                <a:solidFill>
                  <a:srgbClr val="2463EB"/>
                </a:solidFill>
                <a:latin typeface="Segoe UI"/>
                <a:ea typeface="Segoe UI"/>
                <a:cs typeface="Segoe UI"/>
              </a:rPr>
              <a:t>RESULT / LEARNING</a:t>
            </a:r>
          </a:p>
        </p:txBody>
      </p:sp>
      <p:sp>
        <p:nvSpPr>
          <p:cNvPr id="19" name="81.07% notebook test accuracy. Negative-class re">
            <a:extLst xmlns:a="http://schemas.openxmlformats.org/drawingml/2006/main">
              <a:ext uri="{FF2B5EF4-FFF2-40B4-BE49-F238E27FC236}">
                <a16:creationId xmlns:a16="http://schemas.microsoft.com/office/drawing/2014/main" id="{D9997B91-478C-4093-8F47-E41193CB242A}"/>
              </a:ext>
            </a:extLst>
          </p:cNvPr>
          <p:cNvSpPr>
            <a:spLocks xmlns:a="http://schemas.openxmlformats.org/drawingml/2006/main" noGrp="1"/>
          </p:cNvSpPr>
          <p:nvPr/>
        </p:nvSpPr>
        <p:spPr>
          <a:xfrm xmlns:a="http://schemas.openxmlformats.org/drawingml/2006/main">
            <a:off x="742950" y="5657850"/>
            <a:ext cx="29432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1">
                <a:solidFill>
                  <a:srgbClr val="112139"/>
                </a:solidFill>
                <a:latin typeface="Segoe UI"/>
                <a:ea typeface="Segoe UI"/>
                <a:cs typeface="Segoe UI"/>
              </a:defRPr>
            </a:pPr>
            <a:r>
              <a:rPr sz="1425" b="1">
                <a:solidFill>
                  <a:srgbClr val="112139"/>
                </a:solidFill>
                <a:latin typeface="Segoe UI"/>
                <a:ea typeface="Segoe UI"/>
                <a:cs typeface="Segoe UI"/>
              </a:rPr>
              <a:t>81.07% notebook test accuracy.</a:t>
            </a:r>
          </a:p>
          <a:p xmlns:a="http://schemas.openxmlformats.org/drawingml/2006/main">
            <a:pPr algn="l">
              <a:defRPr sz="1425" b="1">
                <a:solidFill>
                  <a:srgbClr val="112139"/>
                </a:solidFill>
                <a:latin typeface="Segoe UI"/>
                <a:ea typeface="Segoe UI"/>
                <a:cs typeface="Segoe UI"/>
              </a:defRPr>
            </a:pPr>
            <a:r>
              <a:rPr sz="1425" b="1">
                <a:solidFill>
                  <a:srgbClr val="112139"/>
                </a:solidFill>
                <a:latin typeface="Segoe UI"/>
                <a:ea typeface="Segoe UI"/>
                <a:cs typeface="Segoe UI"/>
              </a:rPr>
              <a:t>Negative-class recall needs work.</a:t>
            </a:r>
          </a:p>
        </p:txBody>
      </p:sp>
      <p:sp>
        <p:nvSpPr>
          <p:cNvPr id="20" name="">
            <a:extLst xmlns:a="http://schemas.openxmlformats.org/drawingml/2006/main">
              <a:ext uri="{FF2B5EF4-FFF2-40B4-BE49-F238E27FC236}">
                <a16:creationId xmlns:a16="http://schemas.microsoft.com/office/drawing/2014/main" id="{56752A4C-E9A0-40B6-87ED-06B20E4C3D80}"/>
              </a:ext>
            </a:extLst>
          </p:cNvPr>
          <p:cNvSpPr>
            <a:spLocks xmlns:a="http://schemas.openxmlformats.org/drawingml/2006/main" noGrp="1"/>
          </p:cNvSpPr>
          <p:nvPr/>
        </p:nvSpPr>
        <p:spPr>
          <a:xfrm xmlns:a="http://schemas.openxmlformats.org/drawingml/2006/main">
            <a:off x="4114800" y="1952625"/>
            <a:ext cx="3790950" cy="3762375"/>
          </a:xfrm>
          <a:prstGeom xmlns:a="http://schemas.openxmlformats.org/drawingml/2006/main" prst="roundRect">
            <a:avLst>
              <a:gd name="adj" fmla="val 5063"/>
            </a:avLst>
          </a:prstGeom>
          <a:solidFill xmlns:a="http://schemas.openxmlformats.org/drawingml/2006/main">
            <a:srgbClr val="FFFFFF"/>
          </a:solidFill>
          <a:ln xmlns:a="http://schemas.openxmlformats.org/drawingml/2006/main" w="9525">
            <a:solidFill>
              <a:srgbClr val="DFE7F1"/>
            </a:solidFill>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1" name="NOTEBOOK CONFUSION MATRIX">
            <a:extLst xmlns:a="http://schemas.openxmlformats.org/drawingml/2006/main">
              <a:ext uri="{FF2B5EF4-FFF2-40B4-BE49-F238E27FC236}">
                <a16:creationId xmlns:a16="http://schemas.microsoft.com/office/drawing/2014/main" id="{9092A441-48F1-4D94-BAD0-7D5BB001330F}"/>
              </a:ext>
            </a:extLst>
          </p:cNvPr>
          <p:cNvSpPr>
            <a:spLocks xmlns:a="http://schemas.openxmlformats.org/drawingml/2006/main" noGrp="1"/>
          </p:cNvSpPr>
          <p:nvPr/>
        </p:nvSpPr>
        <p:spPr>
          <a:xfrm xmlns:a="http://schemas.openxmlformats.org/drawingml/2006/main">
            <a:off x="4295775" y="2114550"/>
            <a:ext cx="34956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2463EB"/>
                </a:solidFill>
                <a:latin typeface="Segoe UI"/>
                <a:ea typeface="Segoe UI"/>
                <a:cs typeface="Segoe UI"/>
              </a:defRPr>
            </a:pPr>
            <a:r>
              <a:rPr sz="1050" b="1">
                <a:solidFill>
                  <a:srgbClr val="2463EB"/>
                </a:solidFill>
                <a:latin typeface="Segoe UI"/>
                <a:ea typeface="Segoe UI"/>
                <a:cs typeface="Segoe UI"/>
              </a:rPr>
              <a:t>NOTEBOOK CONFUSION MATRIX</a:t>
            </a:r>
          </a:p>
        </p:txBody>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5edafbb678274a11"/>
          <a:stretch xmlns:a="http://schemas.openxmlformats.org/drawingml/2006/main"/>
        </p:blipFill>
        <p:spPr>
          <a:xfrm xmlns:a="http://schemas.openxmlformats.org/drawingml/2006/main">
            <a:off x="4257506" y="2447925"/>
            <a:ext cx="3505538" cy="3200400"/>
          </a:xfrm>
          <a:prstGeom xmlns:a="http://schemas.openxmlformats.org/drawingml/2006/main" prst="rect">
            <a:avLst/>
          </a:prstGeom>
        </p:spPr>
      </p:pic>
      <p:sp>
        <p:nvSpPr>
          <p:cNvPr id="23" name="">
            <a:extLst xmlns:a="http://schemas.openxmlformats.org/drawingml/2006/main">
              <a:ext uri="{FF2B5EF4-FFF2-40B4-BE49-F238E27FC236}">
                <a16:creationId xmlns:a16="http://schemas.microsoft.com/office/drawing/2014/main" id="{419555CA-CA29-4B41-904E-C7670B6B5AC4}"/>
              </a:ext>
            </a:extLst>
          </p:cNvPr>
          <p:cNvSpPr>
            <a:spLocks xmlns:a="http://schemas.openxmlformats.org/drawingml/2006/main" noGrp="1"/>
          </p:cNvSpPr>
          <p:nvPr/>
        </p:nvSpPr>
        <p:spPr>
          <a:xfrm xmlns:a="http://schemas.openxmlformats.org/drawingml/2006/main">
            <a:off x="8077200" y="1952625"/>
            <a:ext cx="3543300" cy="3762375"/>
          </a:xfrm>
          <a:prstGeom xmlns:a="http://schemas.openxmlformats.org/drawingml/2006/main" prst="roundRect">
            <a:avLst>
              <a:gd name="adj" fmla="val 5376"/>
            </a:avLst>
          </a:prstGeom>
          <a:solidFill xmlns:a="http://schemas.openxmlformats.org/drawingml/2006/main">
            <a:srgbClr val="FFFFFF"/>
          </a:solidFill>
          <a:ln xmlns:a="http://schemas.openxmlformats.org/drawingml/2006/main" w="9525">
            <a:solidFill>
              <a:srgbClr val="DFE7F1"/>
            </a:solidFill>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4" name="WORDS IN THE DATA">
            <a:extLst xmlns:a="http://schemas.openxmlformats.org/drawingml/2006/main">
              <a:ext uri="{FF2B5EF4-FFF2-40B4-BE49-F238E27FC236}">
                <a16:creationId xmlns:a16="http://schemas.microsoft.com/office/drawing/2014/main" id="{C43E122D-A1B2-4178-8D7C-059FA0E40DCF}"/>
              </a:ext>
            </a:extLst>
          </p:cNvPr>
          <p:cNvSpPr>
            <a:spLocks xmlns:a="http://schemas.openxmlformats.org/drawingml/2006/main" noGrp="1"/>
          </p:cNvSpPr>
          <p:nvPr/>
        </p:nvSpPr>
        <p:spPr>
          <a:xfrm xmlns:a="http://schemas.openxmlformats.org/drawingml/2006/main">
            <a:off x="8248650" y="2114550"/>
            <a:ext cx="320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2463EB"/>
                </a:solidFill>
                <a:latin typeface="Segoe UI"/>
                <a:ea typeface="Segoe UI"/>
                <a:cs typeface="Segoe UI"/>
              </a:defRPr>
            </a:pPr>
            <a:r>
              <a:rPr sz="1050" b="1">
                <a:solidFill>
                  <a:srgbClr val="2463EB"/>
                </a:solidFill>
                <a:latin typeface="Segoe UI"/>
                <a:ea typeface="Segoe UI"/>
                <a:cs typeface="Segoe UI"/>
              </a:rPr>
              <a:t>WORDS IN THE DATA</a:t>
            </a:r>
          </a:p>
        </p:txBody>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2ea4c8b3acd34d3b"/>
          <a:stretch xmlns:a="http://schemas.openxmlformats.org/drawingml/2006/main"/>
        </p:blipFill>
        <p:spPr>
          <a:xfrm xmlns:a="http://schemas.openxmlformats.org/drawingml/2006/main">
            <a:off x="8201025" y="2678129"/>
            <a:ext cx="3286125" cy="1120742"/>
          </a:xfrm>
          <a:prstGeom xmlns:a="http://schemas.openxmlformats.org/drawingml/2006/main" prst="rect">
            <a:avLst/>
          </a:prstGeom>
        </p:spPr>
      </p:pic>
      <p:sp>
        <p:nvSpPr>
          <p:cNvPr id="26" name="AUTOMATIC LABEL COUNTS">
            <a:extLst xmlns:a="http://schemas.openxmlformats.org/drawingml/2006/main">
              <a:ext uri="{FF2B5EF4-FFF2-40B4-BE49-F238E27FC236}">
                <a16:creationId xmlns:a16="http://schemas.microsoft.com/office/drawing/2014/main" id="{95EC0EE1-D26D-45E0-B519-0375FDE6B0DD}"/>
              </a:ext>
            </a:extLst>
          </p:cNvPr>
          <p:cNvSpPr>
            <a:spLocks xmlns:a="http://schemas.openxmlformats.org/drawingml/2006/main" noGrp="1"/>
          </p:cNvSpPr>
          <p:nvPr/>
        </p:nvSpPr>
        <p:spPr>
          <a:xfrm xmlns:a="http://schemas.openxmlformats.org/drawingml/2006/main">
            <a:off x="8248650" y="4000500"/>
            <a:ext cx="320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2463EB"/>
                </a:solidFill>
                <a:latin typeface="Segoe UI"/>
                <a:ea typeface="Segoe UI"/>
                <a:cs typeface="Segoe UI"/>
              </a:defRPr>
            </a:pPr>
            <a:r>
              <a:rPr sz="1050" b="1">
                <a:solidFill>
                  <a:srgbClr val="2463EB"/>
                </a:solidFill>
                <a:latin typeface="Segoe UI"/>
                <a:ea typeface="Segoe UI"/>
                <a:cs typeface="Segoe UI"/>
              </a:rPr>
              <a:t>AUTOMATIC LABEL COUNTS</a:t>
            </a:r>
          </a:p>
        </p:txBody>
      </p:sp>
      <p:graphicFrame>
        <p:nvGraphicFramePr>
          <p:cNvPr id="57" name="Chart"/>
          <p:cNvGraphicFramePr/>
          <p:nvPr/>
        </p:nvGraphicFramePr>
        <p:xfrm>
          <a:off xmlns:a="http://schemas.openxmlformats.org/drawingml/2006/main" x="8191500" y="4276725"/>
          <a:ext xmlns:a="http://schemas.openxmlformats.org/drawingml/2006/main" cx="3286125" cy="1257300"/>
        </p:xfrm>
        <a:graphic xmlns:a="http://schemas.openxmlformats.org/drawingml/2006/main">
          <a:graphicData uri="http://schemas.openxmlformats.org/drawingml/2006/chart">
            <c:chart xmlns:r="http://schemas.openxmlformats.org/officeDocument/2006/relationships" xmlns:c="http://schemas.openxmlformats.org/drawingml/2006/chart" r:id="R55323bd4dd05490a"/>
          </a:graphicData>
        </a:graphic>
      </p:graphicFrame>
      <p:sp>
        <p:nvSpPr>
          <p:cNvPr id="28" name="375 TEST POSTS">
            <a:extLst xmlns:a="http://schemas.openxmlformats.org/drawingml/2006/main">
              <a:ext uri="{FF2B5EF4-FFF2-40B4-BE49-F238E27FC236}">
                <a16:creationId xmlns:a16="http://schemas.microsoft.com/office/drawing/2014/main" id="{717570C3-7496-46AE-B15A-84095730B71F}"/>
              </a:ext>
            </a:extLst>
          </p:cNvPr>
          <p:cNvSpPr>
            <a:spLocks xmlns:a="http://schemas.openxmlformats.org/drawingml/2006/main" noGrp="1"/>
          </p:cNvSpPr>
          <p:nvPr/>
        </p:nvSpPr>
        <p:spPr>
          <a:xfrm xmlns:a="http://schemas.openxmlformats.org/drawingml/2006/main">
            <a:off x="4295775" y="5848350"/>
            <a:ext cx="2400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2463EB"/>
                </a:solidFill>
                <a:latin typeface="Segoe UI"/>
                <a:ea typeface="Segoe UI"/>
                <a:cs typeface="Segoe UI"/>
              </a:defRPr>
            </a:pPr>
            <a:r>
              <a:rPr sz="1050" b="1">
                <a:solidFill>
                  <a:srgbClr val="2463EB"/>
                </a:solidFill>
                <a:latin typeface="Segoe UI"/>
                <a:ea typeface="Segoe UI"/>
                <a:cs typeface="Segoe UI"/>
              </a:rPr>
              <a:t>375 TEST POSTS</a:t>
            </a:r>
          </a:p>
        </p:txBody>
      </p:sp>
      <p:sp>
        <p:nvSpPr>
          <p:cNvPr id="29" name="AUTO-GENERATED LABELS">
            <a:extLst xmlns:a="http://schemas.openxmlformats.org/drawingml/2006/main">
              <a:ext uri="{FF2B5EF4-FFF2-40B4-BE49-F238E27FC236}">
                <a16:creationId xmlns:a16="http://schemas.microsoft.com/office/drawing/2014/main" id="{E371EB2E-D1C1-488D-BD88-57DF1CDF895F}"/>
              </a:ext>
            </a:extLst>
          </p:cNvPr>
          <p:cNvSpPr>
            <a:spLocks xmlns:a="http://schemas.openxmlformats.org/drawingml/2006/main" noGrp="1"/>
          </p:cNvSpPr>
          <p:nvPr/>
        </p:nvSpPr>
        <p:spPr>
          <a:xfrm xmlns:a="http://schemas.openxmlformats.org/drawingml/2006/main">
            <a:off x="6324600" y="5848350"/>
            <a:ext cx="3381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019CAC"/>
                </a:solidFill>
                <a:latin typeface="Segoe UI"/>
                <a:ea typeface="Segoe UI"/>
                <a:cs typeface="Segoe UI"/>
              </a:defRPr>
            </a:pPr>
            <a:r>
              <a:rPr sz="1050" b="1">
                <a:solidFill>
                  <a:srgbClr val="019CAC"/>
                </a:solidFill>
                <a:latin typeface="Segoe UI"/>
                <a:ea typeface="Segoe UI"/>
                <a:cs typeface="Segoe UI"/>
              </a:rPr>
              <a:t>AUTO-GENERATED LABELS</a:t>
            </a:r>
          </a:p>
        </p:txBody>
      </p:sp>
      <p:sp>
        <p:nvSpPr>
          <p:cNvPr id="30" name="Paper reports 90.11%. The notebook output shown ">
            <a:extLst xmlns:a="http://schemas.openxmlformats.org/drawingml/2006/main">
              <a:ext uri="{FF2B5EF4-FFF2-40B4-BE49-F238E27FC236}">
                <a16:creationId xmlns:a16="http://schemas.microsoft.com/office/drawing/2014/main" id="{2443778E-D117-4AE0-AC42-BB45A3AA3971}"/>
              </a:ext>
            </a:extLst>
          </p:cNvPr>
          <p:cNvSpPr>
            <a:spLocks xmlns:a="http://schemas.openxmlformats.org/drawingml/2006/main" noGrp="1"/>
          </p:cNvSpPr>
          <p:nvPr/>
        </p:nvSpPr>
        <p:spPr>
          <a:xfrm xmlns:a="http://schemas.openxmlformats.org/drawingml/2006/main">
            <a:off x="4295775" y="6134100"/>
            <a:ext cx="72961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5B6B83"/>
                </a:solidFill>
                <a:latin typeface="Segoe UI"/>
                <a:ea typeface="Segoe UI"/>
                <a:cs typeface="Segoe UI"/>
              </a:defRPr>
            </a:pPr>
            <a:r>
              <a:rPr sz="1050" b="0">
                <a:solidFill>
                  <a:srgbClr val="5B6B83"/>
                </a:solidFill>
                <a:latin typeface="Segoe UI"/>
                <a:ea typeface="Segoe UI"/>
                <a:cs typeface="Segoe UI"/>
              </a:rPr>
              <a:t>Paper reports 90.11%. The notebook output shown here reports 81.07%.</a:t>
            </a:r>
          </a:p>
        </p:txBody>
      </p:sp>
    </p:spTree>
    <p:extLst>
      <p:ext uri="{BB962C8B-B14F-4D97-AF65-F5344CB8AC3E}">
        <p14:creationId xmlns:p14="http://schemas.microsoft.com/office/powerpoint/2010/main" val="1708398600"/>
      </p:ext>
    </p:extLst>
  </p:cSld>
</p:sld>
</file>

<file path=ppt/slides/slide5.xml><?xml version="1.0" encoding="utf-8"?>
<p:sld xmlns:p="http://schemas.openxmlformats.org/presentationml/2006/main">
  <p:cSld>
    <p:bg>
      <p:bgPr>
        <a:solidFill xmlns:a="http://schemas.openxmlformats.org/drawingml/2006/main">
          <a:srgbClr val="F9FBFE"/>
        </a:solidFill>
      </p:bgPr>
    </p:bg>
    <p:spTree>
      <p:nvGrpSpPr>
        <p:cNvPr id="1" name=""/>
        <p:cNvGrpSpPr/>
        <p:nvPr/>
      </p:nvGrpSpPr>
      <p:grpSpPr>
        <a:xfrm xmlns:a="http://schemas.openxmlformats.org/drawingml/2006/main"/>
      </p:grpSpPr>
      <p:sp>
        <p:nvSpPr>
          <p:cNvPr id="32" name="SELECTED PROJECT 03">
            <a:extLst xmlns:a="http://schemas.openxmlformats.org/drawingml/2006/main">
              <a:ext uri="{FF2B5EF4-FFF2-40B4-BE49-F238E27FC236}">
                <a16:creationId xmlns:a16="http://schemas.microsoft.com/office/drawing/2014/main" id="{985BEF5B-E627-42D0-B881-DC33E50ED897}"/>
              </a:ext>
            </a:extLst>
          </p:cNvPr>
          <p:cNvSpPr>
            <a:spLocks xmlns:a="http://schemas.openxmlformats.org/drawingml/2006/main" noGrp="1"/>
          </p:cNvSpPr>
          <p:nvPr/>
        </p:nvSpPr>
        <p:spPr>
          <a:xfrm xmlns:a="http://schemas.openxmlformats.org/drawingml/2006/main">
            <a:off x="571500" y="304800"/>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2463EB"/>
                </a:solidFill>
                <a:latin typeface="Segoe UI"/>
                <a:ea typeface="Segoe UI"/>
                <a:cs typeface="Segoe UI"/>
              </a:defRPr>
            </a:pPr>
            <a:r>
              <a:rPr sz="1050" b="1">
                <a:solidFill>
                  <a:srgbClr val="2463EB"/>
                </a:solidFill>
                <a:latin typeface="Segoe UI"/>
                <a:ea typeface="Segoe UI"/>
                <a:cs typeface="Segoe UI"/>
              </a:rPr>
              <a:t>SELECTED PROJECT 03</a:t>
            </a:r>
          </a:p>
        </p:txBody>
      </p:sp>
      <p:sp>
        <p:nvSpPr>
          <p:cNvPr id="2" name="REVALDY ARRAHMAN">
            <a:extLst xmlns:a="http://schemas.openxmlformats.org/drawingml/2006/main">
              <a:ext uri="{FF2B5EF4-FFF2-40B4-BE49-F238E27FC236}">
                <a16:creationId xmlns:a16="http://schemas.microsoft.com/office/drawing/2014/main" id="{6A8073D2-D080-4506-A0EE-6C3B42DC66C9}"/>
              </a:ext>
            </a:extLst>
          </p:cNvPr>
          <p:cNvSpPr>
            <a:spLocks xmlns:a="http://schemas.openxmlformats.org/drawingml/2006/main" noGrp="1"/>
          </p:cNvSpPr>
          <p:nvPr/>
        </p:nvSpPr>
        <p:spPr>
          <a:xfrm xmlns:a="http://schemas.openxmlformats.org/drawingml/2006/main">
            <a:off x="8810625" y="314325"/>
            <a:ext cx="2800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00" b="1">
                <a:solidFill>
                  <a:srgbClr val="5B6B83"/>
                </a:solidFill>
                <a:latin typeface="Segoe UI"/>
                <a:ea typeface="Segoe UI"/>
                <a:cs typeface="Segoe UI"/>
              </a:defRPr>
            </a:pPr>
            <a:r>
              <a:rPr sz="900" b="1">
                <a:solidFill>
                  <a:srgbClr val="5B6B83"/>
                </a:solidFill>
                <a:latin typeface="Segoe UI"/>
                <a:ea typeface="Segoe UI"/>
                <a:cs typeface="Segoe UI"/>
              </a:rPr>
              <a:t>REVALDY ARRAHMAN</a:t>
            </a:r>
          </a:p>
        </p:txBody>
      </p:sp>
      <p:sp>
        <p:nvSpPr>
          <p:cNvPr id="3" name="East Java poverty classification">
            <a:extLst xmlns:a="http://schemas.openxmlformats.org/drawingml/2006/main">
              <a:ext uri="{FF2B5EF4-FFF2-40B4-BE49-F238E27FC236}">
                <a16:creationId xmlns:a16="http://schemas.microsoft.com/office/drawing/2014/main" id="{3F8009C9-5EE8-40D8-ABE4-ED7A4C3090D6}"/>
              </a:ext>
            </a:extLst>
          </p:cNvPr>
          <p:cNvSpPr>
            <a:spLocks xmlns:a="http://schemas.openxmlformats.org/drawingml/2006/main" noGrp="1"/>
          </p:cNvSpPr>
          <p:nvPr/>
        </p:nvSpPr>
        <p:spPr>
          <a:xfrm xmlns:a="http://schemas.openxmlformats.org/drawingml/2006/main">
            <a:off x="552450" y="819150"/>
            <a:ext cx="11049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12139"/>
                </a:solidFill>
                <a:latin typeface="Segoe UI"/>
                <a:ea typeface="Segoe UI"/>
                <a:cs typeface="Segoe UI"/>
              </a:defRPr>
            </a:pPr>
            <a:r>
              <a:rPr sz="3300" b="1">
                <a:solidFill>
                  <a:srgbClr val="112139"/>
                </a:solidFill>
                <a:latin typeface="Segoe UI"/>
                <a:ea typeface="Segoe UI"/>
                <a:cs typeface="Segoe UI"/>
              </a:rPr>
              <a:t>East Java poverty classification</a:t>
            </a:r>
          </a:p>
        </p:txBody>
      </p:sp>
      <p:sp>
        <p:nvSpPr>
          <p:cNvPr id="4" name="An academic team project using socioeconomic ind">
            <a:extLst xmlns:a="http://schemas.openxmlformats.org/drawingml/2006/main">
              <a:ext uri="{FF2B5EF4-FFF2-40B4-BE49-F238E27FC236}">
                <a16:creationId xmlns:a16="http://schemas.microsoft.com/office/drawing/2014/main" id="{72651F4D-850D-4FFE-8B3D-3A9CCF24C1C5}"/>
              </a:ext>
            </a:extLst>
          </p:cNvPr>
          <p:cNvSpPr>
            <a:spLocks xmlns:a="http://schemas.openxmlformats.org/drawingml/2006/main" noGrp="1"/>
          </p:cNvSpPr>
          <p:nvPr/>
        </p:nvSpPr>
        <p:spPr>
          <a:xfrm xmlns:a="http://schemas.openxmlformats.org/drawingml/2006/main">
            <a:off x="571500" y="14382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5B6B83"/>
                </a:solidFill>
                <a:latin typeface="Segoe UI"/>
                <a:ea typeface="Segoe UI"/>
                <a:cs typeface="Segoe UI"/>
              </a:defRPr>
            </a:pPr>
            <a:r>
              <a:rPr sz="1575" b="0">
                <a:solidFill>
                  <a:srgbClr val="5B6B83"/>
                </a:solidFill>
                <a:latin typeface="Segoe UI"/>
                <a:ea typeface="Segoe UI"/>
                <a:cs typeface="Segoe UI"/>
              </a:rPr>
              <a:t>An academic team project using socioeconomic indicators and Naïve Bayes</a:t>
            </a:r>
          </a:p>
        </p:txBody>
      </p:sp>
      <p:sp>
        <p:nvSpPr>
          <p:cNvPr id="5" name="">
            <a:extLst xmlns:a="http://schemas.openxmlformats.org/drawingml/2006/main">
              <a:ext uri="{FF2B5EF4-FFF2-40B4-BE49-F238E27FC236}">
                <a16:creationId xmlns:a16="http://schemas.microsoft.com/office/drawing/2014/main" id="{69DE66BE-6B71-4099-BB8F-978098AED25F}"/>
              </a:ext>
            </a:extLst>
          </p:cNvPr>
          <p:cNvSpPr>
            <a:spLocks xmlns:a="http://schemas.openxmlformats.org/drawingml/2006/main" noGrp="1"/>
          </p:cNvSpPr>
          <p:nvPr/>
        </p:nvSpPr>
        <p:spPr>
          <a:xfrm xmlns:a="http://schemas.openxmlformats.org/drawingml/2006/main">
            <a:off x="571500" y="6496050"/>
            <a:ext cx="11049000" cy="0"/>
          </a:xfrm>
          <a:prstGeom xmlns:a="http://schemas.openxmlformats.org/drawingml/2006/main" prst="line">
            <a:avLst/>
          </a:prstGeom>
          <a:noFill xmlns:a="http://schemas.openxmlformats.org/drawingml/2006/main"/>
          <a:ln xmlns:a="http://schemas.openxmlformats.org/drawingml/2006/main" w="9525">
            <a:solidFill>
              <a:srgbClr val="DFE7F1"/>
            </a:solidFill>
          </a:ln>
        </p:spPr>
      </p:sp>
      <p:sp>
        <p:nvSpPr>
          <p:cNvPr id="6" name="DATA PORTFOLIO">
            <a:extLst xmlns:a="http://schemas.openxmlformats.org/drawingml/2006/main">
              <a:ext uri="{FF2B5EF4-FFF2-40B4-BE49-F238E27FC236}">
                <a16:creationId xmlns:a16="http://schemas.microsoft.com/office/drawing/2014/main" id="{FE2D2A57-7BE0-4C2B-BC0C-2CD8DCAB1F89}"/>
              </a:ext>
            </a:extLst>
          </p:cNvPr>
          <p:cNvSpPr>
            <a:spLocks xmlns:a="http://schemas.openxmlformats.org/drawingml/2006/main" noGrp="1"/>
          </p:cNvSpPr>
          <p:nvPr/>
        </p:nvSpPr>
        <p:spPr>
          <a:xfrm xmlns:a="http://schemas.openxmlformats.org/drawingml/2006/main">
            <a:off x="571500" y="6581775"/>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825" b="1">
                <a:solidFill>
                  <a:srgbClr val="5B6B83"/>
                </a:solidFill>
                <a:latin typeface="Segoe UI"/>
                <a:ea typeface="Segoe UI"/>
                <a:cs typeface="Segoe UI"/>
              </a:defRPr>
            </a:pPr>
            <a:r>
              <a:rPr sz="825" b="1">
                <a:solidFill>
                  <a:srgbClr val="5B6B83"/>
                </a:solidFill>
                <a:latin typeface="Segoe UI"/>
                <a:ea typeface="Segoe UI"/>
                <a:cs typeface="Segoe UI"/>
              </a:rPr>
              <a:t>DATA PORTFOLIO</a:t>
            </a:r>
          </a:p>
        </p:txBody>
      </p:sp>
      <p:sp>
        <p:nvSpPr>
          <p:cNvPr id="7" name="05">
            <a:extLst xmlns:a="http://schemas.openxmlformats.org/drawingml/2006/main">
              <a:ext uri="{FF2B5EF4-FFF2-40B4-BE49-F238E27FC236}">
                <a16:creationId xmlns:a16="http://schemas.microsoft.com/office/drawing/2014/main" id="{B854535D-A25C-429E-BAFF-B3F973F410B2}"/>
              </a:ext>
            </a:extLst>
          </p:cNvPr>
          <p:cNvSpPr>
            <a:spLocks xmlns:a="http://schemas.openxmlformats.org/drawingml/2006/main" noGrp="1"/>
          </p:cNvSpPr>
          <p:nvPr/>
        </p:nvSpPr>
        <p:spPr>
          <a:xfrm xmlns:a="http://schemas.openxmlformats.org/drawingml/2006/main">
            <a:off x="11106150" y="6562725"/>
            <a:ext cx="5143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1">
                <a:solidFill>
                  <a:srgbClr val="2463EB"/>
                </a:solidFill>
                <a:latin typeface="Segoe UI"/>
                <a:ea typeface="Segoe UI"/>
                <a:cs typeface="Segoe UI"/>
              </a:defRPr>
            </a:pPr>
            <a:r>
              <a:rPr sz="975" b="1">
                <a:solidFill>
                  <a:srgbClr val="2463EB"/>
                </a:solidFill>
                <a:latin typeface="Segoe UI"/>
                <a:ea typeface="Segoe UI"/>
                <a:cs typeface="Segoe UI"/>
              </a:rPr>
              <a:t>05</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85fbc3fa07014b96"/>
          <a:stretch xmlns:a="http://schemas.openxmlformats.org/drawingml/2006/main"/>
        </p:blipFill>
        <p:spPr>
          <a:xfrm xmlns:a="http://schemas.openxmlformats.org/drawingml/2006/main">
            <a:off x="571500" y="2066925"/>
            <a:ext cx="238125" cy="238125"/>
          </a:xfrm>
          <a:prstGeom xmlns:a="http://schemas.openxmlformats.org/drawingml/2006/main" prst="rect">
            <a:avLst/>
          </a:prstGeom>
        </p:spPr>
      </p:pic>
      <p:sp>
        <p:nvSpPr>
          <p:cNvPr id="9" name="PROBLEM">
            <a:extLst xmlns:a="http://schemas.openxmlformats.org/drawingml/2006/main">
              <a:ext uri="{FF2B5EF4-FFF2-40B4-BE49-F238E27FC236}">
                <a16:creationId xmlns:a16="http://schemas.microsoft.com/office/drawing/2014/main" id="{27708289-9E10-4A01-A2D1-3664BAF866CA}"/>
              </a:ext>
            </a:extLst>
          </p:cNvPr>
          <p:cNvSpPr>
            <a:spLocks xmlns:a="http://schemas.openxmlformats.org/drawingml/2006/main" noGrp="1"/>
          </p:cNvSpPr>
          <p:nvPr/>
        </p:nvSpPr>
        <p:spPr>
          <a:xfrm xmlns:a="http://schemas.openxmlformats.org/drawingml/2006/main">
            <a:off x="933450" y="2047875"/>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2463EB"/>
                </a:solidFill>
                <a:latin typeface="Segoe UI"/>
                <a:ea typeface="Segoe UI"/>
                <a:cs typeface="Segoe UI"/>
              </a:defRPr>
            </a:pPr>
            <a:r>
              <a:rPr sz="1050" b="1">
                <a:solidFill>
                  <a:srgbClr val="2463EB"/>
                </a:solidFill>
                <a:latin typeface="Segoe UI"/>
                <a:ea typeface="Segoe UI"/>
                <a:cs typeface="Segoe UI"/>
              </a:rPr>
              <a:t>PROBLEM</a:t>
            </a:r>
          </a:p>
        </p:txBody>
      </p:sp>
      <p:sp>
        <p:nvSpPr>
          <p:cNvPr id="10" name="Explore poverty categories across East Java’s ci">
            <a:extLst xmlns:a="http://schemas.openxmlformats.org/drawingml/2006/main">
              <a:ext uri="{FF2B5EF4-FFF2-40B4-BE49-F238E27FC236}">
                <a16:creationId xmlns:a16="http://schemas.microsoft.com/office/drawing/2014/main" id="{041CA5F0-97F6-45BF-A346-FA963548425B}"/>
              </a:ext>
            </a:extLst>
          </p:cNvPr>
          <p:cNvSpPr>
            <a:spLocks xmlns:a="http://schemas.openxmlformats.org/drawingml/2006/main" noGrp="1"/>
          </p:cNvSpPr>
          <p:nvPr/>
        </p:nvSpPr>
        <p:spPr>
          <a:xfrm xmlns:a="http://schemas.openxmlformats.org/drawingml/2006/main">
            <a:off x="933450" y="2295525"/>
            <a:ext cx="28765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112139"/>
                </a:solidFill>
                <a:latin typeface="Segoe UI"/>
                <a:ea typeface="Segoe UI"/>
                <a:cs typeface="Segoe UI"/>
              </a:defRPr>
            </a:pPr>
            <a:r>
              <a:rPr sz="1500" b="0">
                <a:solidFill>
                  <a:srgbClr val="112139"/>
                </a:solidFill>
                <a:latin typeface="Segoe UI"/>
                <a:ea typeface="Segoe UI"/>
                <a:cs typeface="Segoe UI"/>
              </a:rPr>
              <a:t>Explore poverty categories across</a:t>
            </a:r>
          </a:p>
          <a:p xmlns:a="http://schemas.openxmlformats.org/drawingml/2006/main">
            <a:pPr algn="l">
              <a:defRPr sz="1500" b="0">
                <a:solidFill>
                  <a:srgbClr val="112139"/>
                </a:solidFill>
                <a:latin typeface="Segoe UI"/>
                <a:ea typeface="Segoe UI"/>
                <a:cs typeface="Segoe UI"/>
              </a:defRPr>
            </a:pPr>
            <a:r>
              <a:rPr sz="1500" b="0">
                <a:solidFill>
                  <a:srgbClr val="112139"/>
                </a:solidFill>
                <a:latin typeface="Segoe UI"/>
                <a:ea typeface="Segoe UI"/>
                <a:cs typeface="Segoe UI"/>
              </a:rPr>
              <a:t>East Java’s cities and regencies.</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9acdf7ebe41c47d1"/>
          <a:stretch xmlns:a="http://schemas.openxmlformats.org/drawingml/2006/main"/>
        </p:blipFill>
        <p:spPr>
          <a:xfrm xmlns:a="http://schemas.openxmlformats.org/drawingml/2006/main">
            <a:off x="571500" y="3038475"/>
            <a:ext cx="238125" cy="238125"/>
          </a:xfrm>
          <a:prstGeom xmlns:a="http://schemas.openxmlformats.org/drawingml/2006/main" prst="rect">
            <a:avLst/>
          </a:prstGeom>
        </p:spPr>
      </p:pic>
      <p:sp>
        <p:nvSpPr>
          <p:cNvPr id="12" name="DATA / TOOLS">
            <a:extLst xmlns:a="http://schemas.openxmlformats.org/drawingml/2006/main">
              <a:ext uri="{FF2B5EF4-FFF2-40B4-BE49-F238E27FC236}">
                <a16:creationId xmlns:a16="http://schemas.microsoft.com/office/drawing/2014/main" id="{DA5DF7E9-AFEC-4BAB-B2CB-011494871DA8}"/>
              </a:ext>
            </a:extLst>
          </p:cNvPr>
          <p:cNvSpPr>
            <a:spLocks xmlns:a="http://schemas.openxmlformats.org/drawingml/2006/main" noGrp="1"/>
          </p:cNvSpPr>
          <p:nvPr/>
        </p:nvSpPr>
        <p:spPr>
          <a:xfrm xmlns:a="http://schemas.openxmlformats.org/drawingml/2006/main">
            <a:off x="933450" y="3019425"/>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2463EB"/>
                </a:solidFill>
                <a:latin typeface="Segoe UI"/>
                <a:ea typeface="Segoe UI"/>
                <a:cs typeface="Segoe UI"/>
              </a:defRPr>
            </a:pPr>
            <a:r>
              <a:rPr sz="1050" b="1">
                <a:solidFill>
                  <a:srgbClr val="2463EB"/>
                </a:solidFill>
                <a:latin typeface="Segoe UI"/>
                <a:ea typeface="Segoe UI"/>
                <a:cs typeface="Segoe UI"/>
              </a:rPr>
              <a:t>DATA / TOOLS</a:t>
            </a:r>
          </a:p>
        </p:txBody>
      </p:sp>
      <p:sp>
        <p:nvSpPr>
          <p:cNvPr id="13" name="Regional socioeconomic data Python and Orange">
            <a:extLst xmlns:a="http://schemas.openxmlformats.org/drawingml/2006/main">
              <a:ext uri="{FF2B5EF4-FFF2-40B4-BE49-F238E27FC236}">
                <a16:creationId xmlns:a16="http://schemas.microsoft.com/office/drawing/2014/main" id="{40D0FD25-8BA8-4A3C-BF93-325A2092482E}"/>
              </a:ext>
            </a:extLst>
          </p:cNvPr>
          <p:cNvSpPr>
            <a:spLocks xmlns:a="http://schemas.openxmlformats.org/drawingml/2006/main" noGrp="1"/>
          </p:cNvSpPr>
          <p:nvPr/>
        </p:nvSpPr>
        <p:spPr>
          <a:xfrm xmlns:a="http://schemas.openxmlformats.org/drawingml/2006/main">
            <a:off x="933450" y="3267075"/>
            <a:ext cx="28765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112139"/>
                </a:solidFill>
                <a:latin typeface="Segoe UI"/>
                <a:ea typeface="Segoe UI"/>
                <a:cs typeface="Segoe UI"/>
              </a:defRPr>
            </a:pPr>
            <a:r>
              <a:rPr sz="1500" b="0">
                <a:solidFill>
                  <a:srgbClr val="112139"/>
                </a:solidFill>
                <a:latin typeface="Segoe UI"/>
                <a:ea typeface="Segoe UI"/>
                <a:cs typeface="Segoe UI"/>
              </a:rPr>
              <a:t>Regional socioeconomic data</a:t>
            </a:r>
          </a:p>
          <a:p xmlns:a="http://schemas.openxmlformats.org/drawingml/2006/main">
            <a:pPr algn="l">
              <a:defRPr sz="1500" b="0">
                <a:solidFill>
                  <a:srgbClr val="112139"/>
                </a:solidFill>
                <a:latin typeface="Segoe UI"/>
                <a:ea typeface="Segoe UI"/>
                <a:cs typeface="Segoe UI"/>
              </a:defRPr>
            </a:pPr>
            <a:r>
              <a:rPr sz="1500" b="0">
                <a:solidFill>
                  <a:srgbClr val="112139"/>
                </a:solidFill>
                <a:latin typeface="Segoe UI"/>
                <a:ea typeface="Segoe UI"/>
                <a:cs typeface="Segoe UI"/>
              </a:rPr>
              <a:t>Python and Orange</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4af95dd449924f45"/>
          <a:stretch xmlns:a="http://schemas.openxmlformats.org/drawingml/2006/main"/>
        </p:blipFill>
        <p:spPr>
          <a:xfrm xmlns:a="http://schemas.openxmlformats.org/drawingml/2006/main">
            <a:off x="571500" y="4295775"/>
            <a:ext cx="238125" cy="238125"/>
          </a:xfrm>
          <a:prstGeom xmlns:a="http://schemas.openxmlformats.org/drawingml/2006/main" prst="rect">
            <a:avLst/>
          </a:prstGeom>
        </p:spPr>
      </p:pic>
      <p:sp>
        <p:nvSpPr>
          <p:cNvPr id="15" name="PROCESS">
            <a:extLst xmlns:a="http://schemas.openxmlformats.org/drawingml/2006/main">
              <a:ext uri="{FF2B5EF4-FFF2-40B4-BE49-F238E27FC236}">
                <a16:creationId xmlns:a16="http://schemas.microsoft.com/office/drawing/2014/main" id="{0868597C-DB8C-44F4-BE4F-94AE1B6B33E4}"/>
              </a:ext>
            </a:extLst>
          </p:cNvPr>
          <p:cNvSpPr>
            <a:spLocks xmlns:a="http://schemas.openxmlformats.org/drawingml/2006/main" noGrp="1"/>
          </p:cNvSpPr>
          <p:nvPr/>
        </p:nvSpPr>
        <p:spPr>
          <a:xfrm xmlns:a="http://schemas.openxmlformats.org/drawingml/2006/main">
            <a:off x="933450" y="4276725"/>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2463EB"/>
                </a:solidFill>
                <a:latin typeface="Segoe UI"/>
                <a:ea typeface="Segoe UI"/>
                <a:cs typeface="Segoe UI"/>
              </a:defRPr>
            </a:pPr>
            <a:r>
              <a:rPr sz="1050" b="1">
                <a:solidFill>
                  <a:srgbClr val="2463EB"/>
                </a:solidFill>
                <a:latin typeface="Segoe UI"/>
                <a:ea typeface="Segoe UI"/>
                <a:cs typeface="Segoe UI"/>
              </a:rPr>
              <a:t>PROCESS</a:t>
            </a:r>
          </a:p>
        </p:txBody>
      </p:sp>
      <p:sp>
        <p:nvSpPr>
          <p:cNvPr id="16" name="Compare class statistics. Calculate Bayes probab">
            <a:extLst xmlns:a="http://schemas.openxmlformats.org/drawingml/2006/main">
              <a:ext uri="{FF2B5EF4-FFF2-40B4-BE49-F238E27FC236}">
                <a16:creationId xmlns:a16="http://schemas.microsoft.com/office/drawing/2014/main" id="{7FD433A5-782C-439F-8090-DC4F103D9781}"/>
              </a:ext>
            </a:extLst>
          </p:cNvPr>
          <p:cNvSpPr>
            <a:spLocks xmlns:a="http://schemas.openxmlformats.org/drawingml/2006/main" noGrp="1"/>
          </p:cNvSpPr>
          <p:nvPr/>
        </p:nvSpPr>
        <p:spPr>
          <a:xfrm xmlns:a="http://schemas.openxmlformats.org/drawingml/2006/main">
            <a:off x="933450" y="4524375"/>
            <a:ext cx="28765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112139"/>
                </a:solidFill>
                <a:latin typeface="Segoe UI"/>
                <a:ea typeface="Segoe UI"/>
                <a:cs typeface="Segoe UI"/>
              </a:defRPr>
            </a:pPr>
            <a:r>
              <a:rPr sz="1500" b="0">
                <a:solidFill>
                  <a:srgbClr val="112139"/>
                </a:solidFill>
                <a:latin typeface="Segoe UI"/>
                <a:ea typeface="Segoe UI"/>
                <a:cs typeface="Segoe UI"/>
              </a:rPr>
              <a:t>Compare class statistics.</a:t>
            </a:r>
          </a:p>
          <a:p xmlns:a="http://schemas.openxmlformats.org/drawingml/2006/main">
            <a:pPr algn="l">
              <a:defRPr sz="1500" b="0">
                <a:solidFill>
                  <a:srgbClr val="112139"/>
                </a:solidFill>
                <a:latin typeface="Segoe UI"/>
                <a:ea typeface="Segoe UI"/>
                <a:cs typeface="Segoe UI"/>
              </a:defRPr>
            </a:pPr>
            <a:r>
              <a:rPr sz="1500" b="0">
                <a:solidFill>
                  <a:srgbClr val="112139"/>
                </a:solidFill>
                <a:latin typeface="Segoe UI"/>
                <a:ea typeface="Segoe UI"/>
                <a:cs typeface="Segoe UI"/>
              </a:rPr>
              <a:t>Calculate Bayes probabilities</a:t>
            </a:r>
          </a:p>
          <a:p xmlns:a="http://schemas.openxmlformats.org/drawingml/2006/main">
            <a:pPr algn="l">
              <a:defRPr sz="1500" b="0">
                <a:solidFill>
                  <a:srgbClr val="112139"/>
                </a:solidFill>
                <a:latin typeface="Segoe UI"/>
                <a:ea typeface="Segoe UI"/>
                <a:cs typeface="Segoe UI"/>
              </a:defRPr>
            </a:pPr>
            <a:r>
              <a:rPr sz="1500" b="0">
                <a:solidFill>
                  <a:srgbClr val="112139"/>
                </a:solidFill>
                <a:latin typeface="Segoe UI"/>
                <a:ea typeface="Segoe UI"/>
                <a:cs typeface="Segoe UI"/>
              </a:rPr>
              <a:t>and evaluate classifications.</a:t>
            </a:r>
          </a:p>
        </p:txBody>
      </p:sp>
      <p:sp>
        <p:nvSpPr>
          <p:cNvPr id="17" name="">
            <a:extLst xmlns:a="http://schemas.openxmlformats.org/drawingml/2006/main">
              <a:ext uri="{FF2B5EF4-FFF2-40B4-BE49-F238E27FC236}">
                <a16:creationId xmlns:a16="http://schemas.microsoft.com/office/drawing/2014/main" id="{24BC8CB9-F025-4893-83F7-2FBAEFDEFE8E}"/>
              </a:ext>
            </a:extLst>
          </p:cNvPr>
          <p:cNvSpPr>
            <a:spLocks xmlns:a="http://schemas.openxmlformats.org/drawingml/2006/main" noGrp="1"/>
          </p:cNvSpPr>
          <p:nvPr/>
        </p:nvSpPr>
        <p:spPr>
          <a:xfrm xmlns:a="http://schemas.openxmlformats.org/drawingml/2006/main">
            <a:off x="571500" y="5248275"/>
            <a:ext cx="3267075" cy="904875"/>
          </a:xfrm>
          <a:prstGeom xmlns:a="http://schemas.openxmlformats.org/drawingml/2006/main" prst="roundRect">
            <a:avLst>
              <a:gd name="adj" fmla="val 21053"/>
            </a:avLst>
          </a:prstGeom>
          <a:solidFill xmlns:a="http://schemas.openxmlformats.org/drawingml/2006/main">
            <a:srgbClr val="ECF3FF"/>
          </a:solidFill>
          <a:ln xmlns:a="http://schemas.openxmlformats.org/drawingml/2006/main" w="9525">
            <a:solidFill>
              <a:srgbClr val="DFE7F1"/>
            </a:solidFill>
          </a:ln>
        </p:spPr>
      </p:sp>
      <p:sp>
        <p:nvSpPr>
          <p:cNvPr id="18" name="REGIONAL PATTERN">
            <a:extLst xmlns:a="http://schemas.openxmlformats.org/drawingml/2006/main">
              <a:ext uri="{FF2B5EF4-FFF2-40B4-BE49-F238E27FC236}">
                <a16:creationId xmlns:a16="http://schemas.microsoft.com/office/drawing/2014/main" id="{3E8A4155-84D4-41DA-9E1E-A1EEAD833C6D}"/>
              </a:ext>
            </a:extLst>
          </p:cNvPr>
          <p:cNvSpPr>
            <a:spLocks xmlns:a="http://schemas.openxmlformats.org/drawingml/2006/main" noGrp="1"/>
          </p:cNvSpPr>
          <p:nvPr/>
        </p:nvSpPr>
        <p:spPr>
          <a:xfrm xmlns:a="http://schemas.openxmlformats.org/drawingml/2006/main">
            <a:off x="742950" y="5362575"/>
            <a:ext cx="2924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2463EB"/>
                </a:solidFill>
                <a:latin typeface="Segoe UI"/>
                <a:ea typeface="Segoe UI"/>
                <a:cs typeface="Segoe UI"/>
              </a:defRPr>
            </a:pPr>
            <a:r>
              <a:rPr sz="1050" b="1">
                <a:solidFill>
                  <a:srgbClr val="2463EB"/>
                </a:solidFill>
                <a:latin typeface="Segoe UI"/>
                <a:ea typeface="Segoe UI"/>
                <a:cs typeface="Segoe UI"/>
              </a:rPr>
              <a:t>REGIONAL PATTERN</a:t>
            </a:r>
          </a:p>
        </p:txBody>
      </p:sp>
      <p:sp>
        <p:nvSpPr>
          <p:cNvPr id="19" name="Poverty class in the paper: Sampang, Bangkalan, ">
            <a:extLst xmlns:a="http://schemas.openxmlformats.org/drawingml/2006/main">
              <a:ext uri="{FF2B5EF4-FFF2-40B4-BE49-F238E27FC236}">
                <a16:creationId xmlns:a16="http://schemas.microsoft.com/office/drawing/2014/main" id="{365D1CE4-74BC-4329-A6FA-E93E9914D916}"/>
              </a:ext>
            </a:extLst>
          </p:cNvPr>
          <p:cNvSpPr>
            <a:spLocks xmlns:a="http://schemas.openxmlformats.org/drawingml/2006/main" noGrp="1"/>
          </p:cNvSpPr>
          <p:nvPr/>
        </p:nvSpPr>
        <p:spPr>
          <a:xfrm xmlns:a="http://schemas.openxmlformats.org/drawingml/2006/main">
            <a:off x="742950" y="5657850"/>
            <a:ext cx="29432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1">
                <a:solidFill>
                  <a:srgbClr val="112139"/>
                </a:solidFill>
                <a:latin typeface="Segoe UI"/>
                <a:ea typeface="Segoe UI"/>
                <a:cs typeface="Segoe UI"/>
              </a:defRPr>
            </a:pPr>
            <a:r>
              <a:rPr sz="1425" b="1">
                <a:solidFill>
                  <a:srgbClr val="112139"/>
                </a:solidFill>
                <a:latin typeface="Segoe UI"/>
                <a:ea typeface="Segoe UI"/>
                <a:cs typeface="Segoe UI"/>
              </a:rPr>
              <a:t>Poverty class in the paper:</a:t>
            </a:r>
          </a:p>
          <a:p xmlns:a="http://schemas.openxmlformats.org/drawingml/2006/main">
            <a:pPr algn="l">
              <a:defRPr sz="1425" b="1">
                <a:solidFill>
                  <a:srgbClr val="112139"/>
                </a:solidFill>
                <a:latin typeface="Segoe UI"/>
                <a:ea typeface="Segoe UI"/>
                <a:cs typeface="Segoe UI"/>
              </a:defRPr>
            </a:pPr>
            <a:r>
              <a:rPr sz="1425" b="1">
                <a:solidFill>
                  <a:srgbClr val="112139"/>
                </a:solidFill>
                <a:latin typeface="Segoe UI"/>
                <a:ea typeface="Segoe UI"/>
                <a:cs typeface="Segoe UI"/>
              </a:rPr>
              <a:t>Sampang, Bangkalan, Sumenep.</a:t>
            </a:r>
          </a:p>
        </p:txBody>
      </p:sp>
      <p:sp>
        <p:nvSpPr>
          <p:cNvPr id="20" name="">
            <a:extLst xmlns:a="http://schemas.openxmlformats.org/drawingml/2006/main">
              <a:ext uri="{FF2B5EF4-FFF2-40B4-BE49-F238E27FC236}">
                <a16:creationId xmlns:a16="http://schemas.microsoft.com/office/drawing/2014/main" id="{EEE2BB64-4E1C-43D2-A3A9-1E5F5497BF42}"/>
              </a:ext>
            </a:extLst>
          </p:cNvPr>
          <p:cNvSpPr>
            <a:spLocks xmlns:a="http://schemas.openxmlformats.org/drawingml/2006/main" noGrp="1"/>
          </p:cNvSpPr>
          <p:nvPr/>
        </p:nvSpPr>
        <p:spPr>
          <a:xfrm xmlns:a="http://schemas.openxmlformats.org/drawingml/2006/main">
            <a:off x="4114800" y="1952625"/>
            <a:ext cx="7505700" cy="3343275"/>
          </a:xfrm>
          <a:prstGeom xmlns:a="http://schemas.openxmlformats.org/drawingml/2006/main" prst="roundRect">
            <a:avLst>
              <a:gd name="adj" fmla="val 5698"/>
            </a:avLst>
          </a:prstGeom>
          <a:solidFill xmlns:a="http://schemas.openxmlformats.org/drawingml/2006/main">
            <a:srgbClr val="FFFFFF"/>
          </a:solidFill>
          <a:ln xmlns:a="http://schemas.openxmlformats.org/drawingml/2006/main" w="9525">
            <a:solidFill>
              <a:srgbClr val="DFE7F1"/>
            </a:solidFill>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1" name="ORANGE ANALYSIS / ORIGINAL PAPER FIGURE">
            <a:extLst xmlns:a="http://schemas.openxmlformats.org/drawingml/2006/main">
              <a:ext uri="{FF2B5EF4-FFF2-40B4-BE49-F238E27FC236}">
                <a16:creationId xmlns:a16="http://schemas.microsoft.com/office/drawing/2014/main" id="{68A5AC57-980D-45CA-921D-8C5996DF732F}"/>
              </a:ext>
            </a:extLst>
          </p:cNvPr>
          <p:cNvSpPr>
            <a:spLocks xmlns:a="http://schemas.openxmlformats.org/drawingml/2006/main" noGrp="1"/>
          </p:cNvSpPr>
          <p:nvPr/>
        </p:nvSpPr>
        <p:spPr>
          <a:xfrm xmlns:a="http://schemas.openxmlformats.org/drawingml/2006/main">
            <a:off x="4305300" y="2105025"/>
            <a:ext cx="7086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2463EB"/>
                </a:solidFill>
                <a:latin typeface="Segoe UI"/>
                <a:ea typeface="Segoe UI"/>
                <a:cs typeface="Segoe UI"/>
              </a:defRPr>
            </a:pPr>
            <a:r>
              <a:rPr sz="1050" b="1">
                <a:solidFill>
                  <a:srgbClr val="2463EB"/>
                </a:solidFill>
                <a:latin typeface="Segoe UI"/>
                <a:ea typeface="Segoe UI"/>
                <a:cs typeface="Segoe UI"/>
              </a:rPr>
              <a:t>ORANGE ANALYSIS / ORIGINAL PAPER FIGURE</a:t>
            </a:r>
          </a:p>
        </p:txBody>
      </p:sp>
      <p:pic>
        <p:nvPicPr>
          <p:cNvPr id="53" name=""/>
          <p:cNvPicPr>
            <a:picLocks xmlns:a="http://schemas.openxmlformats.org/drawingml/2006/main" noChangeAspect="1"/>
          </p:cNvPicPr>
          <p:nvPr/>
        </p:nvPicPr>
        <p:blipFill>
          <a:blip xmlns:r="http://schemas.openxmlformats.org/officeDocument/2006/relationships" xmlns:a="http://schemas.openxmlformats.org/drawingml/2006/main" r:embed="Re6f338910bee4cc5"/>
          <a:stretch xmlns:a="http://schemas.openxmlformats.org/drawingml/2006/main"/>
        </p:blipFill>
        <p:spPr>
          <a:xfrm xmlns:a="http://schemas.openxmlformats.org/drawingml/2006/main">
            <a:off x="4518399" y="2457450"/>
            <a:ext cx="3707651" cy="2743200"/>
          </a:xfrm>
          <a:prstGeom xmlns:a="http://schemas.openxmlformats.org/drawingml/2006/main" prst="rect">
            <a:avLst/>
          </a:prstGeom>
        </p:spPr>
      </p:pic>
      <p:pic>
        <p:nvPicPr>
          <p:cNvPr id="54" name=""/>
          <p:cNvPicPr>
            <a:picLocks xmlns:a="http://schemas.openxmlformats.org/drawingml/2006/main" noChangeAspect="1"/>
          </p:cNvPicPr>
          <p:nvPr/>
        </p:nvPicPr>
        <p:blipFill>
          <a:blip xmlns:r="http://schemas.openxmlformats.org/officeDocument/2006/relationships" xmlns:a="http://schemas.openxmlformats.org/drawingml/2006/main" r:embed="R6fdde5ddcd3c4643"/>
          <a:stretch xmlns:a="http://schemas.openxmlformats.org/drawingml/2006/main"/>
        </p:blipFill>
        <p:spPr>
          <a:xfrm xmlns:a="http://schemas.openxmlformats.org/drawingml/2006/main">
            <a:off x="8715375" y="3183731"/>
            <a:ext cx="2724150" cy="509588"/>
          </a:xfrm>
          <a:prstGeom xmlns:a="http://schemas.openxmlformats.org/drawingml/2006/main" prst="rect">
            <a:avLst/>
          </a:prstGeom>
        </p:spPr>
      </p:pic>
      <p:sp>
        <p:nvSpPr>
          <p:cNvPr id="24" name="PAPER EVALUATION">
            <a:extLst xmlns:a="http://schemas.openxmlformats.org/drawingml/2006/main">
              <a:ext uri="{FF2B5EF4-FFF2-40B4-BE49-F238E27FC236}">
                <a16:creationId xmlns:a16="http://schemas.microsoft.com/office/drawing/2014/main" id="{9FBB2F2E-42B1-46EE-BB1E-9183F543E68B}"/>
              </a:ext>
            </a:extLst>
          </p:cNvPr>
          <p:cNvSpPr>
            <a:spLocks xmlns:a="http://schemas.openxmlformats.org/drawingml/2006/main" noGrp="1"/>
          </p:cNvSpPr>
          <p:nvPr/>
        </p:nvSpPr>
        <p:spPr>
          <a:xfrm xmlns:a="http://schemas.openxmlformats.org/drawingml/2006/main">
            <a:off x="8705850" y="2705100"/>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2463EB"/>
                </a:solidFill>
                <a:latin typeface="Segoe UI"/>
                <a:ea typeface="Segoe UI"/>
                <a:cs typeface="Segoe UI"/>
              </a:defRPr>
            </a:pPr>
            <a:r>
              <a:rPr sz="1050" b="1">
                <a:solidFill>
                  <a:srgbClr val="2463EB"/>
                </a:solidFill>
                <a:latin typeface="Segoe UI"/>
                <a:ea typeface="Segoe UI"/>
                <a:cs typeface="Segoe UI"/>
              </a:rPr>
              <a:t>PAPER EVALUATION</a:t>
            </a:r>
          </a:p>
        </p:txBody>
      </p:sp>
      <p:sp>
        <p:nvSpPr>
          <p:cNvPr id="25" name="5-fold cross-validation Naïve Bayes">
            <a:extLst xmlns:a="http://schemas.openxmlformats.org/drawingml/2006/main">
              <a:ext uri="{FF2B5EF4-FFF2-40B4-BE49-F238E27FC236}">
                <a16:creationId xmlns:a16="http://schemas.microsoft.com/office/drawing/2014/main" id="{DF7F6107-4896-40BE-8836-A4973E7B725D}"/>
              </a:ext>
            </a:extLst>
          </p:cNvPr>
          <p:cNvSpPr>
            <a:spLocks xmlns:a="http://schemas.openxmlformats.org/drawingml/2006/main" noGrp="1"/>
          </p:cNvSpPr>
          <p:nvPr/>
        </p:nvSpPr>
        <p:spPr>
          <a:xfrm xmlns:a="http://schemas.openxmlformats.org/drawingml/2006/main">
            <a:off x="8705850" y="4076700"/>
            <a:ext cx="2762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5B6B83"/>
                </a:solidFill>
                <a:latin typeface="Segoe UI"/>
                <a:ea typeface="Segoe UI"/>
                <a:cs typeface="Segoe UI"/>
              </a:defRPr>
            </a:pPr>
            <a:r>
              <a:rPr sz="1575" b="0">
                <a:solidFill>
                  <a:srgbClr val="5B6B83"/>
                </a:solidFill>
                <a:latin typeface="Segoe UI"/>
                <a:ea typeface="Segoe UI"/>
                <a:cs typeface="Segoe UI"/>
              </a:rPr>
              <a:t>5-fold cross-validation</a:t>
            </a:r>
          </a:p>
          <a:p xmlns:a="http://schemas.openxmlformats.org/drawingml/2006/main">
            <a:pPr algn="l">
              <a:defRPr sz="1575" b="0">
                <a:solidFill>
                  <a:srgbClr val="5B6B83"/>
                </a:solidFill>
                <a:latin typeface="Segoe UI"/>
                <a:ea typeface="Segoe UI"/>
                <a:cs typeface="Segoe UI"/>
              </a:defRPr>
            </a:pPr>
            <a:r>
              <a:rPr sz="1575" b="0">
                <a:solidFill>
                  <a:srgbClr val="5B6B83"/>
                </a:solidFill>
                <a:latin typeface="Segoe UI"/>
                <a:ea typeface="Segoe UI"/>
                <a:cs typeface="Segoe UI"/>
              </a:rPr>
              <a:t>Naïve Bayes</a:t>
            </a:r>
          </a:p>
        </p:txBody>
      </p:sp>
      <p:sp>
        <p:nvSpPr>
          <p:cNvPr id="26" name="">
            <a:extLst xmlns:a="http://schemas.openxmlformats.org/drawingml/2006/main">
              <a:ext uri="{FF2B5EF4-FFF2-40B4-BE49-F238E27FC236}">
                <a16:creationId xmlns:a16="http://schemas.microsoft.com/office/drawing/2014/main" id="{7299B86C-608F-4977-94F3-AB7C51D756BE}"/>
              </a:ext>
            </a:extLst>
          </p:cNvPr>
          <p:cNvSpPr>
            <a:spLocks xmlns:a="http://schemas.openxmlformats.org/drawingml/2006/main" noGrp="1"/>
          </p:cNvSpPr>
          <p:nvPr/>
        </p:nvSpPr>
        <p:spPr>
          <a:xfrm xmlns:a="http://schemas.openxmlformats.org/drawingml/2006/main">
            <a:off x="4114800" y="5467350"/>
            <a:ext cx="7505700" cy="847725"/>
          </a:xfrm>
          <a:prstGeom xmlns:a="http://schemas.openxmlformats.org/drawingml/2006/main" prst="roundRect">
            <a:avLst>
              <a:gd name="adj" fmla="val 22472"/>
            </a:avLst>
          </a:prstGeom>
          <a:solidFill xmlns:a="http://schemas.openxmlformats.org/drawingml/2006/main">
            <a:srgbClr val="FFFFFF"/>
          </a:solidFill>
          <a:ln xmlns:a="http://schemas.openxmlformats.org/drawingml/2006/main" w="9525">
            <a:solidFill>
              <a:srgbClr val="DFE7F1"/>
            </a:solidFill>
          </a:ln>
        </p:spPr>
      </p:sp>
      <p:sp>
        <p:nvSpPr>
          <p:cNvPr id="27" name="92.1%">
            <a:extLst xmlns:a="http://schemas.openxmlformats.org/drawingml/2006/main">
              <a:ext uri="{FF2B5EF4-FFF2-40B4-BE49-F238E27FC236}">
                <a16:creationId xmlns:a16="http://schemas.microsoft.com/office/drawing/2014/main" id="{6B820A23-21E3-4019-93F5-FE96695952E8}"/>
              </a:ext>
            </a:extLst>
          </p:cNvPr>
          <p:cNvSpPr>
            <a:spLocks xmlns:a="http://schemas.openxmlformats.org/drawingml/2006/main" noGrp="1"/>
          </p:cNvSpPr>
          <p:nvPr/>
        </p:nvSpPr>
        <p:spPr>
          <a:xfrm xmlns:a="http://schemas.openxmlformats.org/drawingml/2006/main">
            <a:off x="4295775" y="5514975"/>
            <a:ext cx="2047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2463EB"/>
                </a:solidFill>
                <a:latin typeface="Segoe UI"/>
                <a:ea typeface="Segoe UI"/>
                <a:cs typeface="Segoe UI"/>
              </a:defRPr>
            </a:pPr>
            <a:r>
              <a:rPr sz="2400" b="1">
                <a:solidFill>
                  <a:srgbClr val="2463EB"/>
                </a:solidFill>
                <a:latin typeface="Segoe UI"/>
                <a:ea typeface="Segoe UI"/>
                <a:cs typeface="Segoe UI"/>
              </a:rPr>
              <a:t>92.1%</a:t>
            </a:r>
          </a:p>
        </p:txBody>
      </p:sp>
      <p:sp>
        <p:nvSpPr>
          <p:cNvPr id="28" name="Accuracy in paper">
            <a:extLst xmlns:a="http://schemas.openxmlformats.org/drawingml/2006/main">
              <a:ext uri="{FF2B5EF4-FFF2-40B4-BE49-F238E27FC236}">
                <a16:creationId xmlns:a16="http://schemas.microsoft.com/office/drawing/2014/main" id="{D2B63D47-1314-4272-8026-5A11E08F52A4}"/>
              </a:ext>
            </a:extLst>
          </p:cNvPr>
          <p:cNvSpPr>
            <a:spLocks xmlns:a="http://schemas.openxmlformats.org/drawingml/2006/main" noGrp="1"/>
          </p:cNvSpPr>
          <p:nvPr/>
        </p:nvSpPr>
        <p:spPr>
          <a:xfrm xmlns:a="http://schemas.openxmlformats.org/drawingml/2006/main">
            <a:off x="4295775" y="6134100"/>
            <a:ext cx="2047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B6B83"/>
                </a:solidFill>
                <a:latin typeface="Segoe UI"/>
                <a:ea typeface="Segoe UI"/>
                <a:cs typeface="Segoe UI"/>
              </a:defRPr>
            </a:pPr>
            <a:r>
              <a:rPr sz="1275" b="0">
                <a:solidFill>
                  <a:srgbClr val="5B6B83"/>
                </a:solidFill>
                <a:latin typeface="Segoe UI"/>
                <a:ea typeface="Segoe UI"/>
                <a:cs typeface="Segoe UI"/>
              </a:rPr>
              <a:t>Accuracy in paper</a:t>
            </a:r>
          </a:p>
        </p:txBody>
      </p:sp>
      <p:sp>
        <p:nvSpPr>
          <p:cNvPr id="29" name="0.276">
            <a:extLst xmlns:a="http://schemas.openxmlformats.org/drawingml/2006/main">
              <a:ext uri="{FF2B5EF4-FFF2-40B4-BE49-F238E27FC236}">
                <a16:creationId xmlns:a16="http://schemas.microsoft.com/office/drawing/2014/main" id="{32945706-BCA6-4962-96EE-D2C80014D4E8}"/>
              </a:ext>
            </a:extLst>
          </p:cNvPr>
          <p:cNvSpPr>
            <a:spLocks xmlns:a="http://schemas.openxmlformats.org/drawingml/2006/main" noGrp="1"/>
          </p:cNvSpPr>
          <p:nvPr/>
        </p:nvSpPr>
        <p:spPr>
          <a:xfrm xmlns:a="http://schemas.openxmlformats.org/drawingml/2006/main">
            <a:off x="6677025" y="5514975"/>
            <a:ext cx="19335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2463EB"/>
                </a:solidFill>
                <a:latin typeface="Segoe UI"/>
                <a:ea typeface="Segoe UI"/>
                <a:cs typeface="Segoe UI"/>
              </a:defRPr>
            </a:pPr>
            <a:r>
              <a:rPr sz="2400" b="1">
                <a:solidFill>
                  <a:srgbClr val="2463EB"/>
                </a:solidFill>
                <a:latin typeface="Segoe UI"/>
                <a:ea typeface="Segoe UI"/>
                <a:cs typeface="Segoe UI"/>
              </a:rPr>
              <a:t>0.276</a:t>
            </a:r>
          </a:p>
        </p:txBody>
      </p:sp>
      <p:sp>
        <p:nvSpPr>
          <p:cNvPr id="30" name="AUC in paper">
            <a:extLst xmlns:a="http://schemas.openxmlformats.org/drawingml/2006/main">
              <a:ext uri="{FF2B5EF4-FFF2-40B4-BE49-F238E27FC236}">
                <a16:creationId xmlns:a16="http://schemas.microsoft.com/office/drawing/2014/main" id="{CF69C33B-6D1F-4453-9768-B65D38DF6AB5}"/>
              </a:ext>
            </a:extLst>
          </p:cNvPr>
          <p:cNvSpPr>
            <a:spLocks xmlns:a="http://schemas.openxmlformats.org/drawingml/2006/main" noGrp="1"/>
          </p:cNvSpPr>
          <p:nvPr/>
        </p:nvSpPr>
        <p:spPr>
          <a:xfrm xmlns:a="http://schemas.openxmlformats.org/drawingml/2006/main">
            <a:off x="6677025" y="6134100"/>
            <a:ext cx="19335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B6B83"/>
                </a:solidFill>
                <a:latin typeface="Segoe UI"/>
                <a:ea typeface="Segoe UI"/>
                <a:cs typeface="Segoe UI"/>
              </a:defRPr>
            </a:pPr>
            <a:r>
              <a:rPr sz="1275" b="0">
                <a:solidFill>
                  <a:srgbClr val="5B6B83"/>
                </a:solidFill>
                <a:latin typeface="Segoe UI"/>
                <a:ea typeface="Segoe UI"/>
                <a:cs typeface="Segoe UI"/>
              </a:rPr>
              <a:t>AUC in paper</a:t>
            </a:r>
          </a:p>
        </p:txBody>
      </p:sp>
      <p:sp>
        <p:nvSpPr>
          <p:cNvPr id="31" name="Accuracy alone does not confirm reliable class d">
            <a:extLst xmlns:a="http://schemas.openxmlformats.org/drawingml/2006/main">
              <a:ext uri="{FF2B5EF4-FFF2-40B4-BE49-F238E27FC236}">
                <a16:creationId xmlns:a16="http://schemas.microsoft.com/office/drawing/2014/main" id="{95FC2B4E-AE36-4ACB-A1BB-D656931A0E94}"/>
              </a:ext>
            </a:extLst>
          </p:cNvPr>
          <p:cNvSpPr>
            <a:spLocks xmlns:a="http://schemas.openxmlformats.org/drawingml/2006/main" noGrp="1"/>
          </p:cNvSpPr>
          <p:nvPr/>
        </p:nvSpPr>
        <p:spPr>
          <a:xfrm xmlns:a="http://schemas.openxmlformats.org/drawingml/2006/main">
            <a:off x="8972550" y="5638800"/>
            <a:ext cx="24955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B6B83"/>
                </a:solidFill>
                <a:latin typeface="Segoe UI"/>
                <a:ea typeface="Segoe UI"/>
                <a:cs typeface="Segoe UI"/>
              </a:defRPr>
            </a:pPr>
            <a:r>
              <a:rPr sz="1350" b="0">
                <a:solidFill>
                  <a:srgbClr val="5B6B83"/>
                </a:solidFill>
                <a:latin typeface="Segoe UI"/>
                <a:ea typeface="Segoe UI"/>
                <a:cs typeface="Segoe UI"/>
              </a:rPr>
              <a:t>Accuracy alone does not confirm</a:t>
            </a:r>
          </a:p>
          <a:p xmlns:a="http://schemas.openxmlformats.org/drawingml/2006/main">
            <a:pPr algn="l">
              <a:defRPr sz="1350" b="0">
                <a:solidFill>
                  <a:srgbClr val="5B6B83"/>
                </a:solidFill>
                <a:latin typeface="Segoe UI"/>
                <a:ea typeface="Segoe UI"/>
                <a:cs typeface="Segoe UI"/>
              </a:defRPr>
            </a:pPr>
            <a:r>
              <a:rPr sz="1350" b="0">
                <a:solidFill>
                  <a:srgbClr val="5B6B83"/>
                </a:solidFill>
                <a:latin typeface="Segoe UI"/>
                <a:ea typeface="Segoe UI"/>
                <a:cs typeface="Segoe UI"/>
              </a:rPr>
              <a:t>reliable class discrimination.</a:t>
            </a:r>
          </a:p>
        </p:txBody>
      </p:sp>
    </p:spTree>
    <p:extLst>
      <p:ext uri="{BB962C8B-B14F-4D97-AF65-F5344CB8AC3E}">
        <p14:creationId xmlns:p14="http://schemas.microsoft.com/office/powerpoint/2010/main" val="1036439153"/>
      </p:ext>
    </p:extLst>
  </p:cSld>
</p:sld>
</file>

<file path=ppt/slides/slide6.xml><?xml version="1.0" encoding="utf-8"?>
<p:sld xmlns:p="http://schemas.openxmlformats.org/presentationml/2006/main">
  <p:cSld>
    <p:bg>
      <p:bgPr>
        <a:solidFill xmlns:a="http://schemas.openxmlformats.org/drawingml/2006/main">
          <a:srgbClr val="F9FBFE"/>
        </a:solidFill>
      </p:bgPr>
    </p:bg>
    <p:spTree>
      <p:nvGrpSpPr>
        <p:cNvPr id="1" name=""/>
        <p:cNvGrpSpPr/>
        <p:nvPr/>
      </p:nvGrpSpPr>
      <p:grpSpPr>
        <a:xfrm xmlns:a="http://schemas.openxmlformats.org/drawingml/2006/main"/>
      </p:grpSpPr>
      <p:sp>
        <p:nvSpPr>
          <p:cNvPr id="28" name="TOOLKIT">
            <a:extLst xmlns:a="http://schemas.openxmlformats.org/drawingml/2006/main">
              <a:ext uri="{FF2B5EF4-FFF2-40B4-BE49-F238E27FC236}">
                <a16:creationId xmlns:a16="http://schemas.microsoft.com/office/drawing/2014/main" id="{0C79387D-9A7E-44E1-8BB5-75059425B886}"/>
              </a:ext>
            </a:extLst>
          </p:cNvPr>
          <p:cNvSpPr>
            <a:spLocks xmlns:a="http://schemas.openxmlformats.org/drawingml/2006/main" noGrp="1"/>
          </p:cNvSpPr>
          <p:nvPr/>
        </p:nvSpPr>
        <p:spPr>
          <a:xfrm xmlns:a="http://schemas.openxmlformats.org/drawingml/2006/main">
            <a:off x="571500" y="304800"/>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2463EB"/>
                </a:solidFill>
                <a:latin typeface="Segoe UI"/>
                <a:ea typeface="Segoe UI"/>
                <a:cs typeface="Segoe UI"/>
              </a:defRPr>
            </a:pPr>
            <a:r>
              <a:rPr sz="1050" b="1">
                <a:solidFill>
                  <a:srgbClr val="2463EB"/>
                </a:solidFill>
                <a:latin typeface="Segoe UI"/>
                <a:ea typeface="Segoe UI"/>
                <a:cs typeface="Segoe UI"/>
              </a:rPr>
              <a:t>TOOLKIT</a:t>
            </a:r>
          </a:p>
        </p:txBody>
      </p:sp>
      <p:sp>
        <p:nvSpPr>
          <p:cNvPr id="2" name="REVALDY ARRAHMAN">
            <a:extLst xmlns:a="http://schemas.openxmlformats.org/drawingml/2006/main">
              <a:ext uri="{FF2B5EF4-FFF2-40B4-BE49-F238E27FC236}">
                <a16:creationId xmlns:a16="http://schemas.microsoft.com/office/drawing/2014/main" id="{90E8C6B1-6FA5-4CB7-A113-2C6023C16B65}"/>
              </a:ext>
            </a:extLst>
          </p:cNvPr>
          <p:cNvSpPr>
            <a:spLocks xmlns:a="http://schemas.openxmlformats.org/drawingml/2006/main" noGrp="1"/>
          </p:cNvSpPr>
          <p:nvPr/>
        </p:nvSpPr>
        <p:spPr>
          <a:xfrm xmlns:a="http://schemas.openxmlformats.org/drawingml/2006/main">
            <a:off x="8810625" y="314325"/>
            <a:ext cx="2800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00" b="1">
                <a:solidFill>
                  <a:srgbClr val="5B6B83"/>
                </a:solidFill>
                <a:latin typeface="Segoe UI"/>
                <a:ea typeface="Segoe UI"/>
                <a:cs typeface="Segoe UI"/>
              </a:defRPr>
            </a:pPr>
            <a:r>
              <a:rPr sz="900" b="1">
                <a:solidFill>
                  <a:srgbClr val="5B6B83"/>
                </a:solidFill>
                <a:latin typeface="Segoe UI"/>
                <a:ea typeface="Segoe UI"/>
                <a:cs typeface="Segoe UI"/>
              </a:rPr>
              <a:t>REVALDY ARRAHMAN</a:t>
            </a:r>
          </a:p>
        </p:txBody>
      </p:sp>
      <p:sp>
        <p:nvSpPr>
          <p:cNvPr id="3" name="Skills across the data workflow">
            <a:extLst xmlns:a="http://schemas.openxmlformats.org/drawingml/2006/main">
              <a:ext uri="{FF2B5EF4-FFF2-40B4-BE49-F238E27FC236}">
                <a16:creationId xmlns:a16="http://schemas.microsoft.com/office/drawing/2014/main" id="{75CDC8A8-97A8-4CE4-AB98-8ED09FF5E788}"/>
              </a:ext>
            </a:extLst>
          </p:cNvPr>
          <p:cNvSpPr>
            <a:spLocks xmlns:a="http://schemas.openxmlformats.org/drawingml/2006/main" noGrp="1"/>
          </p:cNvSpPr>
          <p:nvPr/>
        </p:nvSpPr>
        <p:spPr>
          <a:xfrm xmlns:a="http://schemas.openxmlformats.org/drawingml/2006/main">
            <a:off x="552450" y="819150"/>
            <a:ext cx="11049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12139"/>
                </a:solidFill>
                <a:latin typeface="Segoe UI"/>
                <a:ea typeface="Segoe UI"/>
                <a:cs typeface="Segoe UI"/>
              </a:defRPr>
            </a:pPr>
            <a:r>
              <a:rPr sz="3300" b="1">
                <a:solidFill>
                  <a:srgbClr val="112139"/>
                </a:solidFill>
                <a:latin typeface="Segoe UI"/>
                <a:ea typeface="Segoe UI"/>
                <a:cs typeface="Segoe UI"/>
              </a:rPr>
              <a:t>Skills across the data workflow</a:t>
            </a:r>
          </a:p>
        </p:txBody>
      </p:sp>
      <p:sp>
        <p:nvSpPr>
          <p:cNvPr id="4" name="A practical toolkit for preparing, exploring and">
            <a:extLst xmlns:a="http://schemas.openxmlformats.org/drawingml/2006/main">
              <a:ext uri="{FF2B5EF4-FFF2-40B4-BE49-F238E27FC236}">
                <a16:creationId xmlns:a16="http://schemas.microsoft.com/office/drawing/2014/main" id="{94FF6E8D-1CEC-44B0-9CC8-4E5D74E85203}"/>
              </a:ext>
            </a:extLst>
          </p:cNvPr>
          <p:cNvSpPr>
            <a:spLocks xmlns:a="http://schemas.openxmlformats.org/drawingml/2006/main" noGrp="1"/>
          </p:cNvSpPr>
          <p:nvPr/>
        </p:nvSpPr>
        <p:spPr>
          <a:xfrm xmlns:a="http://schemas.openxmlformats.org/drawingml/2006/main">
            <a:off x="571500" y="14382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5B6B83"/>
                </a:solidFill>
                <a:latin typeface="Segoe UI"/>
                <a:ea typeface="Segoe UI"/>
                <a:cs typeface="Segoe UI"/>
              </a:defRPr>
            </a:pPr>
            <a:r>
              <a:rPr sz="1575" b="0">
                <a:solidFill>
                  <a:srgbClr val="5B6B83"/>
                </a:solidFill>
                <a:latin typeface="Segoe UI"/>
                <a:ea typeface="Segoe UI"/>
                <a:cs typeface="Segoe UI"/>
              </a:rPr>
              <a:t>A practical toolkit for preparing, exploring and communicating data</a:t>
            </a:r>
          </a:p>
        </p:txBody>
      </p:sp>
      <p:sp>
        <p:nvSpPr>
          <p:cNvPr id="5" name="">
            <a:extLst xmlns:a="http://schemas.openxmlformats.org/drawingml/2006/main">
              <a:ext uri="{FF2B5EF4-FFF2-40B4-BE49-F238E27FC236}">
                <a16:creationId xmlns:a16="http://schemas.microsoft.com/office/drawing/2014/main" id="{8DA6A084-0AA0-4F36-AC9E-3AC35EC3D381}"/>
              </a:ext>
            </a:extLst>
          </p:cNvPr>
          <p:cNvSpPr>
            <a:spLocks xmlns:a="http://schemas.openxmlformats.org/drawingml/2006/main" noGrp="1"/>
          </p:cNvSpPr>
          <p:nvPr/>
        </p:nvSpPr>
        <p:spPr>
          <a:xfrm xmlns:a="http://schemas.openxmlformats.org/drawingml/2006/main">
            <a:off x="571500" y="6496050"/>
            <a:ext cx="11049000" cy="0"/>
          </a:xfrm>
          <a:prstGeom xmlns:a="http://schemas.openxmlformats.org/drawingml/2006/main" prst="line">
            <a:avLst/>
          </a:prstGeom>
          <a:noFill xmlns:a="http://schemas.openxmlformats.org/drawingml/2006/main"/>
          <a:ln xmlns:a="http://schemas.openxmlformats.org/drawingml/2006/main" w="9525">
            <a:solidFill>
              <a:srgbClr val="DFE7F1"/>
            </a:solidFill>
          </a:ln>
        </p:spPr>
      </p:sp>
      <p:sp>
        <p:nvSpPr>
          <p:cNvPr id="6" name="DATA PORTFOLIO">
            <a:extLst xmlns:a="http://schemas.openxmlformats.org/drawingml/2006/main">
              <a:ext uri="{FF2B5EF4-FFF2-40B4-BE49-F238E27FC236}">
                <a16:creationId xmlns:a16="http://schemas.microsoft.com/office/drawing/2014/main" id="{7F729B3A-901B-4CD2-B2BA-C454AB59AA92}"/>
              </a:ext>
            </a:extLst>
          </p:cNvPr>
          <p:cNvSpPr>
            <a:spLocks xmlns:a="http://schemas.openxmlformats.org/drawingml/2006/main" noGrp="1"/>
          </p:cNvSpPr>
          <p:nvPr/>
        </p:nvSpPr>
        <p:spPr>
          <a:xfrm xmlns:a="http://schemas.openxmlformats.org/drawingml/2006/main">
            <a:off x="571500" y="6581775"/>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825" b="1">
                <a:solidFill>
                  <a:srgbClr val="5B6B83"/>
                </a:solidFill>
                <a:latin typeface="Segoe UI"/>
                <a:ea typeface="Segoe UI"/>
                <a:cs typeface="Segoe UI"/>
              </a:defRPr>
            </a:pPr>
            <a:r>
              <a:rPr sz="825" b="1">
                <a:solidFill>
                  <a:srgbClr val="5B6B83"/>
                </a:solidFill>
                <a:latin typeface="Segoe UI"/>
                <a:ea typeface="Segoe UI"/>
                <a:cs typeface="Segoe UI"/>
              </a:rPr>
              <a:t>DATA PORTFOLIO</a:t>
            </a:r>
          </a:p>
        </p:txBody>
      </p:sp>
      <p:sp>
        <p:nvSpPr>
          <p:cNvPr id="7" name="06">
            <a:extLst xmlns:a="http://schemas.openxmlformats.org/drawingml/2006/main">
              <a:ext uri="{FF2B5EF4-FFF2-40B4-BE49-F238E27FC236}">
                <a16:creationId xmlns:a16="http://schemas.microsoft.com/office/drawing/2014/main" id="{DDB4CEBC-92D4-40A8-B8AB-F31C193513D1}"/>
              </a:ext>
            </a:extLst>
          </p:cNvPr>
          <p:cNvSpPr>
            <a:spLocks xmlns:a="http://schemas.openxmlformats.org/drawingml/2006/main" noGrp="1"/>
          </p:cNvSpPr>
          <p:nvPr/>
        </p:nvSpPr>
        <p:spPr>
          <a:xfrm xmlns:a="http://schemas.openxmlformats.org/drawingml/2006/main">
            <a:off x="11106150" y="6562725"/>
            <a:ext cx="5143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1">
                <a:solidFill>
                  <a:srgbClr val="2463EB"/>
                </a:solidFill>
                <a:latin typeface="Segoe UI"/>
                <a:ea typeface="Segoe UI"/>
                <a:cs typeface="Segoe UI"/>
              </a:defRPr>
            </a:pPr>
            <a:r>
              <a:rPr sz="975" b="1">
                <a:solidFill>
                  <a:srgbClr val="2463EB"/>
                </a:solidFill>
                <a:latin typeface="Segoe UI"/>
                <a:ea typeface="Segoe UI"/>
                <a:cs typeface="Segoe UI"/>
              </a:rPr>
              <a:t>06</a:t>
            </a:r>
          </a:p>
        </p:txBody>
      </p:sp>
      <p:sp>
        <p:nvSpPr>
          <p:cNvPr id="8" name="">
            <a:extLst xmlns:a="http://schemas.openxmlformats.org/drawingml/2006/main">
              <a:ext uri="{FF2B5EF4-FFF2-40B4-BE49-F238E27FC236}">
                <a16:creationId xmlns:a16="http://schemas.microsoft.com/office/drawing/2014/main" id="{627FB3A3-D926-44BF-A90C-F2B9ED6880BD}"/>
              </a:ext>
            </a:extLst>
          </p:cNvPr>
          <p:cNvSpPr>
            <a:spLocks xmlns:a="http://schemas.openxmlformats.org/drawingml/2006/main" noGrp="1"/>
          </p:cNvSpPr>
          <p:nvPr/>
        </p:nvSpPr>
        <p:spPr>
          <a:xfrm xmlns:a="http://schemas.openxmlformats.org/drawingml/2006/main">
            <a:off x="571500" y="2095500"/>
            <a:ext cx="3457575" cy="3476625"/>
          </a:xfrm>
          <a:prstGeom xmlns:a="http://schemas.openxmlformats.org/drawingml/2006/main" prst="roundRect">
            <a:avLst>
              <a:gd name="adj" fmla="val 5510"/>
            </a:avLst>
          </a:prstGeom>
          <a:solidFill xmlns:a="http://schemas.openxmlformats.org/drawingml/2006/main">
            <a:srgbClr val="FFFFFF"/>
          </a:solidFill>
          <a:ln xmlns:a="http://schemas.openxmlformats.org/drawingml/2006/main" w="9525">
            <a:solidFill>
              <a:srgbClr val="DFE7F1"/>
            </a:solidFill>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a5f5d0f4bd2c4100"/>
          <a:stretch xmlns:a="http://schemas.openxmlformats.org/drawingml/2006/main"/>
        </p:blipFill>
        <p:spPr>
          <a:xfrm xmlns:a="http://schemas.openxmlformats.org/drawingml/2006/main">
            <a:off x="800100" y="2333625"/>
            <a:ext cx="438150" cy="438150"/>
          </a:xfrm>
          <a:prstGeom xmlns:a="http://schemas.openxmlformats.org/drawingml/2006/main" prst="rect">
            <a:avLst/>
          </a:prstGeom>
        </p:spPr>
      </p:pic>
      <p:sp>
        <p:nvSpPr>
          <p:cNvPr id="10" name="Prepare &amp; query">
            <a:extLst xmlns:a="http://schemas.openxmlformats.org/drawingml/2006/main">
              <a:ext uri="{FF2B5EF4-FFF2-40B4-BE49-F238E27FC236}">
                <a16:creationId xmlns:a16="http://schemas.microsoft.com/office/drawing/2014/main" id="{D9F7E0B2-83D2-4B7B-9728-521461EE05AA}"/>
              </a:ext>
            </a:extLst>
          </p:cNvPr>
          <p:cNvSpPr>
            <a:spLocks xmlns:a="http://schemas.openxmlformats.org/drawingml/2006/main" noGrp="1"/>
          </p:cNvSpPr>
          <p:nvPr/>
        </p:nvSpPr>
        <p:spPr>
          <a:xfrm xmlns:a="http://schemas.openxmlformats.org/drawingml/2006/main">
            <a:off x="800100" y="2924175"/>
            <a:ext cx="3000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112139"/>
                </a:solidFill>
                <a:latin typeface="Segoe UI"/>
                <a:ea typeface="Segoe UI"/>
                <a:cs typeface="Segoe UI"/>
              </a:defRPr>
            </a:pPr>
            <a:r>
              <a:rPr sz="2100" b="1">
                <a:solidFill>
                  <a:srgbClr val="112139"/>
                </a:solidFill>
                <a:latin typeface="Segoe UI"/>
                <a:ea typeface="Segoe UI"/>
                <a:cs typeface="Segoe UI"/>
              </a:rPr>
              <a:t>Prepare &amp; query</a:t>
            </a:r>
          </a:p>
        </p:txBody>
      </p:sp>
      <p:sp>
        <p:nvSpPr>
          <p:cNvPr id="11" name="">
            <a:extLst xmlns:a="http://schemas.openxmlformats.org/drawingml/2006/main">
              <a:ext uri="{FF2B5EF4-FFF2-40B4-BE49-F238E27FC236}">
                <a16:creationId xmlns:a16="http://schemas.microsoft.com/office/drawing/2014/main" id="{A2700E8A-0F57-4B7D-96AA-BAB68E3EFEBE}"/>
              </a:ext>
            </a:extLst>
          </p:cNvPr>
          <p:cNvSpPr>
            <a:spLocks xmlns:a="http://schemas.openxmlformats.org/drawingml/2006/main" noGrp="1"/>
          </p:cNvSpPr>
          <p:nvPr/>
        </p:nvSpPr>
        <p:spPr>
          <a:xfrm xmlns:a="http://schemas.openxmlformats.org/drawingml/2006/main">
            <a:off x="800100" y="3476625"/>
            <a:ext cx="3000375" cy="0"/>
          </a:xfrm>
          <a:prstGeom xmlns:a="http://schemas.openxmlformats.org/drawingml/2006/main" prst="line">
            <a:avLst/>
          </a:prstGeom>
          <a:noFill xmlns:a="http://schemas.openxmlformats.org/drawingml/2006/main"/>
          <a:ln xmlns:a="http://schemas.openxmlformats.org/drawingml/2006/main" w="9525">
            <a:solidFill>
              <a:srgbClr val="DFE7F1"/>
            </a:solidFill>
          </a:ln>
        </p:spPr>
      </p:sp>
      <p:sp>
        <p:nvSpPr>
          <p:cNvPr id="12" name="Python SQL PostgreSQL">
            <a:extLst xmlns:a="http://schemas.openxmlformats.org/drawingml/2006/main">
              <a:ext uri="{FF2B5EF4-FFF2-40B4-BE49-F238E27FC236}">
                <a16:creationId xmlns:a16="http://schemas.microsoft.com/office/drawing/2014/main" id="{124AA9E3-81D7-4A4B-8E80-2835CCB4DDF7}"/>
              </a:ext>
            </a:extLst>
          </p:cNvPr>
          <p:cNvSpPr>
            <a:spLocks xmlns:a="http://schemas.openxmlformats.org/drawingml/2006/main" noGrp="1"/>
          </p:cNvSpPr>
          <p:nvPr/>
        </p:nvSpPr>
        <p:spPr>
          <a:xfrm xmlns:a="http://schemas.openxmlformats.org/drawingml/2006/main">
            <a:off x="800100" y="3724275"/>
            <a:ext cx="3000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12139"/>
                </a:solidFill>
                <a:latin typeface="Segoe UI"/>
                <a:ea typeface="Segoe UI"/>
                <a:cs typeface="Segoe UI"/>
              </a:defRPr>
            </a:pPr>
            <a:r>
              <a:rPr sz="1950" b="1">
                <a:solidFill>
                  <a:srgbClr val="112139"/>
                </a:solidFill>
                <a:latin typeface="Segoe UI"/>
                <a:ea typeface="Segoe UI"/>
                <a:cs typeface="Segoe UI"/>
              </a:rPr>
              <a:t>Python</a:t>
            </a:r>
          </a:p>
          <a:p xmlns:a="http://schemas.openxmlformats.org/drawingml/2006/main">
            <a:pPr algn="l">
              <a:defRPr sz="1950" b="1">
                <a:solidFill>
                  <a:srgbClr val="112139"/>
                </a:solidFill>
                <a:latin typeface="Segoe UI"/>
                <a:ea typeface="Segoe UI"/>
                <a:cs typeface="Segoe UI"/>
              </a:defRPr>
            </a:pPr>
            <a:r>
              <a:rPr sz="1950" b="1">
                <a:solidFill>
                  <a:srgbClr val="112139"/>
                </a:solidFill>
                <a:latin typeface="Segoe UI"/>
                <a:ea typeface="Segoe UI"/>
                <a:cs typeface="Segoe UI"/>
              </a:rPr>
              <a:t>SQL</a:t>
            </a:r>
          </a:p>
          <a:p xmlns:a="http://schemas.openxmlformats.org/drawingml/2006/main">
            <a:pPr algn="l">
              <a:defRPr sz="1950" b="1">
                <a:solidFill>
                  <a:srgbClr val="112139"/>
                </a:solidFill>
                <a:latin typeface="Segoe UI"/>
                <a:ea typeface="Segoe UI"/>
                <a:cs typeface="Segoe UI"/>
              </a:defRPr>
            </a:pPr>
            <a:r>
              <a:rPr sz="1950" b="1">
                <a:solidFill>
                  <a:srgbClr val="112139"/>
                </a:solidFill>
                <a:latin typeface="Segoe UI"/>
                <a:ea typeface="Segoe UI"/>
                <a:cs typeface="Segoe UI"/>
              </a:rPr>
              <a:t>PostgreSQL</a:t>
            </a:r>
          </a:p>
        </p:txBody>
      </p:sp>
      <p:sp>
        <p:nvSpPr>
          <p:cNvPr id="13" name="Data cleaning Structured data processing">
            <a:extLst xmlns:a="http://schemas.openxmlformats.org/drawingml/2006/main">
              <a:ext uri="{FF2B5EF4-FFF2-40B4-BE49-F238E27FC236}">
                <a16:creationId xmlns:a16="http://schemas.microsoft.com/office/drawing/2014/main" id="{FA6195A4-D418-4608-8B5E-AE0D6F6DF165}"/>
              </a:ext>
            </a:extLst>
          </p:cNvPr>
          <p:cNvSpPr>
            <a:spLocks xmlns:a="http://schemas.openxmlformats.org/drawingml/2006/main" noGrp="1"/>
          </p:cNvSpPr>
          <p:nvPr/>
        </p:nvSpPr>
        <p:spPr>
          <a:xfrm xmlns:a="http://schemas.openxmlformats.org/drawingml/2006/main">
            <a:off x="800100" y="4972050"/>
            <a:ext cx="3000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B6B83"/>
                </a:solidFill>
                <a:latin typeface="Segoe UI"/>
                <a:ea typeface="Segoe UI"/>
                <a:cs typeface="Segoe UI"/>
              </a:defRPr>
            </a:pPr>
            <a:r>
              <a:rPr sz="1425" b="0">
                <a:solidFill>
                  <a:srgbClr val="5B6B83"/>
                </a:solidFill>
                <a:latin typeface="Segoe UI"/>
                <a:ea typeface="Segoe UI"/>
                <a:cs typeface="Segoe UI"/>
              </a:rPr>
              <a:t>Data cleaning</a:t>
            </a:r>
          </a:p>
          <a:p xmlns:a="http://schemas.openxmlformats.org/drawingml/2006/main">
            <a:pPr algn="l">
              <a:defRPr sz="1425" b="0">
                <a:solidFill>
                  <a:srgbClr val="5B6B83"/>
                </a:solidFill>
                <a:latin typeface="Segoe UI"/>
                <a:ea typeface="Segoe UI"/>
                <a:cs typeface="Segoe UI"/>
              </a:defRPr>
            </a:pPr>
            <a:r>
              <a:rPr sz="1425" b="0">
                <a:solidFill>
                  <a:srgbClr val="5B6B83"/>
                </a:solidFill>
                <a:latin typeface="Segoe UI"/>
                <a:ea typeface="Segoe UI"/>
                <a:cs typeface="Segoe UI"/>
              </a:rPr>
              <a:t>Structured data processing</a:t>
            </a:r>
          </a:p>
        </p:txBody>
      </p:sp>
      <p:sp>
        <p:nvSpPr>
          <p:cNvPr id="14" name="">
            <a:extLst xmlns:a="http://schemas.openxmlformats.org/drawingml/2006/main">
              <a:ext uri="{FF2B5EF4-FFF2-40B4-BE49-F238E27FC236}">
                <a16:creationId xmlns:a16="http://schemas.microsoft.com/office/drawing/2014/main" id="{CE994944-6A9E-4475-A754-FB8BA1459D59}"/>
              </a:ext>
            </a:extLst>
          </p:cNvPr>
          <p:cNvSpPr>
            <a:spLocks xmlns:a="http://schemas.openxmlformats.org/drawingml/2006/main" noGrp="1"/>
          </p:cNvSpPr>
          <p:nvPr/>
        </p:nvSpPr>
        <p:spPr>
          <a:xfrm xmlns:a="http://schemas.openxmlformats.org/drawingml/2006/main">
            <a:off x="4371975" y="2095500"/>
            <a:ext cx="3457575" cy="3476625"/>
          </a:xfrm>
          <a:prstGeom xmlns:a="http://schemas.openxmlformats.org/drawingml/2006/main" prst="roundRect">
            <a:avLst>
              <a:gd name="adj" fmla="val 5510"/>
            </a:avLst>
          </a:prstGeom>
          <a:solidFill xmlns:a="http://schemas.openxmlformats.org/drawingml/2006/main">
            <a:srgbClr val="FFFFFF"/>
          </a:solidFill>
          <a:ln xmlns:a="http://schemas.openxmlformats.org/drawingml/2006/main" w="9525">
            <a:solidFill>
              <a:srgbClr val="DFE7F1"/>
            </a:solidFill>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98c334f364744b81"/>
          <a:stretch xmlns:a="http://schemas.openxmlformats.org/drawingml/2006/main"/>
        </p:blipFill>
        <p:spPr>
          <a:xfrm xmlns:a="http://schemas.openxmlformats.org/drawingml/2006/main">
            <a:off x="4600575" y="2333625"/>
            <a:ext cx="438150" cy="438150"/>
          </a:xfrm>
          <a:prstGeom xmlns:a="http://schemas.openxmlformats.org/drawingml/2006/main" prst="rect">
            <a:avLst/>
          </a:prstGeom>
        </p:spPr>
      </p:pic>
      <p:sp>
        <p:nvSpPr>
          <p:cNvPr id="16" name="Analyze &amp; report">
            <a:extLst xmlns:a="http://schemas.openxmlformats.org/drawingml/2006/main">
              <a:ext uri="{FF2B5EF4-FFF2-40B4-BE49-F238E27FC236}">
                <a16:creationId xmlns:a16="http://schemas.microsoft.com/office/drawing/2014/main" id="{F93702D6-DD64-4D20-952F-66DDDA29F420}"/>
              </a:ext>
            </a:extLst>
          </p:cNvPr>
          <p:cNvSpPr>
            <a:spLocks xmlns:a="http://schemas.openxmlformats.org/drawingml/2006/main" noGrp="1"/>
          </p:cNvSpPr>
          <p:nvPr/>
        </p:nvSpPr>
        <p:spPr>
          <a:xfrm xmlns:a="http://schemas.openxmlformats.org/drawingml/2006/main">
            <a:off x="4600575" y="2924175"/>
            <a:ext cx="3000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112139"/>
                </a:solidFill>
                <a:latin typeface="Segoe UI"/>
                <a:ea typeface="Segoe UI"/>
                <a:cs typeface="Segoe UI"/>
              </a:defRPr>
            </a:pPr>
            <a:r>
              <a:rPr sz="2100" b="1">
                <a:solidFill>
                  <a:srgbClr val="112139"/>
                </a:solidFill>
                <a:latin typeface="Segoe UI"/>
                <a:ea typeface="Segoe UI"/>
                <a:cs typeface="Segoe UI"/>
              </a:rPr>
              <a:t>Analyze &amp; report</a:t>
            </a:r>
          </a:p>
        </p:txBody>
      </p:sp>
      <p:sp>
        <p:nvSpPr>
          <p:cNvPr id="17" name="">
            <a:extLst xmlns:a="http://schemas.openxmlformats.org/drawingml/2006/main">
              <a:ext uri="{FF2B5EF4-FFF2-40B4-BE49-F238E27FC236}">
                <a16:creationId xmlns:a16="http://schemas.microsoft.com/office/drawing/2014/main" id="{353E7653-26B0-43A4-891A-27FE811C06F4}"/>
              </a:ext>
            </a:extLst>
          </p:cNvPr>
          <p:cNvSpPr>
            <a:spLocks xmlns:a="http://schemas.openxmlformats.org/drawingml/2006/main" noGrp="1"/>
          </p:cNvSpPr>
          <p:nvPr/>
        </p:nvSpPr>
        <p:spPr>
          <a:xfrm xmlns:a="http://schemas.openxmlformats.org/drawingml/2006/main">
            <a:off x="4600575" y="3476625"/>
            <a:ext cx="3000375" cy="0"/>
          </a:xfrm>
          <a:prstGeom xmlns:a="http://schemas.openxmlformats.org/drawingml/2006/main" prst="line">
            <a:avLst/>
          </a:prstGeom>
          <a:noFill xmlns:a="http://schemas.openxmlformats.org/drawingml/2006/main"/>
          <a:ln xmlns:a="http://schemas.openxmlformats.org/drawingml/2006/main" w="9525">
            <a:solidFill>
              <a:srgbClr val="DFE7F1"/>
            </a:solidFill>
          </a:ln>
        </p:spPr>
      </p:sp>
      <p:sp>
        <p:nvSpPr>
          <p:cNvPr id="18" name="Power BI Microsoft Excel Google Sheets">
            <a:extLst xmlns:a="http://schemas.openxmlformats.org/drawingml/2006/main">
              <a:ext uri="{FF2B5EF4-FFF2-40B4-BE49-F238E27FC236}">
                <a16:creationId xmlns:a16="http://schemas.microsoft.com/office/drawing/2014/main" id="{150E98D8-3651-4E83-B5B8-6BACDCB15596}"/>
              </a:ext>
            </a:extLst>
          </p:cNvPr>
          <p:cNvSpPr>
            <a:spLocks xmlns:a="http://schemas.openxmlformats.org/drawingml/2006/main" noGrp="1"/>
          </p:cNvSpPr>
          <p:nvPr/>
        </p:nvSpPr>
        <p:spPr>
          <a:xfrm xmlns:a="http://schemas.openxmlformats.org/drawingml/2006/main">
            <a:off x="4600575" y="3724275"/>
            <a:ext cx="3000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12139"/>
                </a:solidFill>
                <a:latin typeface="Segoe UI"/>
                <a:ea typeface="Segoe UI"/>
                <a:cs typeface="Segoe UI"/>
              </a:defRPr>
            </a:pPr>
            <a:r>
              <a:rPr sz="1950" b="1">
                <a:solidFill>
                  <a:srgbClr val="112139"/>
                </a:solidFill>
                <a:latin typeface="Segoe UI"/>
                <a:ea typeface="Segoe UI"/>
                <a:cs typeface="Segoe UI"/>
              </a:rPr>
              <a:t>Power BI</a:t>
            </a:r>
          </a:p>
          <a:p xmlns:a="http://schemas.openxmlformats.org/drawingml/2006/main">
            <a:pPr algn="l">
              <a:defRPr sz="1950" b="1">
                <a:solidFill>
                  <a:srgbClr val="112139"/>
                </a:solidFill>
                <a:latin typeface="Segoe UI"/>
                <a:ea typeface="Segoe UI"/>
                <a:cs typeface="Segoe UI"/>
              </a:defRPr>
            </a:pPr>
            <a:r>
              <a:rPr sz="1950" b="1">
                <a:solidFill>
                  <a:srgbClr val="112139"/>
                </a:solidFill>
                <a:latin typeface="Segoe UI"/>
                <a:ea typeface="Segoe UI"/>
                <a:cs typeface="Segoe UI"/>
              </a:rPr>
              <a:t>Microsoft Excel</a:t>
            </a:r>
          </a:p>
          <a:p xmlns:a="http://schemas.openxmlformats.org/drawingml/2006/main">
            <a:pPr algn="l">
              <a:defRPr sz="1950" b="1">
                <a:solidFill>
                  <a:srgbClr val="112139"/>
                </a:solidFill>
                <a:latin typeface="Segoe UI"/>
                <a:ea typeface="Segoe UI"/>
                <a:cs typeface="Segoe UI"/>
              </a:defRPr>
            </a:pPr>
            <a:r>
              <a:rPr sz="1950" b="1">
                <a:solidFill>
                  <a:srgbClr val="112139"/>
                </a:solidFill>
                <a:latin typeface="Segoe UI"/>
                <a:ea typeface="Segoe UI"/>
                <a:cs typeface="Segoe UI"/>
              </a:rPr>
              <a:t>Google Sheets</a:t>
            </a:r>
          </a:p>
        </p:txBody>
      </p:sp>
      <p:sp>
        <p:nvSpPr>
          <p:cNvPr id="19" name="Exploratory analysis Charts and reporting">
            <a:extLst xmlns:a="http://schemas.openxmlformats.org/drawingml/2006/main">
              <a:ext uri="{FF2B5EF4-FFF2-40B4-BE49-F238E27FC236}">
                <a16:creationId xmlns:a16="http://schemas.microsoft.com/office/drawing/2014/main" id="{28FA5A10-B8D3-4153-AA61-CE717389BED1}"/>
              </a:ext>
            </a:extLst>
          </p:cNvPr>
          <p:cNvSpPr>
            <a:spLocks xmlns:a="http://schemas.openxmlformats.org/drawingml/2006/main" noGrp="1"/>
          </p:cNvSpPr>
          <p:nvPr/>
        </p:nvSpPr>
        <p:spPr>
          <a:xfrm xmlns:a="http://schemas.openxmlformats.org/drawingml/2006/main">
            <a:off x="4600575" y="4972050"/>
            <a:ext cx="3000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B6B83"/>
                </a:solidFill>
                <a:latin typeface="Segoe UI"/>
                <a:ea typeface="Segoe UI"/>
                <a:cs typeface="Segoe UI"/>
              </a:defRPr>
            </a:pPr>
            <a:r>
              <a:rPr sz="1425" b="0">
                <a:solidFill>
                  <a:srgbClr val="5B6B83"/>
                </a:solidFill>
                <a:latin typeface="Segoe UI"/>
                <a:ea typeface="Segoe UI"/>
                <a:cs typeface="Segoe UI"/>
              </a:rPr>
              <a:t>Exploratory analysis</a:t>
            </a:r>
          </a:p>
          <a:p xmlns:a="http://schemas.openxmlformats.org/drawingml/2006/main">
            <a:pPr algn="l">
              <a:defRPr sz="1425" b="0">
                <a:solidFill>
                  <a:srgbClr val="5B6B83"/>
                </a:solidFill>
                <a:latin typeface="Segoe UI"/>
                <a:ea typeface="Segoe UI"/>
                <a:cs typeface="Segoe UI"/>
              </a:defRPr>
            </a:pPr>
            <a:r>
              <a:rPr sz="1425" b="0">
                <a:solidFill>
                  <a:srgbClr val="5B6B83"/>
                </a:solidFill>
                <a:latin typeface="Segoe UI"/>
                <a:ea typeface="Segoe UI"/>
                <a:cs typeface="Segoe UI"/>
              </a:rPr>
              <a:t>Charts and reporting</a:t>
            </a:r>
          </a:p>
        </p:txBody>
      </p:sp>
      <p:sp>
        <p:nvSpPr>
          <p:cNvPr id="20" name="">
            <a:extLst xmlns:a="http://schemas.openxmlformats.org/drawingml/2006/main">
              <a:ext uri="{FF2B5EF4-FFF2-40B4-BE49-F238E27FC236}">
                <a16:creationId xmlns:a16="http://schemas.microsoft.com/office/drawing/2014/main" id="{545890F5-EA50-4610-B12F-E9984BD617ED}"/>
              </a:ext>
            </a:extLst>
          </p:cNvPr>
          <p:cNvSpPr>
            <a:spLocks xmlns:a="http://schemas.openxmlformats.org/drawingml/2006/main" noGrp="1"/>
          </p:cNvSpPr>
          <p:nvPr/>
        </p:nvSpPr>
        <p:spPr>
          <a:xfrm xmlns:a="http://schemas.openxmlformats.org/drawingml/2006/main">
            <a:off x="8172450" y="2095500"/>
            <a:ext cx="3448050" cy="3476625"/>
          </a:xfrm>
          <a:prstGeom xmlns:a="http://schemas.openxmlformats.org/drawingml/2006/main" prst="roundRect">
            <a:avLst>
              <a:gd name="adj" fmla="val 5525"/>
            </a:avLst>
          </a:prstGeom>
          <a:solidFill xmlns:a="http://schemas.openxmlformats.org/drawingml/2006/main">
            <a:srgbClr val="FFFFFF"/>
          </a:solidFill>
          <a:ln xmlns:a="http://schemas.openxmlformats.org/drawingml/2006/main" w="9525">
            <a:solidFill>
              <a:srgbClr val="DFE7F1"/>
            </a:solidFill>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0b50f15c211e49eb"/>
          <a:stretch xmlns:a="http://schemas.openxmlformats.org/drawingml/2006/main"/>
        </p:blipFill>
        <p:spPr>
          <a:xfrm xmlns:a="http://schemas.openxmlformats.org/drawingml/2006/main">
            <a:off x="8401050" y="2333625"/>
            <a:ext cx="438150" cy="438150"/>
          </a:xfrm>
          <a:prstGeom xmlns:a="http://schemas.openxmlformats.org/drawingml/2006/main" prst="rect">
            <a:avLst/>
          </a:prstGeom>
        </p:spPr>
      </p:pic>
      <p:sp>
        <p:nvSpPr>
          <p:cNvPr id="22" name="Work &amp; collaborate">
            <a:extLst xmlns:a="http://schemas.openxmlformats.org/drawingml/2006/main">
              <a:ext uri="{FF2B5EF4-FFF2-40B4-BE49-F238E27FC236}">
                <a16:creationId xmlns:a16="http://schemas.microsoft.com/office/drawing/2014/main" id="{139F38EE-C2A4-4844-8CDF-514380741CE9}"/>
              </a:ext>
            </a:extLst>
          </p:cNvPr>
          <p:cNvSpPr>
            <a:spLocks xmlns:a="http://schemas.openxmlformats.org/drawingml/2006/main" noGrp="1"/>
          </p:cNvSpPr>
          <p:nvPr/>
        </p:nvSpPr>
        <p:spPr>
          <a:xfrm xmlns:a="http://schemas.openxmlformats.org/drawingml/2006/main">
            <a:off x="8401050" y="2924175"/>
            <a:ext cx="2990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112139"/>
                </a:solidFill>
                <a:latin typeface="Segoe UI"/>
                <a:ea typeface="Segoe UI"/>
                <a:cs typeface="Segoe UI"/>
              </a:defRPr>
            </a:pPr>
            <a:r>
              <a:rPr sz="2100" b="1">
                <a:solidFill>
                  <a:srgbClr val="112139"/>
                </a:solidFill>
                <a:latin typeface="Segoe UI"/>
                <a:ea typeface="Segoe UI"/>
                <a:cs typeface="Segoe UI"/>
              </a:rPr>
              <a:t>Work &amp; collaborate</a:t>
            </a:r>
          </a:p>
        </p:txBody>
      </p:sp>
      <p:sp>
        <p:nvSpPr>
          <p:cNvPr id="23" name="">
            <a:extLst xmlns:a="http://schemas.openxmlformats.org/drawingml/2006/main">
              <a:ext uri="{FF2B5EF4-FFF2-40B4-BE49-F238E27FC236}">
                <a16:creationId xmlns:a16="http://schemas.microsoft.com/office/drawing/2014/main" id="{8B35FB01-08B5-41F8-947E-790DD93EEDAE}"/>
              </a:ext>
            </a:extLst>
          </p:cNvPr>
          <p:cNvSpPr>
            <a:spLocks xmlns:a="http://schemas.openxmlformats.org/drawingml/2006/main" noGrp="1"/>
          </p:cNvSpPr>
          <p:nvPr/>
        </p:nvSpPr>
        <p:spPr>
          <a:xfrm xmlns:a="http://schemas.openxmlformats.org/drawingml/2006/main">
            <a:off x="8401050" y="3476625"/>
            <a:ext cx="2990850" cy="0"/>
          </a:xfrm>
          <a:prstGeom xmlns:a="http://schemas.openxmlformats.org/drawingml/2006/main" prst="line">
            <a:avLst/>
          </a:prstGeom>
          <a:noFill xmlns:a="http://schemas.openxmlformats.org/drawingml/2006/main"/>
          <a:ln xmlns:a="http://schemas.openxmlformats.org/drawingml/2006/main" w="9525">
            <a:solidFill>
              <a:srgbClr val="DFE7F1"/>
            </a:solidFill>
          </a:ln>
        </p:spPr>
      </p:sp>
      <p:sp>
        <p:nvSpPr>
          <p:cNvPr id="24" name="Google Workspace Microsoft Office">
            <a:extLst xmlns:a="http://schemas.openxmlformats.org/drawingml/2006/main">
              <a:ext uri="{FF2B5EF4-FFF2-40B4-BE49-F238E27FC236}">
                <a16:creationId xmlns:a16="http://schemas.microsoft.com/office/drawing/2014/main" id="{BB036C47-2291-4D4E-B8C0-F777173A400C}"/>
              </a:ext>
            </a:extLst>
          </p:cNvPr>
          <p:cNvSpPr>
            <a:spLocks xmlns:a="http://schemas.openxmlformats.org/drawingml/2006/main" noGrp="1"/>
          </p:cNvSpPr>
          <p:nvPr/>
        </p:nvSpPr>
        <p:spPr>
          <a:xfrm xmlns:a="http://schemas.openxmlformats.org/drawingml/2006/main">
            <a:off x="8401050" y="3724275"/>
            <a:ext cx="29908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12139"/>
                </a:solidFill>
                <a:latin typeface="Segoe UI"/>
                <a:ea typeface="Segoe UI"/>
                <a:cs typeface="Segoe UI"/>
              </a:defRPr>
            </a:pPr>
            <a:r>
              <a:rPr sz="1950" b="1">
                <a:solidFill>
                  <a:srgbClr val="112139"/>
                </a:solidFill>
                <a:latin typeface="Segoe UI"/>
                <a:ea typeface="Segoe UI"/>
                <a:cs typeface="Segoe UI"/>
              </a:rPr>
              <a:t>Google Workspace</a:t>
            </a:r>
          </a:p>
          <a:p xmlns:a="http://schemas.openxmlformats.org/drawingml/2006/main">
            <a:pPr algn="l">
              <a:defRPr sz="1950" b="1">
                <a:solidFill>
                  <a:srgbClr val="112139"/>
                </a:solidFill>
                <a:latin typeface="Segoe UI"/>
                <a:ea typeface="Segoe UI"/>
                <a:cs typeface="Segoe UI"/>
              </a:defRPr>
            </a:pPr>
            <a:r>
              <a:rPr sz="1950" b="1">
                <a:solidFill>
                  <a:srgbClr val="112139"/>
                </a:solidFill>
                <a:latin typeface="Segoe UI"/>
                <a:ea typeface="Segoe UI"/>
                <a:cs typeface="Segoe UI"/>
              </a:rPr>
              <a:t>Microsoft Office</a:t>
            </a:r>
          </a:p>
        </p:txBody>
      </p:sp>
      <p:sp>
        <p:nvSpPr>
          <p:cNvPr id="25" name="Teamwork Documentation and communication">
            <a:extLst xmlns:a="http://schemas.openxmlformats.org/drawingml/2006/main">
              <a:ext uri="{FF2B5EF4-FFF2-40B4-BE49-F238E27FC236}">
                <a16:creationId xmlns:a16="http://schemas.microsoft.com/office/drawing/2014/main" id="{ED987BA1-1C4D-48A4-8CA6-7C16311B2D81}"/>
              </a:ext>
            </a:extLst>
          </p:cNvPr>
          <p:cNvSpPr>
            <a:spLocks xmlns:a="http://schemas.openxmlformats.org/drawingml/2006/main" noGrp="1"/>
          </p:cNvSpPr>
          <p:nvPr/>
        </p:nvSpPr>
        <p:spPr>
          <a:xfrm xmlns:a="http://schemas.openxmlformats.org/drawingml/2006/main">
            <a:off x="8401050" y="4972050"/>
            <a:ext cx="29908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B6B83"/>
                </a:solidFill>
                <a:latin typeface="Segoe UI"/>
                <a:ea typeface="Segoe UI"/>
                <a:cs typeface="Segoe UI"/>
              </a:defRPr>
            </a:pPr>
            <a:r>
              <a:rPr sz="1425" b="0">
                <a:solidFill>
                  <a:srgbClr val="5B6B83"/>
                </a:solidFill>
                <a:latin typeface="Segoe UI"/>
                <a:ea typeface="Segoe UI"/>
                <a:cs typeface="Segoe UI"/>
              </a:rPr>
              <a:t>Teamwork</a:t>
            </a:r>
          </a:p>
          <a:p xmlns:a="http://schemas.openxmlformats.org/drawingml/2006/main">
            <a:pPr algn="l">
              <a:defRPr sz="1425" b="0">
                <a:solidFill>
                  <a:srgbClr val="5B6B83"/>
                </a:solidFill>
                <a:latin typeface="Segoe UI"/>
                <a:ea typeface="Segoe UI"/>
                <a:cs typeface="Segoe UI"/>
              </a:defRPr>
            </a:pPr>
            <a:r>
              <a:rPr sz="1425" b="0">
                <a:solidFill>
                  <a:srgbClr val="5B6B83"/>
                </a:solidFill>
                <a:latin typeface="Segoe UI"/>
                <a:ea typeface="Segoe UI"/>
                <a:cs typeface="Segoe UI"/>
              </a:rPr>
              <a:t>Documentation and communication</a:t>
            </a:r>
          </a:p>
        </p:txBody>
      </p:sp>
      <p:sp>
        <p:nvSpPr>
          <p:cNvPr id="26" name="PROJECT TOOLS">
            <a:extLst xmlns:a="http://schemas.openxmlformats.org/drawingml/2006/main">
              <a:ext uri="{FF2B5EF4-FFF2-40B4-BE49-F238E27FC236}">
                <a16:creationId xmlns:a16="http://schemas.microsoft.com/office/drawing/2014/main" id="{E8AD00E1-0156-4886-8982-0E84067A6F1D}"/>
              </a:ext>
            </a:extLst>
          </p:cNvPr>
          <p:cNvSpPr>
            <a:spLocks xmlns:a="http://schemas.openxmlformats.org/drawingml/2006/main" noGrp="1"/>
          </p:cNvSpPr>
          <p:nvPr/>
        </p:nvSpPr>
        <p:spPr>
          <a:xfrm xmlns:a="http://schemas.openxmlformats.org/drawingml/2006/main">
            <a:off x="571500" y="586740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2463EB"/>
                </a:solidFill>
                <a:latin typeface="Segoe UI"/>
                <a:ea typeface="Segoe UI"/>
                <a:cs typeface="Segoe UI"/>
              </a:defRPr>
            </a:pPr>
            <a:r>
              <a:rPr sz="1050" b="1">
                <a:solidFill>
                  <a:srgbClr val="2463EB"/>
                </a:solidFill>
                <a:latin typeface="Segoe UI"/>
                <a:ea typeface="Segoe UI"/>
                <a:cs typeface="Segoe UI"/>
              </a:rPr>
              <a:t>PROJECT TOOLS</a:t>
            </a:r>
          </a:p>
        </p:txBody>
      </p:sp>
      <p:sp>
        <p:nvSpPr>
          <p:cNvPr id="27" name="pandas    scikit-learn    SQLite    Tableau    O">
            <a:extLst xmlns:a="http://schemas.openxmlformats.org/drawingml/2006/main">
              <a:ext uri="{FF2B5EF4-FFF2-40B4-BE49-F238E27FC236}">
                <a16:creationId xmlns:a16="http://schemas.microsoft.com/office/drawing/2014/main" id="{87CF855F-1E48-42B8-9B01-2B3234C4CC8D}"/>
              </a:ext>
            </a:extLst>
          </p:cNvPr>
          <p:cNvSpPr>
            <a:spLocks xmlns:a="http://schemas.openxmlformats.org/drawingml/2006/main" noGrp="1"/>
          </p:cNvSpPr>
          <p:nvPr/>
        </p:nvSpPr>
        <p:spPr>
          <a:xfrm xmlns:a="http://schemas.openxmlformats.org/drawingml/2006/main">
            <a:off x="2400300" y="5829300"/>
            <a:ext cx="9220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B6B83"/>
                </a:solidFill>
                <a:latin typeface="Segoe UI"/>
                <a:ea typeface="Segoe UI"/>
                <a:cs typeface="Segoe UI"/>
              </a:defRPr>
            </a:pPr>
            <a:r>
              <a:rPr sz="1500" b="0">
                <a:solidFill>
                  <a:srgbClr val="5B6B83"/>
                </a:solidFill>
                <a:latin typeface="Segoe UI"/>
                <a:ea typeface="Segoe UI"/>
                <a:cs typeface="Segoe UI"/>
              </a:rPr>
              <a:t>pandas    scikit-learn    SQLite    Tableau    Orange</a:t>
            </a:r>
          </a:p>
        </p:txBody>
      </p:sp>
    </p:spTree>
    <p:extLst>
      <p:ext uri="{BB962C8B-B14F-4D97-AF65-F5344CB8AC3E}">
        <p14:creationId xmlns:p14="http://schemas.microsoft.com/office/powerpoint/2010/main" val="369320859"/>
      </p:ext>
    </p:extLst>
  </p:cSld>
</p:sld>
</file>

<file path=ppt/slides/slide7.xml><?xml version="1.0" encoding="utf-8"?>
<p:sld xmlns:p="http://schemas.openxmlformats.org/presentationml/2006/main">
  <p:cSld>
    <p:bg>
      <p:bgPr>
        <a:solidFill xmlns:a="http://schemas.openxmlformats.org/drawingml/2006/main">
          <a:srgbClr val="F9FBFE"/>
        </a:solidFill>
      </p:bgPr>
    </p:bg>
    <p:spTree>
      <p:nvGrpSpPr>
        <p:cNvPr id="1" name=""/>
        <p:cNvGrpSpPr/>
        <p:nvPr/>
      </p:nvGrpSpPr>
      <p:grpSpPr>
        <a:xfrm xmlns:a="http://schemas.openxmlformats.org/drawingml/2006/main"/>
      </p:grpSpPr>
      <p:sp>
        <p:nvSpPr>
          <p:cNvPr id="35" name="EXPERIENCE">
            <a:extLst xmlns:a="http://schemas.openxmlformats.org/drawingml/2006/main">
              <a:ext uri="{FF2B5EF4-FFF2-40B4-BE49-F238E27FC236}">
                <a16:creationId xmlns:a16="http://schemas.microsoft.com/office/drawing/2014/main" id="{0157E356-A54D-4E47-92F1-D06057DCD416}"/>
              </a:ext>
            </a:extLst>
          </p:cNvPr>
          <p:cNvSpPr>
            <a:spLocks xmlns:a="http://schemas.openxmlformats.org/drawingml/2006/main" noGrp="1"/>
          </p:cNvSpPr>
          <p:nvPr/>
        </p:nvSpPr>
        <p:spPr>
          <a:xfrm xmlns:a="http://schemas.openxmlformats.org/drawingml/2006/main">
            <a:off x="571500" y="304800"/>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2463EB"/>
                </a:solidFill>
                <a:latin typeface="Segoe UI"/>
                <a:ea typeface="Segoe UI"/>
                <a:cs typeface="Segoe UI"/>
              </a:defRPr>
            </a:pPr>
            <a:r>
              <a:rPr sz="1050" b="1">
                <a:solidFill>
                  <a:srgbClr val="2463EB"/>
                </a:solidFill>
                <a:latin typeface="Segoe UI"/>
                <a:ea typeface="Segoe UI"/>
                <a:cs typeface="Segoe UI"/>
              </a:rPr>
              <a:t>EXPERIENCE</a:t>
            </a:r>
          </a:p>
        </p:txBody>
      </p:sp>
      <p:sp>
        <p:nvSpPr>
          <p:cNvPr id="2" name="REVALDY ARRAHMAN">
            <a:extLst xmlns:a="http://schemas.openxmlformats.org/drawingml/2006/main">
              <a:ext uri="{FF2B5EF4-FFF2-40B4-BE49-F238E27FC236}">
                <a16:creationId xmlns:a16="http://schemas.microsoft.com/office/drawing/2014/main" id="{0930537D-FDA6-496F-8A44-1D2DC73FE27E}"/>
              </a:ext>
            </a:extLst>
          </p:cNvPr>
          <p:cNvSpPr>
            <a:spLocks xmlns:a="http://schemas.openxmlformats.org/drawingml/2006/main" noGrp="1"/>
          </p:cNvSpPr>
          <p:nvPr/>
        </p:nvSpPr>
        <p:spPr>
          <a:xfrm xmlns:a="http://schemas.openxmlformats.org/drawingml/2006/main">
            <a:off x="8810625" y="314325"/>
            <a:ext cx="2800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00" b="1">
                <a:solidFill>
                  <a:srgbClr val="5B6B83"/>
                </a:solidFill>
                <a:latin typeface="Segoe UI"/>
                <a:ea typeface="Segoe UI"/>
                <a:cs typeface="Segoe UI"/>
              </a:defRPr>
            </a:pPr>
            <a:r>
              <a:rPr sz="900" b="1">
                <a:solidFill>
                  <a:srgbClr val="5B6B83"/>
                </a:solidFill>
                <a:latin typeface="Segoe UI"/>
                <a:ea typeface="Segoe UI"/>
                <a:cs typeface="Segoe UI"/>
              </a:rPr>
              <a:t>REVALDY ARRAHMAN</a:t>
            </a:r>
          </a:p>
        </p:txBody>
      </p:sp>
      <p:sp>
        <p:nvSpPr>
          <p:cNvPr id="3" name="Hands-on experience in data operations">
            <a:extLst xmlns:a="http://schemas.openxmlformats.org/drawingml/2006/main">
              <a:ext uri="{FF2B5EF4-FFF2-40B4-BE49-F238E27FC236}">
                <a16:creationId xmlns:a16="http://schemas.microsoft.com/office/drawing/2014/main" id="{09D22863-CA91-4FF7-AF58-B6F7C241F6EF}"/>
              </a:ext>
            </a:extLst>
          </p:cNvPr>
          <p:cNvSpPr>
            <a:spLocks xmlns:a="http://schemas.openxmlformats.org/drawingml/2006/main" noGrp="1"/>
          </p:cNvSpPr>
          <p:nvPr/>
        </p:nvSpPr>
        <p:spPr>
          <a:xfrm xmlns:a="http://schemas.openxmlformats.org/drawingml/2006/main">
            <a:off x="552450" y="819150"/>
            <a:ext cx="11049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12139"/>
                </a:solidFill>
                <a:latin typeface="Segoe UI"/>
                <a:ea typeface="Segoe UI"/>
                <a:cs typeface="Segoe UI"/>
              </a:defRPr>
            </a:pPr>
            <a:r>
              <a:rPr sz="3300" b="1">
                <a:solidFill>
                  <a:srgbClr val="112139"/>
                </a:solidFill>
                <a:latin typeface="Segoe UI"/>
                <a:ea typeface="Segoe UI"/>
                <a:cs typeface="Segoe UI"/>
              </a:rPr>
              <a:t>Hands-on experience in data operations</a:t>
            </a:r>
          </a:p>
        </p:txBody>
      </p:sp>
      <p:sp>
        <p:nvSpPr>
          <p:cNvPr id="4" name="Data administration at the Ministry of Agricultu">
            <a:extLst xmlns:a="http://schemas.openxmlformats.org/drawingml/2006/main">
              <a:ext uri="{FF2B5EF4-FFF2-40B4-BE49-F238E27FC236}">
                <a16:creationId xmlns:a16="http://schemas.microsoft.com/office/drawing/2014/main" id="{70E4392F-5D38-44A5-A6A4-F29F342019D7}"/>
              </a:ext>
            </a:extLst>
          </p:cNvPr>
          <p:cNvSpPr>
            <a:spLocks xmlns:a="http://schemas.openxmlformats.org/drawingml/2006/main" noGrp="1"/>
          </p:cNvSpPr>
          <p:nvPr/>
        </p:nvSpPr>
        <p:spPr>
          <a:xfrm xmlns:a="http://schemas.openxmlformats.org/drawingml/2006/main">
            <a:off x="571500" y="14382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5B6B83"/>
                </a:solidFill>
                <a:latin typeface="Segoe UI"/>
                <a:ea typeface="Segoe UI"/>
                <a:cs typeface="Segoe UI"/>
              </a:defRPr>
            </a:pPr>
            <a:r>
              <a:rPr sz="1575" b="0">
                <a:solidFill>
                  <a:srgbClr val="5B6B83"/>
                </a:solidFill>
                <a:latin typeface="Segoe UI"/>
                <a:ea typeface="Segoe UI"/>
                <a:cs typeface="Segoe UI"/>
              </a:rPr>
              <a:t>Data administration at the Ministry of Agriculture, plus workplace operations experience</a:t>
            </a:r>
          </a:p>
        </p:txBody>
      </p:sp>
      <p:sp>
        <p:nvSpPr>
          <p:cNvPr id="5" name="">
            <a:extLst xmlns:a="http://schemas.openxmlformats.org/drawingml/2006/main">
              <a:ext uri="{FF2B5EF4-FFF2-40B4-BE49-F238E27FC236}">
                <a16:creationId xmlns:a16="http://schemas.microsoft.com/office/drawing/2014/main" id="{65AF4D1B-F0A1-43B8-9A11-F094FD0BF47F}"/>
              </a:ext>
            </a:extLst>
          </p:cNvPr>
          <p:cNvSpPr>
            <a:spLocks xmlns:a="http://schemas.openxmlformats.org/drawingml/2006/main" noGrp="1"/>
          </p:cNvSpPr>
          <p:nvPr/>
        </p:nvSpPr>
        <p:spPr>
          <a:xfrm xmlns:a="http://schemas.openxmlformats.org/drawingml/2006/main">
            <a:off x="571500" y="6496050"/>
            <a:ext cx="11049000" cy="0"/>
          </a:xfrm>
          <a:prstGeom xmlns:a="http://schemas.openxmlformats.org/drawingml/2006/main" prst="line">
            <a:avLst/>
          </a:prstGeom>
          <a:noFill xmlns:a="http://schemas.openxmlformats.org/drawingml/2006/main"/>
          <a:ln xmlns:a="http://schemas.openxmlformats.org/drawingml/2006/main" w="9525">
            <a:solidFill>
              <a:srgbClr val="DFE7F1"/>
            </a:solidFill>
          </a:ln>
        </p:spPr>
      </p:sp>
      <p:sp>
        <p:nvSpPr>
          <p:cNvPr id="6" name="DATA PORTFOLIO">
            <a:extLst xmlns:a="http://schemas.openxmlformats.org/drawingml/2006/main">
              <a:ext uri="{FF2B5EF4-FFF2-40B4-BE49-F238E27FC236}">
                <a16:creationId xmlns:a16="http://schemas.microsoft.com/office/drawing/2014/main" id="{F320B0BB-4C4B-4D75-9B3C-E46748A1F965}"/>
              </a:ext>
            </a:extLst>
          </p:cNvPr>
          <p:cNvSpPr>
            <a:spLocks xmlns:a="http://schemas.openxmlformats.org/drawingml/2006/main" noGrp="1"/>
          </p:cNvSpPr>
          <p:nvPr/>
        </p:nvSpPr>
        <p:spPr>
          <a:xfrm xmlns:a="http://schemas.openxmlformats.org/drawingml/2006/main">
            <a:off x="571500" y="6581775"/>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825" b="1">
                <a:solidFill>
                  <a:srgbClr val="5B6B83"/>
                </a:solidFill>
                <a:latin typeface="Segoe UI"/>
                <a:ea typeface="Segoe UI"/>
                <a:cs typeface="Segoe UI"/>
              </a:defRPr>
            </a:pPr>
            <a:r>
              <a:rPr sz="825" b="1">
                <a:solidFill>
                  <a:srgbClr val="5B6B83"/>
                </a:solidFill>
                <a:latin typeface="Segoe UI"/>
                <a:ea typeface="Segoe UI"/>
                <a:cs typeface="Segoe UI"/>
              </a:rPr>
              <a:t>DATA PORTFOLIO</a:t>
            </a:r>
          </a:p>
        </p:txBody>
      </p:sp>
      <p:sp>
        <p:nvSpPr>
          <p:cNvPr id="7" name="07">
            <a:extLst xmlns:a="http://schemas.openxmlformats.org/drawingml/2006/main">
              <a:ext uri="{FF2B5EF4-FFF2-40B4-BE49-F238E27FC236}">
                <a16:creationId xmlns:a16="http://schemas.microsoft.com/office/drawing/2014/main" id="{0A2CA2AF-A70D-4A56-A9B1-D5C972B24DCE}"/>
              </a:ext>
            </a:extLst>
          </p:cNvPr>
          <p:cNvSpPr>
            <a:spLocks xmlns:a="http://schemas.openxmlformats.org/drawingml/2006/main" noGrp="1"/>
          </p:cNvSpPr>
          <p:nvPr/>
        </p:nvSpPr>
        <p:spPr>
          <a:xfrm xmlns:a="http://schemas.openxmlformats.org/drawingml/2006/main">
            <a:off x="11106150" y="6562725"/>
            <a:ext cx="5143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1">
                <a:solidFill>
                  <a:srgbClr val="2463EB"/>
                </a:solidFill>
                <a:latin typeface="Segoe UI"/>
                <a:ea typeface="Segoe UI"/>
                <a:cs typeface="Segoe UI"/>
              </a:defRPr>
            </a:pPr>
            <a:r>
              <a:rPr sz="975" b="1">
                <a:solidFill>
                  <a:srgbClr val="2463EB"/>
                </a:solidFill>
                <a:latin typeface="Segoe UI"/>
                <a:ea typeface="Segoe UI"/>
                <a:cs typeface="Segoe UI"/>
              </a:rPr>
              <a:t>07</a:t>
            </a:r>
          </a:p>
        </p:txBody>
      </p:sp>
      <p:sp>
        <p:nvSpPr>
          <p:cNvPr id="8" name="">
            <a:extLst xmlns:a="http://schemas.openxmlformats.org/drawingml/2006/main">
              <a:ext uri="{FF2B5EF4-FFF2-40B4-BE49-F238E27FC236}">
                <a16:creationId xmlns:a16="http://schemas.microsoft.com/office/drawing/2014/main" id="{6700641E-9E00-4667-AC28-554895371B8A}"/>
              </a:ext>
            </a:extLst>
          </p:cNvPr>
          <p:cNvSpPr>
            <a:spLocks xmlns:a="http://schemas.openxmlformats.org/drawingml/2006/main" noGrp="1"/>
          </p:cNvSpPr>
          <p:nvPr/>
        </p:nvSpPr>
        <p:spPr>
          <a:xfrm xmlns:a="http://schemas.openxmlformats.org/drawingml/2006/main">
            <a:off x="571500" y="2095500"/>
            <a:ext cx="7629525" cy="4038600"/>
          </a:xfrm>
          <a:prstGeom xmlns:a="http://schemas.openxmlformats.org/drawingml/2006/main" prst="roundRect">
            <a:avLst>
              <a:gd name="adj" fmla="val 4717"/>
            </a:avLst>
          </a:prstGeom>
          <a:solidFill xmlns:a="http://schemas.openxmlformats.org/drawingml/2006/main">
            <a:srgbClr val="FFFFFF"/>
          </a:solidFill>
          <a:ln xmlns:a="http://schemas.openxmlformats.org/drawingml/2006/main" w="9525">
            <a:solidFill>
              <a:srgbClr val="DFE7F1"/>
            </a:solidFill>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2df33921dba64602"/>
          <a:stretch xmlns:a="http://schemas.openxmlformats.org/drawingml/2006/main"/>
        </p:blipFill>
        <p:spPr>
          <a:xfrm xmlns:a="http://schemas.openxmlformats.org/drawingml/2006/main">
            <a:off x="809625" y="2305050"/>
            <a:ext cx="381000" cy="381000"/>
          </a:xfrm>
          <a:prstGeom xmlns:a="http://schemas.openxmlformats.org/drawingml/2006/main" prst="rect">
            <a:avLst/>
          </a:prstGeom>
        </p:spPr>
      </p:pic>
      <p:sp>
        <p:nvSpPr>
          <p:cNvPr id="10" name="Kementerian Pertanian">
            <a:extLst xmlns:a="http://schemas.openxmlformats.org/drawingml/2006/main">
              <a:ext uri="{FF2B5EF4-FFF2-40B4-BE49-F238E27FC236}">
                <a16:creationId xmlns:a16="http://schemas.microsoft.com/office/drawing/2014/main" id="{9D744217-0196-407F-933F-7FDF5AD38E87}"/>
              </a:ext>
            </a:extLst>
          </p:cNvPr>
          <p:cNvSpPr>
            <a:spLocks xmlns:a="http://schemas.openxmlformats.org/drawingml/2006/main" noGrp="1"/>
          </p:cNvSpPr>
          <p:nvPr/>
        </p:nvSpPr>
        <p:spPr>
          <a:xfrm xmlns:a="http://schemas.openxmlformats.org/drawingml/2006/main">
            <a:off x="1352550" y="2266950"/>
            <a:ext cx="6429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12139"/>
                </a:solidFill>
                <a:latin typeface="Segoe UI"/>
                <a:ea typeface="Segoe UI"/>
                <a:cs typeface="Segoe UI"/>
              </a:defRPr>
            </a:pPr>
            <a:r>
              <a:rPr sz="2250" b="1">
                <a:solidFill>
                  <a:srgbClr val="112139"/>
                </a:solidFill>
                <a:latin typeface="Segoe UI"/>
                <a:ea typeface="Segoe UI"/>
                <a:cs typeface="Segoe UI"/>
              </a:rPr>
              <a:t>Kementerian Pertanian</a:t>
            </a:r>
          </a:p>
        </p:txBody>
      </p:sp>
      <p:sp>
        <p:nvSpPr>
          <p:cNvPr id="11" name="HOK PROGRAM / DATA OPERATIONS SUPPORT">
            <a:extLst xmlns:a="http://schemas.openxmlformats.org/drawingml/2006/main">
              <a:ext uri="{FF2B5EF4-FFF2-40B4-BE49-F238E27FC236}">
                <a16:creationId xmlns:a16="http://schemas.microsoft.com/office/drawing/2014/main" id="{F656C842-26B4-424C-957C-B5D9BBA287D5}"/>
              </a:ext>
            </a:extLst>
          </p:cNvPr>
          <p:cNvSpPr>
            <a:spLocks xmlns:a="http://schemas.openxmlformats.org/drawingml/2006/main" noGrp="1"/>
          </p:cNvSpPr>
          <p:nvPr/>
        </p:nvSpPr>
        <p:spPr>
          <a:xfrm xmlns:a="http://schemas.openxmlformats.org/drawingml/2006/main">
            <a:off x="1352550" y="2762250"/>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2463EB"/>
                </a:solidFill>
                <a:latin typeface="Segoe UI"/>
                <a:ea typeface="Segoe UI"/>
                <a:cs typeface="Segoe UI"/>
              </a:defRPr>
            </a:pPr>
            <a:r>
              <a:rPr sz="1050" b="1">
                <a:solidFill>
                  <a:srgbClr val="2463EB"/>
                </a:solidFill>
                <a:latin typeface="Segoe UI"/>
                <a:ea typeface="Segoe UI"/>
                <a:cs typeface="Segoe UI"/>
              </a:rPr>
              <a:t>HOK PROGRAM / DATA OPERATIONS SUPPORT</a:t>
            </a:r>
          </a:p>
        </p:txBody>
      </p:sp>
      <p:sp>
        <p:nvSpPr>
          <p:cNvPr id="12" name="Managed and processed sugarcane farmer records f">
            <a:extLst xmlns:a="http://schemas.openxmlformats.org/drawingml/2006/main">
              <a:ext uri="{FF2B5EF4-FFF2-40B4-BE49-F238E27FC236}">
                <a16:creationId xmlns:a16="http://schemas.microsoft.com/office/drawing/2014/main" id="{8636602E-DF28-470B-8F58-FD0FC537E4D3}"/>
              </a:ext>
            </a:extLst>
          </p:cNvPr>
          <p:cNvSpPr>
            <a:spLocks xmlns:a="http://schemas.openxmlformats.org/drawingml/2006/main" noGrp="1"/>
          </p:cNvSpPr>
          <p:nvPr/>
        </p:nvSpPr>
        <p:spPr>
          <a:xfrm xmlns:a="http://schemas.openxmlformats.org/drawingml/2006/main">
            <a:off x="809625" y="3286125"/>
            <a:ext cx="70675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12139"/>
                </a:solidFill>
                <a:latin typeface="Segoe UI"/>
                <a:ea typeface="Segoe UI"/>
                <a:cs typeface="Segoe UI"/>
              </a:defRPr>
            </a:pPr>
            <a:r>
              <a:rPr sz="1875" b="0">
                <a:solidFill>
                  <a:srgbClr val="112139"/>
                </a:solidFill>
                <a:latin typeface="Segoe UI"/>
                <a:ea typeface="Segoe UI"/>
                <a:cs typeface="Segoe UI"/>
              </a:rPr>
              <a:t>Managed and processed sugarcane farmer records</a:t>
            </a:r>
          </a:p>
          <a:p xmlns:a="http://schemas.openxmlformats.org/drawingml/2006/main">
            <a:pPr algn="l">
              <a:defRPr sz="1875" b="0">
                <a:solidFill>
                  <a:srgbClr val="112139"/>
                </a:solidFill>
                <a:latin typeface="Segoe UI"/>
                <a:ea typeface="Segoe UI"/>
                <a:cs typeface="Segoe UI"/>
              </a:defRPr>
            </a:pPr>
            <a:r>
              <a:rPr sz="1875" b="0">
                <a:solidFill>
                  <a:srgbClr val="112139"/>
                </a:solidFill>
                <a:latin typeface="Segoe UI"/>
                <a:ea typeface="Segoe UI"/>
                <a:cs typeface="Segoe UI"/>
              </a:rPr>
              <a:t>from multiple regions across Indonesia.</a:t>
            </a:r>
          </a:p>
        </p:txBody>
      </p:sp>
      <p:sp>
        <p:nvSpPr>
          <p:cNvPr id="13" name="">
            <a:extLst xmlns:a="http://schemas.openxmlformats.org/drawingml/2006/main">
              <a:ext uri="{FF2B5EF4-FFF2-40B4-BE49-F238E27FC236}">
                <a16:creationId xmlns:a16="http://schemas.microsoft.com/office/drawing/2014/main" id="{3E367552-99DE-4B29-A9EC-1B6ED23E4AE7}"/>
              </a:ext>
            </a:extLst>
          </p:cNvPr>
          <p:cNvSpPr>
            <a:spLocks xmlns:a="http://schemas.openxmlformats.org/drawingml/2006/main" noGrp="1"/>
          </p:cNvSpPr>
          <p:nvPr/>
        </p:nvSpPr>
        <p:spPr>
          <a:xfrm xmlns:a="http://schemas.openxmlformats.org/drawingml/2006/main">
            <a:off x="809625" y="4381500"/>
            <a:ext cx="1304925" cy="800100"/>
          </a:xfrm>
          <a:prstGeom xmlns:a="http://schemas.openxmlformats.org/drawingml/2006/main" prst="roundRect">
            <a:avLst>
              <a:gd name="adj" fmla="val 23810"/>
            </a:avLst>
          </a:prstGeom>
          <a:solidFill xmlns:a="http://schemas.openxmlformats.org/drawingml/2006/main">
            <a:srgbClr val="ECF3FF"/>
          </a:solidFill>
          <a:ln xmlns:a="http://schemas.openxmlformats.org/drawingml/2006/main" w="9525">
            <a:solidFill>
              <a:srgbClr val="DFE7F1"/>
            </a:solidFill>
          </a:ln>
        </p:spPr>
      </p:sp>
      <p:sp>
        <p:nvSpPr>
          <p:cNvPr id="14" name="Farmer Data">
            <a:extLst xmlns:a="http://schemas.openxmlformats.org/drawingml/2006/main">
              <a:ext uri="{FF2B5EF4-FFF2-40B4-BE49-F238E27FC236}">
                <a16:creationId xmlns:a16="http://schemas.microsoft.com/office/drawing/2014/main" id="{B46F38F0-CA33-4D50-BBFF-AB9CCF938C3E}"/>
              </a:ext>
            </a:extLst>
          </p:cNvPr>
          <p:cNvSpPr>
            <a:spLocks xmlns:a="http://schemas.openxmlformats.org/drawingml/2006/main" noGrp="1"/>
          </p:cNvSpPr>
          <p:nvPr/>
        </p:nvSpPr>
        <p:spPr>
          <a:xfrm xmlns:a="http://schemas.openxmlformats.org/drawingml/2006/main">
            <a:off x="923925" y="4552950"/>
            <a:ext cx="10953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112139"/>
                </a:solidFill>
                <a:latin typeface="Segoe UI"/>
                <a:ea typeface="Segoe UI"/>
                <a:cs typeface="Segoe UI"/>
              </a:defRPr>
            </a:pPr>
            <a:r>
              <a:rPr sz="1275" b="1">
                <a:solidFill>
                  <a:srgbClr val="112139"/>
                </a:solidFill>
                <a:latin typeface="Segoe UI"/>
                <a:ea typeface="Segoe UI"/>
                <a:cs typeface="Segoe UI"/>
              </a:rPr>
              <a:t>Farmer</a:t>
            </a:r>
          </a:p>
          <a:p xmlns:a="http://schemas.openxmlformats.org/drawingml/2006/main">
            <a:pPr algn="l">
              <a:defRPr sz="1275" b="1">
                <a:solidFill>
                  <a:srgbClr val="112139"/>
                </a:solidFill>
                <a:latin typeface="Segoe UI"/>
                <a:ea typeface="Segoe UI"/>
                <a:cs typeface="Segoe UI"/>
              </a:defRPr>
            </a:pPr>
            <a:r>
              <a:rPr sz="1275" b="1">
                <a:solidFill>
                  <a:srgbClr val="112139"/>
                </a:solidFill>
                <a:latin typeface="Segoe UI"/>
                <a:ea typeface="Segoe UI"/>
                <a:cs typeface="Segoe UI"/>
              </a:rPr>
              <a:t>Data</a:t>
            </a:r>
          </a:p>
        </p:txBody>
      </p:sp>
      <p:sp>
        <p:nvSpPr>
          <p:cNvPr id="15" name="">
            <a:extLst xmlns:a="http://schemas.openxmlformats.org/drawingml/2006/main">
              <a:ext uri="{FF2B5EF4-FFF2-40B4-BE49-F238E27FC236}">
                <a16:creationId xmlns:a16="http://schemas.microsoft.com/office/drawing/2014/main" id="{D8CAB81C-CD42-4FE9-A6EE-3EEA400E51F7}"/>
              </a:ext>
            </a:extLst>
          </p:cNvPr>
          <p:cNvSpPr>
            <a:spLocks xmlns:a="http://schemas.openxmlformats.org/drawingml/2006/main" noGrp="1"/>
          </p:cNvSpPr>
          <p:nvPr/>
        </p:nvSpPr>
        <p:spPr>
          <a:xfrm xmlns:a="http://schemas.openxmlformats.org/drawingml/2006/main">
            <a:off x="2257425" y="4381500"/>
            <a:ext cx="1304925" cy="800100"/>
          </a:xfrm>
          <a:prstGeom xmlns:a="http://schemas.openxmlformats.org/drawingml/2006/main" prst="roundRect">
            <a:avLst>
              <a:gd name="adj" fmla="val 23810"/>
            </a:avLst>
          </a:prstGeom>
          <a:solidFill xmlns:a="http://schemas.openxmlformats.org/drawingml/2006/main">
            <a:srgbClr val="ECF3FF"/>
          </a:solidFill>
          <a:ln xmlns:a="http://schemas.openxmlformats.org/drawingml/2006/main" w="9525">
            <a:solidFill>
              <a:srgbClr val="DFE7F1"/>
            </a:solidFill>
          </a:ln>
        </p:spPr>
      </p:sp>
      <p:sp>
        <p:nvSpPr>
          <p:cNvPr id="16" name="Data Validation">
            <a:extLst xmlns:a="http://schemas.openxmlformats.org/drawingml/2006/main">
              <a:ext uri="{FF2B5EF4-FFF2-40B4-BE49-F238E27FC236}">
                <a16:creationId xmlns:a16="http://schemas.microsoft.com/office/drawing/2014/main" id="{0148C968-3B52-4665-99AE-EF2F5ABAEDE2}"/>
              </a:ext>
            </a:extLst>
          </p:cNvPr>
          <p:cNvSpPr>
            <a:spLocks xmlns:a="http://schemas.openxmlformats.org/drawingml/2006/main" noGrp="1"/>
          </p:cNvSpPr>
          <p:nvPr/>
        </p:nvSpPr>
        <p:spPr>
          <a:xfrm xmlns:a="http://schemas.openxmlformats.org/drawingml/2006/main">
            <a:off x="2371725" y="4552950"/>
            <a:ext cx="10953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112139"/>
                </a:solidFill>
                <a:latin typeface="Segoe UI"/>
                <a:ea typeface="Segoe UI"/>
                <a:cs typeface="Segoe UI"/>
              </a:defRPr>
            </a:pPr>
            <a:r>
              <a:rPr sz="1275" b="1">
                <a:solidFill>
                  <a:srgbClr val="112139"/>
                </a:solidFill>
                <a:latin typeface="Segoe UI"/>
                <a:ea typeface="Segoe UI"/>
                <a:cs typeface="Segoe UI"/>
              </a:rPr>
              <a:t>Data</a:t>
            </a:r>
          </a:p>
          <a:p xmlns:a="http://schemas.openxmlformats.org/drawingml/2006/main">
            <a:pPr algn="l">
              <a:defRPr sz="1275" b="1">
                <a:solidFill>
                  <a:srgbClr val="112139"/>
                </a:solidFill>
                <a:latin typeface="Segoe UI"/>
                <a:ea typeface="Segoe UI"/>
                <a:cs typeface="Segoe UI"/>
              </a:defRPr>
            </a:pPr>
            <a:r>
              <a:rPr sz="1275" b="1">
                <a:solidFill>
                  <a:srgbClr val="112139"/>
                </a:solidFill>
                <a:latin typeface="Segoe UI"/>
                <a:ea typeface="Segoe UI"/>
                <a:cs typeface="Segoe UI"/>
              </a:rPr>
              <a:t>Validation</a:t>
            </a:r>
          </a:p>
        </p:txBody>
      </p:sp>
      <p:sp>
        <p:nvSpPr>
          <p:cNvPr id="17" name="">
            <a:extLst xmlns:a="http://schemas.openxmlformats.org/drawingml/2006/main">
              <a:ext uri="{FF2B5EF4-FFF2-40B4-BE49-F238E27FC236}">
                <a16:creationId xmlns:a16="http://schemas.microsoft.com/office/drawing/2014/main" id="{3F94B13E-BA40-4725-AFEC-1757FDAACEE2}"/>
              </a:ext>
            </a:extLst>
          </p:cNvPr>
          <p:cNvSpPr>
            <a:spLocks xmlns:a="http://schemas.openxmlformats.org/drawingml/2006/main" noGrp="1"/>
          </p:cNvSpPr>
          <p:nvPr/>
        </p:nvSpPr>
        <p:spPr>
          <a:xfrm xmlns:a="http://schemas.openxmlformats.org/drawingml/2006/main">
            <a:off x="3705225" y="4381500"/>
            <a:ext cx="1304925" cy="800100"/>
          </a:xfrm>
          <a:prstGeom xmlns:a="http://schemas.openxmlformats.org/drawingml/2006/main" prst="roundRect">
            <a:avLst>
              <a:gd name="adj" fmla="val 23810"/>
            </a:avLst>
          </a:prstGeom>
          <a:solidFill xmlns:a="http://schemas.openxmlformats.org/drawingml/2006/main">
            <a:srgbClr val="ECF3FF"/>
          </a:solidFill>
          <a:ln xmlns:a="http://schemas.openxmlformats.org/drawingml/2006/main" w="9525">
            <a:solidFill>
              <a:srgbClr val="DFE7F1"/>
            </a:solidFill>
          </a:ln>
        </p:spPr>
      </p:sp>
      <p:sp>
        <p:nvSpPr>
          <p:cNvPr id="18" name="Data Processing">
            <a:extLst xmlns:a="http://schemas.openxmlformats.org/drawingml/2006/main">
              <a:ext uri="{FF2B5EF4-FFF2-40B4-BE49-F238E27FC236}">
                <a16:creationId xmlns:a16="http://schemas.microsoft.com/office/drawing/2014/main" id="{7B601DD7-A175-4B4C-BB61-CB30CC09C6A7}"/>
              </a:ext>
            </a:extLst>
          </p:cNvPr>
          <p:cNvSpPr>
            <a:spLocks xmlns:a="http://schemas.openxmlformats.org/drawingml/2006/main" noGrp="1"/>
          </p:cNvSpPr>
          <p:nvPr/>
        </p:nvSpPr>
        <p:spPr>
          <a:xfrm xmlns:a="http://schemas.openxmlformats.org/drawingml/2006/main">
            <a:off x="3819525" y="4552950"/>
            <a:ext cx="10953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112139"/>
                </a:solidFill>
                <a:latin typeface="Segoe UI"/>
                <a:ea typeface="Segoe UI"/>
                <a:cs typeface="Segoe UI"/>
              </a:defRPr>
            </a:pPr>
            <a:r>
              <a:rPr sz="1275" b="1">
                <a:solidFill>
                  <a:srgbClr val="112139"/>
                </a:solidFill>
                <a:latin typeface="Segoe UI"/>
                <a:ea typeface="Segoe UI"/>
                <a:cs typeface="Segoe UI"/>
              </a:rPr>
              <a:t>Data</a:t>
            </a:r>
          </a:p>
          <a:p xmlns:a="http://schemas.openxmlformats.org/drawingml/2006/main">
            <a:pPr algn="l">
              <a:defRPr sz="1275" b="1">
                <a:solidFill>
                  <a:srgbClr val="112139"/>
                </a:solidFill>
                <a:latin typeface="Segoe UI"/>
                <a:ea typeface="Segoe UI"/>
                <a:cs typeface="Segoe UI"/>
              </a:defRPr>
            </a:pPr>
            <a:r>
              <a:rPr sz="1275" b="1">
                <a:solidFill>
                  <a:srgbClr val="112139"/>
                </a:solidFill>
                <a:latin typeface="Segoe UI"/>
                <a:ea typeface="Segoe UI"/>
                <a:cs typeface="Segoe UI"/>
              </a:rPr>
              <a:t>Processing</a:t>
            </a:r>
          </a:p>
        </p:txBody>
      </p:sp>
      <p:sp>
        <p:nvSpPr>
          <p:cNvPr id="19" name="">
            <a:extLst xmlns:a="http://schemas.openxmlformats.org/drawingml/2006/main">
              <a:ext uri="{FF2B5EF4-FFF2-40B4-BE49-F238E27FC236}">
                <a16:creationId xmlns:a16="http://schemas.microsoft.com/office/drawing/2014/main" id="{93F95F55-B44D-4B4B-B713-70709F22176C}"/>
              </a:ext>
            </a:extLst>
          </p:cNvPr>
          <p:cNvSpPr>
            <a:spLocks xmlns:a="http://schemas.openxmlformats.org/drawingml/2006/main" noGrp="1"/>
          </p:cNvSpPr>
          <p:nvPr/>
        </p:nvSpPr>
        <p:spPr>
          <a:xfrm xmlns:a="http://schemas.openxmlformats.org/drawingml/2006/main">
            <a:off x="5153025" y="4381500"/>
            <a:ext cx="1304925" cy="800100"/>
          </a:xfrm>
          <a:prstGeom xmlns:a="http://schemas.openxmlformats.org/drawingml/2006/main" prst="roundRect">
            <a:avLst>
              <a:gd name="adj" fmla="val 23810"/>
            </a:avLst>
          </a:prstGeom>
          <a:solidFill xmlns:a="http://schemas.openxmlformats.org/drawingml/2006/main">
            <a:srgbClr val="ECF3FF"/>
          </a:solidFill>
          <a:ln xmlns:a="http://schemas.openxmlformats.org/drawingml/2006/main" w="9525">
            <a:solidFill>
              <a:srgbClr val="DFE7F1"/>
            </a:solidFill>
          </a:ln>
        </p:spPr>
      </p:sp>
      <p:sp>
        <p:nvSpPr>
          <p:cNvPr id="20" name="Verification">
            <a:extLst xmlns:a="http://schemas.openxmlformats.org/drawingml/2006/main">
              <a:ext uri="{FF2B5EF4-FFF2-40B4-BE49-F238E27FC236}">
                <a16:creationId xmlns:a16="http://schemas.microsoft.com/office/drawing/2014/main" id="{D2491301-54FD-4007-B757-BFBCF613400D}"/>
              </a:ext>
            </a:extLst>
          </p:cNvPr>
          <p:cNvSpPr>
            <a:spLocks xmlns:a="http://schemas.openxmlformats.org/drawingml/2006/main" noGrp="1"/>
          </p:cNvSpPr>
          <p:nvPr/>
        </p:nvSpPr>
        <p:spPr>
          <a:xfrm xmlns:a="http://schemas.openxmlformats.org/drawingml/2006/main">
            <a:off x="5267325" y="4552950"/>
            <a:ext cx="10953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112139"/>
                </a:solidFill>
                <a:latin typeface="Segoe UI"/>
                <a:ea typeface="Segoe UI"/>
                <a:cs typeface="Segoe UI"/>
              </a:defRPr>
            </a:pPr>
            <a:r>
              <a:rPr sz="1275" b="1">
                <a:solidFill>
                  <a:srgbClr val="112139"/>
                </a:solidFill>
                <a:latin typeface="Segoe UI"/>
                <a:ea typeface="Segoe UI"/>
                <a:cs typeface="Segoe UI"/>
              </a:rPr>
              <a:t>Verification</a:t>
            </a:r>
          </a:p>
        </p:txBody>
      </p:sp>
      <p:sp>
        <p:nvSpPr>
          <p:cNvPr id="21" name="">
            <a:extLst xmlns:a="http://schemas.openxmlformats.org/drawingml/2006/main">
              <a:ext uri="{FF2B5EF4-FFF2-40B4-BE49-F238E27FC236}">
                <a16:creationId xmlns:a16="http://schemas.microsoft.com/office/drawing/2014/main" id="{437D8B2C-FB2D-4324-B21E-80A2DEA6FFD6}"/>
              </a:ext>
            </a:extLst>
          </p:cNvPr>
          <p:cNvSpPr>
            <a:spLocks xmlns:a="http://schemas.openxmlformats.org/drawingml/2006/main" noGrp="1"/>
          </p:cNvSpPr>
          <p:nvPr/>
        </p:nvSpPr>
        <p:spPr>
          <a:xfrm xmlns:a="http://schemas.openxmlformats.org/drawingml/2006/main">
            <a:off x="6600825" y="4381500"/>
            <a:ext cx="1304925" cy="800100"/>
          </a:xfrm>
          <a:prstGeom xmlns:a="http://schemas.openxmlformats.org/drawingml/2006/main" prst="roundRect">
            <a:avLst>
              <a:gd name="adj" fmla="val 23810"/>
            </a:avLst>
          </a:prstGeom>
          <a:solidFill xmlns:a="http://schemas.openxmlformats.org/drawingml/2006/main">
            <a:srgbClr val="ECF8F8"/>
          </a:solidFill>
          <a:ln xmlns:a="http://schemas.openxmlformats.org/drawingml/2006/main" w="9525">
            <a:solidFill>
              <a:srgbClr val="DFE7F1"/>
            </a:solidFill>
          </a:ln>
        </p:spPr>
      </p:sp>
      <p:sp>
        <p:nvSpPr>
          <p:cNvPr id="22" name="Fund Disbursement">
            <a:extLst xmlns:a="http://schemas.openxmlformats.org/drawingml/2006/main">
              <a:ext uri="{FF2B5EF4-FFF2-40B4-BE49-F238E27FC236}">
                <a16:creationId xmlns:a16="http://schemas.microsoft.com/office/drawing/2014/main" id="{5D62D6D8-4DD2-4AEF-8F6B-536E7BE7B814}"/>
              </a:ext>
            </a:extLst>
          </p:cNvPr>
          <p:cNvSpPr>
            <a:spLocks xmlns:a="http://schemas.openxmlformats.org/drawingml/2006/main" noGrp="1"/>
          </p:cNvSpPr>
          <p:nvPr/>
        </p:nvSpPr>
        <p:spPr>
          <a:xfrm xmlns:a="http://schemas.openxmlformats.org/drawingml/2006/main">
            <a:off x="6715125" y="4552950"/>
            <a:ext cx="10953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019CAC"/>
                </a:solidFill>
                <a:latin typeface="Segoe UI"/>
                <a:ea typeface="Segoe UI"/>
                <a:cs typeface="Segoe UI"/>
              </a:defRPr>
            </a:pPr>
            <a:r>
              <a:rPr sz="1275" b="1">
                <a:solidFill>
                  <a:srgbClr val="019CAC"/>
                </a:solidFill>
                <a:latin typeface="Segoe UI"/>
                <a:ea typeface="Segoe UI"/>
                <a:cs typeface="Segoe UI"/>
              </a:rPr>
              <a:t>Fund</a:t>
            </a:r>
          </a:p>
          <a:p xmlns:a="http://schemas.openxmlformats.org/drawingml/2006/main">
            <a:pPr algn="l">
              <a:defRPr sz="1275" b="1">
                <a:solidFill>
                  <a:srgbClr val="019CAC"/>
                </a:solidFill>
                <a:latin typeface="Segoe UI"/>
                <a:ea typeface="Segoe UI"/>
                <a:cs typeface="Segoe UI"/>
              </a:defRPr>
            </a:pPr>
            <a:r>
              <a:rPr sz="1275" b="1">
                <a:solidFill>
                  <a:srgbClr val="019CAC"/>
                </a:solidFill>
                <a:latin typeface="Segoe UI"/>
                <a:ea typeface="Segoe UI"/>
                <a:cs typeface="Segoe UI"/>
              </a:rPr>
              <a:t>Disbursement</a:t>
            </a:r>
          </a:p>
        </p:txBody>
      </p:sp>
      <p:sp>
        <p:nvSpPr>
          <p:cNvPr id="23" name="">
            <a:extLst xmlns:a="http://schemas.openxmlformats.org/drawingml/2006/main">
              <a:ext uri="{FF2B5EF4-FFF2-40B4-BE49-F238E27FC236}">
                <a16:creationId xmlns:a16="http://schemas.microsoft.com/office/drawing/2014/main" id="{5E063C79-45E8-4C7A-AD93-DBB2B9B8F0C7}"/>
              </a:ext>
            </a:extLst>
          </p:cNvPr>
          <p:cNvSpPr>
            <a:spLocks xmlns:a="http://schemas.openxmlformats.org/drawingml/2006/main" noGrp="1"/>
          </p:cNvSpPr>
          <p:nvPr/>
        </p:nvSpPr>
        <p:spPr>
          <a:xfrm xmlns:a="http://schemas.openxmlformats.org/drawingml/2006/main">
            <a:off x="2124075" y="4733925"/>
            <a:ext cx="114300" cy="95250"/>
          </a:xfrm>
          <a:prstGeom xmlns:a="http://schemas.openxmlformats.org/drawingml/2006/main" prst="rightArrow">
            <a:avLst/>
          </a:prstGeom>
          <a:solidFill xmlns:a="http://schemas.openxmlformats.org/drawingml/2006/main">
            <a:srgbClr val="2463EB"/>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36A034B4-D6DE-4EBA-9421-7AF58C9BE66C}"/>
              </a:ext>
            </a:extLst>
          </p:cNvPr>
          <p:cNvSpPr>
            <a:spLocks xmlns:a="http://schemas.openxmlformats.org/drawingml/2006/main" noGrp="1"/>
          </p:cNvSpPr>
          <p:nvPr/>
        </p:nvSpPr>
        <p:spPr>
          <a:xfrm xmlns:a="http://schemas.openxmlformats.org/drawingml/2006/main">
            <a:off x="3571875" y="4733925"/>
            <a:ext cx="114300" cy="95250"/>
          </a:xfrm>
          <a:prstGeom xmlns:a="http://schemas.openxmlformats.org/drawingml/2006/main" prst="rightArrow">
            <a:avLst/>
          </a:prstGeom>
          <a:solidFill xmlns:a="http://schemas.openxmlformats.org/drawingml/2006/main">
            <a:srgbClr val="2463EB"/>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C3B76D6A-3987-43BF-9C6B-E3A06CB2ADDD}"/>
              </a:ext>
            </a:extLst>
          </p:cNvPr>
          <p:cNvSpPr>
            <a:spLocks xmlns:a="http://schemas.openxmlformats.org/drawingml/2006/main" noGrp="1"/>
          </p:cNvSpPr>
          <p:nvPr/>
        </p:nvSpPr>
        <p:spPr>
          <a:xfrm xmlns:a="http://schemas.openxmlformats.org/drawingml/2006/main">
            <a:off x="5019675" y="4733925"/>
            <a:ext cx="114300" cy="95250"/>
          </a:xfrm>
          <a:prstGeom xmlns:a="http://schemas.openxmlformats.org/drawingml/2006/main" prst="rightArrow">
            <a:avLst/>
          </a:prstGeom>
          <a:solidFill xmlns:a="http://schemas.openxmlformats.org/drawingml/2006/main">
            <a:srgbClr val="2463EB"/>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F784EF60-5B81-4B08-BCC9-5857BAA43284}"/>
              </a:ext>
            </a:extLst>
          </p:cNvPr>
          <p:cNvSpPr>
            <a:spLocks xmlns:a="http://schemas.openxmlformats.org/drawingml/2006/main" noGrp="1"/>
          </p:cNvSpPr>
          <p:nvPr/>
        </p:nvSpPr>
        <p:spPr>
          <a:xfrm xmlns:a="http://schemas.openxmlformats.org/drawingml/2006/main">
            <a:off x="6467475" y="4733925"/>
            <a:ext cx="114300" cy="95250"/>
          </a:xfrm>
          <a:prstGeom xmlns:a="http://schemas.openxmlformats.org/drawingml/2006/main" prst="rightArrow">
            <a:avLst/>
          </a:prstGeom>
          <a:solidFill xmlns:a="http://schemas.openxmlformats.org/drawingml/2006/main">
            <a:srgbClr val="2463EB"/>
          </a:solidFill>
          <a:ln xmlns:a="http://schemas.openxmlformats.org/drawingml/2006/main" w="0">
            <a:noFill/>
          </a:ln>
        </p:spPr>
      </p:sp>
      <p:sp>
        <p:nvSpPr>
          <p:cNvPr id="27" name="Supported validation and processing through the ">
            <a:extLst xmlns:a="http://schemas.openxmlformats.org/drawingml/2006/main">
              <a:ext uri="{FF2B5EF4-FFF2-40B4-BE49-F238E27FC236}">
                <a16:creationId xmlns:a16="http://schemas.microsoft.com/office/drawing/2014/main" id="{8965F4EF-5952-48B3-8AB6-E5A6E5EE212A}"/>
              </a:ext>
            </a:extLst>
          </p:cNvPr>
          <p:cNvSpPr>
            <a:spLocks xmlns:a="http://schemas.openxmlformats.org/drawingml/2006/main" noGrp="1"/>
          </p:cNvSpPr>
          <p:nvPr/>
        </p:nvSpPr>
        <p:spPr>
          <a:xfrm xmlns:a="http://schemas.openxmlformats.org/drawingml/2006/main">
            <a:off x="809625" y="5476875"/>
            <a:ext cx="7067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B6B83"/>
                </a:solidFill>
                <a:latin typeface="Segoe UI"/>
                <a:ea typeface="Segoe UI"/>
                <a:cs typeface="Segoe UI"/>
              </a:defRPr>
            </a:pPr>
            <a:r>
              <a:rPr sz="1425" b="0">
                <a:solidFill>
                  <a:srgbClr val="5B6B83"/>
                </a:solidFill>
                <a:latin typeface="Segoe UI"/>
                <a:ea typeface="Segoe UI"/>
                <a:cs typeface="Segoe UI"/>
              </a:rPr>
              <a:t>Supported validation and processing through the Ministry’s system,</a:t>
            </a:r>
          </a:p>
          <a:p xmlns:a="http://schemas.openxmlformats.org/drawingml/2006/main">
            <a:pPr algn="l">
              <a:defRPr sz="1425" b="0">
                <a:solidFill>
                  <a:srgbClr val="5B6B83"/>
                </a:solidFill>
                <a:latin typeface="Segoe UI"/>
                <a:ea typeface="Segoe UI"/>
                <a:cs typeface="Segoe UI"/>
              </a:defRPr>
            </a:pPr>
            <a:r>
              <a:rPr sz="1425" b="0">
                <a:solidFill>
                  <a:srgbClr val="5B6B83"/>
                </a:solidFill>
                <a:latin typeface="Segoe UI"/>
                <a:ea typeface="Segoe UI"/>
                <a:cs typeface="Segoe UI"/>
              </a:rPr>
              <a:t>helping records progress toward fund disbursement.</a:t>
            </a:r>
          </a:p>
        </p:txBody>
      </p:sp>
      <p:sp>
        <p:nvSpPr>
          <p:cNvPr id="28" name="">
            <a:extLst xmlns:a="http://schemas.openxmlformats.org/drawingml/2006/main">
              <a:ext uri="{FF2B5EF4-FFF2-40B4-BE49-F238E27FC236}">
                <a16:creationId xmlns:a16="http://schemas.microsoft.com/office/drawing/2014/main" id="{FE3E9919-B757-4C7D-ADFE-967C9F7D059B}"/>
              </a:ext>
            </a:extLst>
          </p:cNvPr>
          <p:cNvSpPr>
            <a:spLocks xmlns:a="http://schemas.openxmlformats.org/drawingml/2006/main" noGrp="1"/>
          </p:cNvSpPr>
          <p:nvPr/>
        </p:nvSpPr>
        <p:spPr>
          <a:xfrm xmlns:a="http://schemas.openxmlformats.org/drawingml/2006/main">
            <a:off x="8477250" y="2095500"/>
            <a:ext cx="3143250" cy="4038600"/>
          </a:xfrm>
          <a:prstGeom xmlns:a="http://schemas.openxmlformats.org/drawingml/2006/main" prst="roundRect">
            <a:avLst>
              <a:gd name="adj" fmla="val 6061"/>
            </a:avLst>
          </a:prstGeom>
          <a:solidFill xmlns:a="http://schemas.openxmlformats.org/drawingml/2006/main">
            <a:srgbClr val="ECF3FF"/>
          </a:solidFill>
          <a:ln xmlns:a="http://schemas.openxmlformats.org/drawingml/2006/main" w="9525">
            <a:solidFill>
              <a:srgbClr val="DFE7F1"/>
            </a:solidFill>
          </a:ln>
        </p:spPr>
      </p:sp>
      <p:pic>
        <p:nvPicPr>
          <p:cNvPr id="63" name=""/>
          <p:cNvPicPr>
            <a:picLocks xmlns:a="http://schemas.openxmlformats.org/drawingml/2006/main" noChangeAspect="1"/>
          </p:cNvPicPr>
          <p:nvPr/>
        </p:nvPicPr>
        <p:blipFill>
          <a:blip xmlns:r="http://schemas.openxmlformats.org/officeDocument/2006/relationships" xmlns:a="http://schemas.openxmlformats.org/drawingml/2006/main" r:embed="R1528223f3ab14a38"/>
          <a:stretch xmlns:a="http://schemas.openxmlformats.org/drawingml/2006/main"/>
        </p:blipFill>
        <p:spPr>
          <a:xfrm xmlns:a="http://schemas.openxmlformats.org/drawingml/2006/main">
            <a:off x="8705850" y="2305050"/>
            <a:ext cx="371475" cy="371475"/>
          </a:xfrm>
          <a:prstGeom xmlns:a="http://schemas.openxmlformats.org/drawingml/2006/main" prst="rect">
            <a:avLst/>
          </a:prstGeom>
        </p:spPr>
      </p:pic>
      <p:sp>
        <p:nvSpPr>
          <p:cNvPr id="30" name="PT Palapa Alta Utama">
            <a:extLst xmlns:a="http://schemas.openxmlformats.org/drawingml/2006/main">
              <a:ext uri="{FF2B5EF4-FFF2-40B4-BE49-F238E27FC236}">
                <a16:creationId xmlns:a16="http://schemas.microsoft.com/office/drawing/2014/main" id="{B0D622E2-0746-4E75-8489-CC6A6CE8E842}"/>
              </a:ext>
            </a:extLst>
          </p:cNvPr>
          <p:cNvSpPr>
            <a:spLocks xmlns:a="http://schemas.openxmlformats.org/drawingml/2006/main" noGrp="1"/>
          </p:cNvSpPr>
          <p:nvPr/>
        </p:nvSpPr>
        <p:spPr>
          <a:xfrm xmlns:a="http://schemas.openxmlformats.org/drawingml/2006/main">
            <a:off x="8705850" y="2876550"/>
            <a:ext cx="26860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12139"/>
                </a:solidFill>
                <a:latin typeface="Segoe UI"/>
                <a:ea typeface="Segoe UI"/>
                <a:cs typeface="Segoe UI"/>
              </a:defRPr>
            </a:pPr>
            <a:r>
              <a:rPr sz="2175" b="1">
                <a:solidFill>
                  <a:srgbClr val="112139"/>
                </a:solidFill>
                <a:latin typeface="Segoe UI"/>
                <a:ea typeface="Segoe UI"/>
                <a:cs typeface="Segoe UI"/>
              </a:rPr>
              <a:t>PT Palapa</a:t>
            </a:r>
          </a:p>
          <a:p xmlns:a="http://schemas.openxmlformats.org/drawingml/2006/main">
            <a:pPr algn="l">
              <a:defRPr sz="2175" b="1">
                <a:solidFill>
                  <a:srgbClr val="112139"/>
                </a:solidFill>
                <a:latin typeface="Segoe UI"/>
                <a:ea typeface="Segoe UI"/>
                <a:cs typeface="Segoe UI"/>
              </a:defRPr>
            </a:pPr>
            <a:r>
              <a:rPr sz="2175" b="1">
                <a:solidFill>
                  <a:srgbClr val="112139"/>
                </a:solidFill>
                <a:latin typeface="Segoe UI"/>
                <a:ea typeface="Segoe UI"/>
                <a:cs typeface="Segoe UI"/>
              </a:rPr>
              <a:t>Alta Utama</a:t>
            </a:r>
          </a:p>
        </p:txBody>
      </p:sp>
      <p:sp>
        <p:nvSpPr>
          <p:cNvPr id="31" name="VOCATIONAL SCHOOL INTERNSHIP">
            <a:extLst xmlns:a="http://schemas.openxmlformats.org/drawingml/2006/main">
              <a:ext uri="{FF2B5EF4-FFF2-40B4-BE49-F238E27FC236}">
                <a16:creationId xmlns:a16="http://schemas.microsoft.com/office/drawing/2014/main" id="{445E6EB3-4C6D-49AC-AA05-346D7E5578F2}"/>
              </a:ext>
            </a:extLst>
          </p:cNvPr>
          <p:cNvSpPr>
            <a:spLocks xmlns:a="http://schemas.openxmlformats.org/drawingml/2006/main" noGrp="1"/>
          </p:cNvSpPr>
          <p:nvPr/>
        </p:nvSpPr>
        <p:spPr>
          <a:xfrm xmlns:a="http://schemas.openxmlformats.org/drawingml/2006/main">
            <a:off x="8705850" y="3819525"/>
            <a:ext cx="2686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2463EB"/>
                </a:solidFill>
                <a:latin typeface="Segoe UI"/>
                <a:ea typeface="Segoe UI"/>
                <a:cs typeface="Segoe UI"/>
              </a:defRPr>
            </a:pPr>
            <a:r>
              <a:rPr sz="1050" b="1">
                <a:solidFill>
                  <a:srgbClr val="2463EB"/>
                </a:solidFill>
                <a:latin typeface="Segoe UI"/>
                <a:ea typeface="Segoe UI"/>
                <a:cs typeface="Segoe UI"/>
              </a:rPr>
              <a:t>VOCATIONAL SCHOOL INTERNSHIP</a:t>
            </a:r>
          </a:p>
        </p:txBody>
      </p:sp>
      <p:sp>
        <p:nvSpPr>
          <p:cNvPr id="32" name="Managed e-commerce operations.">
            <a:extLst xmlns:a="http://schemas.openxmlformats.org/drawingml/2006/main">
              <a:ext uri="{FF2B5EF4-FFF2-40B4-BE49-F238E27FC236}">
                <a16:creationId xmlns:a16="http://schemas.microsoft.com/office/drawing/2014/main" id="{868B4761-764F-4D59-881D-C725096E6F76}"/>
              </a:ext>
            </a:extLst>
          </p:cNvPr>
          <p:cNvSpPr>
            <a:spLocks xmlns:a="http://schemas.openxmlformats.org/drawingml/2006/main" noGrp="1"/>
          </p:cNvSpPr>
          <p:nvPr/>
        </p:nvSpPr>
        <p:spPr>
          <a:xfrm xmlns:a="http://schemas.openxmlformats.org/drawingml/2006/main">
            <a:off x="8705850" y="4295775"/>
            <a:ext cx="26860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112139"/>
                </a:solidFill>
                <a:latin typeface="Segoe UI"/>
                <a:ea typeface="Segoe UI"/>
                <a:cs typeface="Segoe UI"/>
              </a:defRPr>
            </a:pPr>
            <a:r>
              <a:rPr sz="1725" b="0">
                <a:solidFill>
                  <a:srgbClr val="112139"/>
                </a:solidFill>
                <a:latin typeface="Segoe UI"/>
                <a:ea typeface="Segoe UI"/>
                <a:cs typeface="Segoe UI"/>
              </a:rPr>
              <a:t>Managed e-commerce</a:t>
            </a:r>
          </a:p>
          <a:p xmlns:a="http://schemas.openxmlformats.org/drawingml/2006/main">
            <a:pPr algn="l">
              <a:defRPr sz="1725" b="0">
                <a:solidFill>
                  <a:srgbClr val="112139"/>
                </a:solidFill>
                <a:latin typeface="Segoe UI"/>
                <a:ea typeface="Segoe UI"/>
                <a:cs typeface="Segoe UI"/>
              </a:defRPr>
            </a:pPr>
            <a:r>
              <a:rPr sz="1725" b="0">
                <a:solidFill>
                  <a:srgbClr val="112139"/>
                </a:solidFill>
                <a:latin typeface="Segoe UI"/>
                <a:ea typeface="Segoe UI"/>
                <a:cs typeface="Segoe UI"/>
              </a:rPr>
              <a:t>operations.</a:t>
            </a:r>
          </a:p>
        </p:txBody>
      </p:sp>
      <p:sp>
        <p:nvSpPr>
          <p:cNvPr id="33" name="">
            <a:extLst xmlns:a="http://schemas.openxmlformats.org/drawingml/2006/main">
              <a:ext uri="{FF2B5EF4-FFF2-40B4-BE49-F238E27FC236}">
                <a16:creationId xmlns:a16="http://schemas.microsoft.com/office/drawing/2014/main" id="{E5DE312A-CFE7-4F09-B38A-031758C35A40}"/>
              </a:ext>
            </a:extLst>
          </p:cNvPr>
          <p:cNvSpPr>
            <a:spLocks xmlns:a="http://schemas.openxmlformats.org/drawingml/2006/main" noGrp="1"/>
          </p:cNvSpPr>
          <p:nvPr/>
        </p:nvSpPr>
        <p:spPr>
          <a:xfrm xmlns:a="http://schemas.openxmlformats.org/drawingml/2006/main">
            <a:off x="8705850" y="5114925"/>
            <a:ext cx="2686050" cy="0"/>
          </a:xfrm>
          <a:prstGeom xmlns:a="http://schemas.openxmlformats.org/drawingml/2006/main" prst="line">
            <a:avLst/>
          </a:prstGeom>
          <a:noFill xmlns:a="http://schemas.openxmlformats.org/drawingml/2006/main"/>
          <a:ln xmlns:a="http://schemas.openxmlformats.org/drawingml/2006/main" w="9525">
            <a:solidFill>
              <a:srgbClr val="DFE7F1"/>
            </a:solidFill>
          </a:ln>
        </p:spPr>
      </p:sp>
      <p:sp>
        <p:nvSpPr>
          <p:cNvPr id="34" name="Helped configure network printing on employee PC">
            <a:extLst xmlns:a="http://schemas.openxmlformats.org/drawingml/2006/main">
              <a:ext uri="{FF2B5EF4-FFF2-40B4-BE49-F238E27FC236}">
                <a16:creationId xmlns:a16="http://schemas.microsoft.com/office/drawing/2014/main" id="{C3572F49-AA80-4F81-BF31-24CD8464CC05}"/>
              </a:ext>
            </a:extLst>
          </p:cNvPr>
          <p:cNvSpPr>
            <a:spLocks xmlns:a="http://schemas.openxmlformats.org/drawingml/2006/main" noGrp="1"/>
          </p:cNvSpPr>
          <p:nvPr/>
        </p:nvSpPr>
        <p:spPr>
          <a:xfrm xmlns:a="http://schemas.openxmlformats.org/drawingml/2006/main">
            <a:off x="8705850" y="5372100"/>
            <a:ext cx="26860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B6B83"/>
                </a:solidFill>
                <a:latin typeface="Segoe UI"/>
                <a:ea typeface="Segoe UI"/>
                <a:cs typeface="Segoe UI"/>
              </a:defRPr>
            </a:pPr>
            <a:r>
              <a:rPr sz="1650" b="0">
                <a:solidFill>
                  <a:srgbClr val="5B6B83"/>
                </a:solidFill>
                <a:latin typeface="Segoe UI"/>
                <a:ea typeface="Segoe UI"/>
                <a:cs typeface="Segoe UI"/>
              </a:rPr>
              <a:t>Helped configure network</a:t>
            </a:r>
          </a:p>
          <a:p xmlns:a="http://schemas.openxmlformats.org/drawingml/2006/main">
            <a:pPr algn="l">
              <a:defRPr sz="1650" b="0">
                <a:solidFill>
                  <a:srgbClr val="5B6B83"/>
                </a:solidFill>
                <a:latin typeface="Segoe UI"/>
                <a:ea typeface="Segoe UI"/>
                <a:cs typeface="Segoe UI"/>
              </a:defRPr>
            </a:pPr>
            <a:r>
              <a:rPr sz="1650" b="0">
                <a:solidFill>
                  <a:srgbClr val="5B6B83"/>
                </a:solidFill>
                <a:latin typeface="Segoe UI"/>
                <a:ea typeface="Segoe UI"/>
                <a:cs typeface="Segoe UI"/>
              </a:rPr>
              <a:t>printing on employee PCs.</a:t>
            </a:r>
          </a:p>
        </p:txBody>
      </p:sp>
    </p:spTree>
    <p:extLst>
      <p:ext uri="{BB962C8B-B14F-4D97-AF65-F5344CB8AC3E}">
        <p14:creationId xmlns:p14="http://schemas.microsoft.com/office/powerpoint/2010/main" val="162613060"/>
      </p:ext>
    </p:extLst>
  </p:cSld>
</p:sld>
</file>

<file path=ppt/slides/slide8.xml><?xml version="1.0" encoding="utf-8"?>
<p:sld xmlns:p="http://schemas.openxmlformats.org/presentationml/2006/main">
  <p:cSld>
    <p:bg>
      <p:bgPr>
        <a:solidFill xmlns:a="http://schemas.openxmlformats.org/drawingml/2006/main">
          <a:srgbClr val="F9FBFE"/>
        </a:solidFill>
      </p:bgPr>
    </p:bg>
    <p:spTree>
      <p:nvGrpSpPr>
        <p:cNvPr id="1" name=""/>
        <p:cNvGrpSpPr/>
        <p:nvPr/>
      </p:nvGrpSpPr>
      <p:grpSpPr>
        <a:xfrm xmlns:a="http://schemas.openxmlformats.org/drawingml/2006/main"/>
      </p:grpSpPr>
      <p:sp>
        <p:nvSpPr>
          <p:cNvPr id="41" name="WORKING STYLE">
            <a:extLst xmlns:a="http://schemas.openxmlformats.org/drawingml/2006/main">
              <a:ext uri="{FF2B5EF4-FFF2-40B4-BE49-F238E27FC236}">
                <a16:creationId xmlns:a16="http://schemas.microsoft.com/office/drawing/2014/main" id="{603766F0-8AC2-4DD9-9EF6-D423C2B24EA9}"/>
              </a:ext>
            </a:extLst>
          </p:cNvPr>
          <p:cNvSpPr>
            <a:spLocks xmlns:a="http://schemas.openxmlformats.org/drawingml/2006/main" noGrp="1"/>
          </p:cNvSpPr>
          <p:nvPr/>
        </p:nvSpPr>
        <p:spPr>
          <a:xfrm xmlns:a="http://schemas.openxmlformats.org/drawingml/2006/main">
            <a:off x="571500" y="304800"/>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2463EB"/>
                </a:solidFill>
                <a:latin typeface="Segoe UI"/>
                <a:ea typeface="Segoe UI"/>
                <a:cs typeface="Segoe UI"/>
              </a:defRPr>
            </a:pPr>
            <a:r>
              <a:rPr sz="1050" b="1">
                <a:solidFill>
                  <a:srgbClr val="2463EB"/>
                </a:solidFill>
                <a:latin typeface="Segoe UI"/>
                <a:ea typeface="Segoe UI"/>
                <a:cs typeface="Segoe UI"/>
              </a:rPr>
              <a:t>WORKING STYLE</a:t>
            </a:r>
          </a:p>
        </p:txBody>
      </p:sp>
      <p:sp>
        <p:nvSpPr>
          <p:cNvPr id="2" name="REVALDY ARRAHMAN">
            <a:extLst xmlns:a="http://schemas.openxmlformats.org/drawingml/2006/main">
              <a:ext uri="{FF2B5EF4-FFF2-40B4-BE49-F238E27FC236}">
                <a16:creationId xmlns:a16="http://schemas.microsoft.com/office/drawing/2014/main" id="{1AF7AD0D-BF48-4F84-AEFC-1AC1EA907DB9}"/>
              </a:ext>
            </a:extLst>
          </p:cNvPr>
          <p:cNvSpPr>
            <a:spLocks xmlns:a="http://schemas.openxmlformats.org/drawingml/2006/main" noGrp="1"/>
          </p:cNvSpPr>
          <p:nvPr/>
        </p:nvSpPr>
        <p:spPr>
          <a:xfrm xmlns:a="http://schemas.openxmlformats.org/drawingml/2006/main">
            <a:off x="8810625" y="314325"/>
            <a:ext cx="2800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00" b="1">
                <a:solidFill>
                  <a:srgbClr val="5B6B83"/>
                </a:solidFill>
                <a:latin typeface="Segoe UI"/>
                <a:ea typeface="Segoe UI"/>
                <a:cs typeface="Segoe UI"/>
              </a:defRPr>
            </a:pPr>
            <a:r>
              <a:rPr sz="900" b="1">
                <a:solidFill>
                  <a:srgbClr val="5B6B83"/>
                </a:solidFill>
                <a:latin typeface="Segoe UI"/>
                <a:ea typeface="Segoe UI"/>
                <a:cs typeface="Segoe UI"/>
              </a:rPr>
              <a:t>REVALDY ARRAHMAN</a:t>
            </a:r>
          </a:p>
        </p:txBody>
      </p:sp>
      <p:sp>
        <p:nvSpPr>
          <p:cNvPr id="3" name="A clear process, with care at every step">
            <a:extLst xmlns:a="http://schemas.openxmlformats.org/drawingml/2006/main">
              <a:ext uri="{FF2B5EF4-FFF2-40B4-BE49-F238E27FC236}">
                <a16:creationId xmlns:a16="http://schemas.microsoft.com/office/drawing/2014/main" id="{B7BA4B35-FBC5-4D1E-A559-E2299EA6421A}"/>
              </a:ext>
            </a:extLst>
          </p:cNvPr>
          <p:cNvSpPr>
            <a:spLocks xmlns:a="http://schemas.openxmlformats.org/drawingml/2006/main" noGrp="1"/>
          </p:cNvSpPr>
          <p:nvPr/>
        </p:nvSpPr>
        <p:spPr>
          <a:xfrm xmlns:a="http://schemas.openxmlformats.org/drawingml/2006/main">
            <a:off x="552450" y="819150"/>
            <a:ext cx="11049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12139"/>
                </a:solidFill>
                <a:latin typeface="Segoe UI"/>
                <a:ea typeface="Segoe UI"/>
                <a:cs typeface="Segoe UI"/>
              </a:defRPr>
            </a:pPr>
            <a:r>
              <a:rPr sz="3300" b="1">
                <a:solidFill>
                  <a:srgbClr val="112139"/>
                </a:solidFill>
                <a:latin typeface="Segoe UI"/>
                <a:ea typeface="Segoe UI"/>
                <a:cs typeface="Segoe UI"/>
              </a:rPr>
              <a:t>A clear process, with care at every step</a:t>
            </a:r>
          </a:p>
        </p:txBody>
      </p:sp>
      <p:sp>
        <p:nvSpPr>
          <p:cNvPr id="4" name="I focus on the question, the quality of the data">
            <a:extLst xmlns:a="http://schemas.openxmlformats.org/drawingml/2006/main">
              <a:ext uri="{FF2B5EF4-FFF2-40B4-BE49-F238E27FC236}">
                <a16:creationId xmlns:a16="http://schemas.microsoft.com/office/drawing/2014/main" id="{5BA461F5-4C6F-41C5-8B3C-C3D5D9A4CB37}"/>
              </a:ext>
            </a:extLst>
          </p:cNvPr>
          <p:cNvSpPr>
            <a:spLocks xmlns:a="http://schemas.openxmlformats.org/drawingml/2006/main" noGrp="1"/>
          </p:cNvSpPr>
          <p:nvPr/>
        </p:nvSpPr>
        <p:spPr>
          <a:xfrm xmlns:a="http://schemas.openxmlformats.org/drawingml/2006/main">
            <a:off x="571500" y="14382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5B6B83"/>
                </a:solidFill>
                <a:latin typeface="Segoe UI"/>
                <a:ea typeface="Segoe UI"/>
                <a:cs typeface="Segoe UI"/>
              </a:defRPr>
            </a:pPr>
            <a:r>
              <a:rPr sz="1575" b="0">
                <a:solidFill>
                  <a:srgbClr val="5B6B83"/>
                </a:solidFill>
                <a:latin typeface="Segoe UI"/>
                <a:ea typeface="Segoe UI"/>
                <a:cs typeface="Segoe UI"/>
              </a:rPr>
              <a:t>I focus on the question, the quality of the data and the explanation of the result</a:t>
            </a:r>
          </a:p>
        </p:txBody>
      </p:sp>
      <p:sp>
        <p:nvSpPr>
          <p:cNvPr id="5" name="">
            <a:extLst xmlns:a="http://schemas.openxmlformats.org/drawingml/2006/main">
              <a:ext uri="{FF2B5EF4-FFF2-40B4-BE49-F238E27FC236}">
                <a16:creationId xmlns:a16="http://schemas.microsoft.com/office/drawing/2014/main" id="{D57E921C-3846-4076-9D83-1D738AB0D7EF}"/>
              </a:ext>
            </a:extLst>
          </p:cNvPr>
          <p:cNvSpPr>
            <a:spLocks xmlns:a="http://schemas.openxmlformats.org/drawingml/2006/main" noGrp="1"/>
          </p:cNvSpPr>
          <p:nvPr/>
        </p:nvSpPr>
        <p:spPr>
          <a:xfrm xmlns:a="http://schemas.openxmlformats.org/drawingml/2006/main">
            <a:off x="571500" y="6496050"/>
            <a:ext cx="11049000" cy="0"/>
          </a:xfrm>
          <a:prstGeom xmlns:a="http://schemas.openxmlformats.org/drawingml/2006/main" prst="line">
            <a:avLst/>
          </a:prstGeom>
          <a:noFill xmlns:a="http://schemas.openxmlformats.org/drawingml/2006/main"/>
          <a:ln xmlns:a="http://schemas.openxmlformats.org/drawingml/2006/main" w="9525">
            <a:solidFill>
              <a:srgbClr val="DFE7F1"/>
            </a:solidFill>
          </a:ln>
        </p:spPr>
      </p:sp>
      <p:sp>
        <p:nvSpPr>
          <p:cNvPr id="6" name="DATA PORTFOLIO">
            <a:extLst xmlns:a="http://schemas.openxmlformats.org/drawingml/2006/main">
              <a:ext uri="{FF2B5EF4-FFF2-40B4-BE49-F238E27FC236}">
                <a16:creationId xmlns:a16="http://schemas.microsoft.com/office/drawing/2014/main" id="{AE090045-08CD-480C-B1E3-BB0CABECD392}"/>
              </a:ext>
            </a:extLst>
          </p:cNvPr>
          <p:cNvSpPr>
            <a:spLocks xmlns:a="http://schemas.openxmlformats.org/drawingml/2006/main" noGrp="1"/>
          </p:cNvSpPr>
          <p:nvPr/>
        </p:nvSpPr>
        <p:spPr>
          <a:xfrm xmlns:a="http://schemas.openxmlformats.org/drawingml/2006/main">
            <a:off x="571500" y="6581775"/>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825" b="1">
                <a:solidFill>
                  <a:srgbClr val="5B6B83"/>
                </a:solidFill>
                <a:latin typeface="Segoe UI"/>
                <a:ea typeface="Segoe UI"/>
                <a:cs typeface="Segoe UI"/>
              </a:defRPr>
            </a:pPr>
            <a:r>
              <a:rPr sz="825" b="1">
                <a:solidFill>
                  <a:srgbClr val="5B6B83"/>
                </a:solidFill>
                <a:latin typeface="Segoe UI"/>
                <a:ea typeface="Segoe UI"/>
                <a:cs typeface="Segoe UI"/>
              </a:rPr>
              <a:t>DATA PORTFOLIO</a:t>
            </a:r>
          </a:p>
        </p:txBody>
      </p:sp>
      <p:sp>
        <p:nvSpPr>
          <p:cNvPr id="7" name="08">
            <a:extLst xmlns:a="http://schemas.openxmlformats.org/drawingml/2006/main">
              <a:ext uri="{FF2B5EF4-FFF2-40B4-BE49-F238E27FC236}">
                <a16:creationId xmlns:a16="http://schemas.microsoft.com/office/drawing/2014/main" id="{4AC1A514-1B80-4E51-B717-FDA7B2246B3D}"/>
              </a:ext>
            </a:extLst>
          </p:cNvPr>
          <p:cNvSpPr>
            <a:spLocks xmlns:a="http://schemas.openxmlformats.org/drawingml/2006/main" noGrp="1"/>
          </p:cNvSpPr>
          <p:nvPr/>
        </p:nvSpPr>
        <p:spPr>
          <a:xfrm xmlns:a="http://schemas.openxmlformats.org/drawingml/2006/main">
            <a:off x="11106150" y="6562725"/>
            <a:ext cx="5143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1">
                <a:solidFill>
                  <a:srgbClr val="2463EB"/>
                </a:solidFill>
                <a:latin typeface="Segoe UI"/>
                <a:ea typeface="Segoe UI"/>
                <a:cs typeface="Segoe UI"/>
              </a:defRPr>
            </a:pPr>
            <a:r>
              <a:rPr sz="975" b="1">
                <a:solidFill>
                  <a:srgbClr val="2463EB"/>
                </a:solidFill>
                <a:latin typeface="Segoe UI"/>
                <a:ea typeface="Segoe UI"/>
                <a:cs typeface="Segoe UI"/>
              </a:rPr>
              <a:t>08</a:t>
            </a:r>
          </a:p>
        </p:txBody>
      </p:sp>
      <p:sp>
        <p:nvSpPr>
          <p:cNvPr id="8" name="">
            <a:extLst xmlns:a="http://schemas.openxmlformats.org/drawingml/2006/main">
              <a:ext uri="{FF2B5EF4-FFF2-40B4-BE49-F238E27FC236}">
                <a16:creationId xmlns:a16="http://schemas.microsoft.com/office/drawing/2014/main" id="{08B0C538-1468-42E5-AB36-05A16652B88B}"/>
              </a:ext>
            </a:extLst>
          </p:cNvPr>
          <p:cNvSpPr>
            <a:spLocks xmlns:a="http://schemas.openxmlformats.org/drawingml/2006/main" noGrp="1"/>
          </p:cNvSpPr>
          <p:nvPr/>
        </p:nvSpPr>
        <p:spPr>
          <a:xfrm xmlns:a="http://schemas.openxmlformats.org/drawingml/2006/main">
            <a:off x="571500" y="2114550"/>
            <a:ext cx="2085975" cy="2676525"/>
          </a:xfrm>
          <a:prstGeom xmlns:a="http://schemas.openxmlformats.org/drawingml/2006/main" prst="roundRect">
            <a:avLst>
              <a:gd name="adj" fmla="val 9132"/>
            </a:avLst>
          </a:prstGeom>
          <a:solidFill xmlns:a="http://schemas.openxmlformats.org/drawingml/2006/main">
            <a:srgbClr val="FFFFFF"/>
          </a:solidFill>
          <a:ln xmlns:a="http://schemas.openxmlformats.org/drawingml/2006/main" w="9525">
            <a:solidFill>
              <a:srgbClr val="DFE7F1"/>
            </a:solidFill>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ab38d128344a4b7f"/>
          <a:stretch xmlns:a="http://schemas.openxmlformats.org/drawingml/2006/main"/>
        </p:blipFill>
        <p:spPr>
          <a:xfrm xmlns:a="http://schemas.openxmlformats.org/drawingml/2006/main">
            <a:off x="800100" y="2343150"/>
            <a:ext cx="438150" cy="438150"/>
          </a:xfrm>
          <a:prstGeom xmlns:a="http://schemas.openxmlformats.org/drawingml/2006/main" prst="rect">
            <a:avLst/>
          </a:prstGeom>
        </p:spPr>
      </p:pic>
      <p:sp>
        <p:nvSpPr>
          <p:cNvPr id="10" name="Define">
            <a:extLst xmlns:a="http://schemas.openxmlformats.org/drawingml/2006/main">
              <a:ext uri="{FF2B5EF4-FFF2-40B4-BE49-F238E27FC236}">
                <a16:creationId xmlns:a16="http://schemas.microsoft.com/office/drawing/2014/main" id="{4D53E95E-AB41-4F8E-B372-9E68C74E295B}"/>
              </a:ext>
            </a:extLst>
          </p:cNvPr>
          <p:cNvSpPr>
            <a:spLocks xmlns:a="http://schemas.openxmlformats.org/drawingml/2006/main" noGrp="1"/>
          </p:cNvSpPr>
          <p:nvPr/>
        </p:nvSpPr>
        <p:spPr>
          <a:xfrm xmlns:a="http://schemas.openxmlformats.org/drawingml/2006/main">
            <a:off x="800100" y="3067050"/>
            <a:ext cx="16954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112139"/>
                </a:solidFill>
                <a:latin typeface="Segoe UI"/>
                <a:ea typeface="Segoe UI"/>
                <a:cs typeface="Segoe UI"/>
              </a:defRPr>
            </a:pPr>
            <a:r>
              <a:rPr sz="2025" b="1">
                <a:solidFill>
                  <a:srgbClr val="112139"/>
                </a:solidFill>
                <a:latin typeface="Segoe UI"/>
                <a:ea typeface="Segoe UI"/>
                <a:cs typeface="Segoe UI"/>
              </a:rPr>
              <a:t>Define</a:t>
            </a:r>
          </a:p>
        </p:txBody>
      </p:sp>
      <p:sp>
        <p:nvSpPr>
          <p:cNvPr id="11" name="Understand the question and expected output.">
            <a:extLst xmlns:a="http://schemas.openxmlformats.org/drawingml/2006/main">
              <a:ext uri="{FF2B5EF4-FFF2-40B4-BE49-F238E27FC236}">
                <a16:creationId xmlns:a16="http://schemas.microsoft.com/office/drawing/2014/main" id="{3A9C1C66-371F-4CE1-8B4C-5310AE1D8614}"/>
              </a:ext>
            </a:extLst>
          </p:cNvPr>
          <p:cNvSpPr>
            <a:spLocks xmlns:a="http://schemas.openxmlformats.org/drawingml/2006/main" noGrp="1"/>
          </p:cNvSpPr>
          <p:nvPr/>
        </p:nvSpPr>
        <p:spPr>
          <a:xfrm xmlns:a="http://schemas.openxmlformats.org/drawingml/2006/main">
            <a:off x="800100" y="3695700"/>
            <a:ext cx="16954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B6B83"/>
                </a:solidFill>
                <a:latin typeface="Segoe UI"/>
                <a:ea typeface="Segoe UI"/>
                <a:cs typeface="Segoe UI"/>
              </a:defRPr>
            </a:pPr>
            <a:r>
              <a:rPr sz="1500" b="0">
                <a:solidFill>
                  <a:srgbClr val="5B6B83"/>
                </a:solidFill>
                <a:latin typeface="Segoe UI"/>
                <a:ea typeface="Segoe UI"/>
                <a:cs typeface="Segoe UI"/>
              </a:rPr>
              <a:t>Understand the question</a:t>
            </a:r>
          </a:p>
          <a:p xmlns:a="http://schemas.openxmlformats.org/drawingml/2006/main">
            <a:pPr algn="l">
              <a:defRPr sz="1500" b="0">
                <a:solidFill>
                  <a:srgbClr val="5B6B83"/>
                </a:solidFill>
                <a:latin typeface="Segoe UI"/>
                <a:ea typeface="Segoe UI"/>
                <a:cs typeface="Segoe UI"/>
              </a:defRPr>
            </a:pPr>
            <a:r>
              <a:rPr sz="1500" b="0">
                <a:solidFill>
                  <a:srgbClr val="5B6B83"/>
                </a:solidFill>
                <a:latin typeface="Segoe UI"/>
                <a:ea typeface="Segoe UI"/>
                <a:cs typeface="Segoe UI"/>
              </a:rPr>
              <a:t>and expected output.</a:t>
            </a:r>
          </a:p>
        </p:txBody>
      </p:sp>
      <p:sp>
        <p:nvSpPr>
          <p:cNvPr id="12" name="">
            <a:extLst xmlns:a="http://schemas.openxmlformats.org/drawingml/2006/main">
              <a:ext uri="{FF2B5EF4-FFF2-40B4-BE49-F238E27FC236}">
                <a16:creationId xmlns:a16="http://schemas.microsoft.com/office/drawing/2014/main" id="{7EF5CD8F-291F-49A2-8BD5-F238EC760BBD}"/>
              </a:ext>
            </a:extLst>
          </p:cNvPr>
          <p:cNvSpPr>
            <a:spLocks xmlns:a="http://schemas.openxmlformats.org/drawingml/2006/main" noGrp="1"/>
          </p:cNvSpPr>
          <p:nvPr/>
        </p:nvSpPr>
        <p:spPr>
          <a:xfrm xmlns:a="http://schemas.openxmlformats.org/drawingml/2006/main">
            <a:off x="2809875" y="2114550"/>
            <a:ext cx="2085975" cy="2676525"/>
          </a:xfrm>
          <a:prstGeom xmlns:a="http://schemas.openxmlformats.org/drawingml/2006/main" prst="roundRect">
            <a:avLst>
              <a:gd name="adj" fmla="val 9132"/>
            </a:avLst>
          </a:prstGeom>
          <a:solidFill xmlns:a="http://schemas.openxmlformats.org/drawingml/2006/main">
            <a:srgbClr val="FFFFFF"/>
          </a:solidFill>
          <a:ln xmlns:a="http://schemas.openxmlformats.org/drawingml/2006/main" w="9525">
            <a:solidFill>
              <a:srgbClr val="DFE7F1"/>
            </a:solidFill>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53" name=""/>
          <p:cNvPicPr>
            <a:picLocks xmlns:a="http://schemas.openxmlformats.org/drawingml/2006/main" noChangeAspect="1"/>
          </p:cNvPicPr>
          <p:nvPr/>
        </p:nvPicPr>
        <p:blipFill>
          <a:blip xmlns:r="http://schemas.openxmlformats.org/officeDocument/2006/relationships" xmlns:a="http://schemas.openxmlformats.org/drawingml/2006/main" r:embed="R163fc758697c4cf9"/>
          <a:stretch xmlns:a="http://schemas.openxmlformats.org/drawingml/2006/main"/>
        </p:blipFill>
        <p:spPr>
          <a:xfrm xmlns:a="http://schemas.openxmlformats.org/drawingml/2006/main">
            <a:off x="3038475" y="2343150"/>
            <a:ext cx="438150" cy="438150"/>
          </a:xfrm>
          <a:prstGeom xmlns:a="http://schemas.openxmlformats.org/drawingml/2006/main" prst="rect">
            <a:avLst/>
          </a:prstGeom>
        </p:spPr>
      </p:pic>
      <p:sp>
        <p:nvSpPr>
          <p:cNvPr id="14" name="Prepare">
            <a:extLst xmlns:a="http://schemas.openxmlformats.org/drawingml/2006/main">
              <a:ext uri="{FF2B5EF4-FFF2-40B4-BE49-F238E27FC236}">
                <a16:creationId xmlns:a16="http://schemas.microsoft.com/office/drawing/2014/main" id="{B816ED98-6253-4E34-9007-4C44CEE5DFC7}"/>
              </a:ext>
            </a:extLst>
          </p:cNvPr>
          <p:cNvSpPr>
            <a:spLocks xmlns:a="http://schemas.openxmlformats.org/drawingml/2006/main" noGrp="1"/>
          </p:cNvSpPr>
          <p:nvPr/>
        </p:nvSpPr>
        <p:spPr>
          <a:xfrm xmlns:a="http://schemas.openxmlformats.org/drawingml/2006/main">
            <a:off x="3038475" y="3067050"/>
            <a:ext cx="16954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112139"/>
                </a:solidFill>
                <a:latin typeface="Segoe UI"/>
                <a:ea typeface="Segoe UI"/>
                <a:cs typeface="Segoe UI"/>
              </a:defRPr>
            </a:pPr>
            <a:r>
              <a:rPr sz="2025" b="1">
                <a:solidFill>
                  <a:srgbClr val="112139"/>
                </a:solidFill>
                <a:latin typeface="Segoe UI"/>
                <a:ea typeface="Segoe UI"/>
                <a:cs typeface="Segoe UI"/>
              </a:rPr>
              <a:t>Prepare</a:t>
            </a:r>
          </a:p>
        </p:txBody>
      </p:sp>
      <p:sp>
        <p:nvSpPr>
          <p:cNvPr id="15" name="Check data types, missing values and structure.">
            <a:extLst xmlns:a="http://schemas.openxmlformats.org/drawingml/2006/main">
              <a:ext uri="{FF2B5EF4-FFF2-40B4-BE49-F238E27FC236}">
                <a16:creationId xmlns:a16="http://schemas.microsoft.com/office/drawing/2014/main" id="{A06588C0-72CA-4D06-9E80-C6CD6F00C944}"/>
              </a:ext>
            </a:extLst>
          </p:cNvPr>
          <p:cNvSpPr>
            <a:spLocks xmlns:a="http://schemas.openxmlformats.org/drawingml/2006/main" noGrp="1"/>
          </p:cNvSpPr>
          <p:nvPr/>
        </p:nvSpPr>
        <p:spPr>
          <a:xfrm xmlns:a="http://schemas.openxmlformats.org/drawingml/2006/main">
            <a:off x="3038475" y="3695700"/>
            <a:ext cx="16954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B6B83"/>
                </a:solidFill>
                <a:latin typeface="Segoe UI"/>
                <a:ea typeface="Segoe UI"/>
                <a:cs typeface="Segoe UI"/>
              </a:defRPr>
            </a:pPr>
            <a:r>
              <a:rPr sz="1500" b="0">
                <a:solidFill>
                  <a:srgbClr val="5B6B83"/>
                </a:solidFill>
                <a:latin typeface="Segoe UI"/>
                <a:ea typeface="Segoe UI"/>
                <a:cs typeface="Segoe UI"/>
              </a:rPr>
              <a:t>Check data types, missing</a:t>
            </a:r>
          </a:p>
          <a:p xmlns:a="http://schemas.openxmlformats.org/drawingml/2006/main">
            <a:pPr algn="l">
              <a:defRPr sz="1500" b="0">
                <a:solidFill>
                  <a:srgbClr val="5B6B83"/>
                </a:solidFill>
                <a:latin typeface="Segoe UI"/>
                <a:ea typeface="Segoe UI"/>
                <a:cs typeface="Segoe UI"/>
              </a:defRPr>
            </a:pPr>
            <a:r>
              <a:rPr sz="1500" b="0">
                <a:solidFill>
                  <a:srgbClr val="5B6B83"/>
                </a:solidFill>
                <a:latin typeface="Segoe UI"/>
                <a:ea typeface="Segoe UI"/>
                <a:cs typeface="Segoe UI"/>
              </a:rPr>
              <a:t>values and structure.</a:t>
            </a:r>
          </a:p>
        </p:txBody>
      </p:sp>
      <p:sp>
        <p:nvSpPr>
          <p:cNvPr id="16" name="">
            <a:extLst xmlns:a="http://schemas.openxmlformats.org/drawingml/2006/main">
              <a:ext uri="{FF2B5EF4-FFF2-40B4-BE49-F238E27FC236}">
                <a16:creationId xmlns:a16="http://schemas.microsoft.com/office/drawing/2014/main" id="{0BABDEBA-D6BB-40AF-982B-7955D913C33D}"/>
              </a:ext>
            </a:extLst>
          </p:cNvPr>
          <p:cNvSpPr>
            <a:spLocks xmlns:a="http://schemas.openxmlformats.org/drawingml/2006/main" noGrp="1"/>
          </p:cNvSpPr>
          <p:nvPr/>
        </p:nvSpPr>
        <p:spPr>
          <a:xfrm xmlns:a="http://schemas.openxmlformats.org/drawingml/2006/main">
            <a:off x="5048250" y="2114550"/>
            <a:ext cx="2085975" cy="2676525"/>
          </a:xfrm>
          <a:prstGeom xmlns:a="http://schemas.openxmlformats.org/drawingml/2006/main" prst="roundRect">
            <a:avLst>
              <a:gd name="adj" fmla="val 9132"/>
            </a:avLst>
          </a:prstGeom>
          <a:solidFill xmlns:a="http://schemas.openxmlformats.org/drawingml/2006/main">
            <a:srgbClr val="FFFFFF"/>
          </a:solidFill>
          <a:ln xmlns:a="http://schemas.openxmlformats.org/drawingml/2006/main" w="9525">
            <a:solidFill>
              <a:srgbClr val="DFE7F1"/>
            </a:solidFill>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fc62ee2de0df4652"/>
          <a:stretch xmlns:a="http://schemas.openxmlformats.org/drawingml/2006/main"/>
        </p:blipFill>
        <p:spPr>
          <a:xfrm xmlns:a="http://schemas.openxmlformats.org/drawingml/2006/main">
            <a:off x="5276850" y="2343150"/>
            <a:ext cx="438150" cy="438150"/>
          </a:xfrm>
          <a:prstGeom xmlns:a="http://schemas.openxmlformats.org/drawingml/2006/main" prst="rect">
            <a:avLst/>
          </a:prstGeom>
        </p:spPr>
      </p:pic>
      <p:sp>
        <p:nvSpPr>
          <p:cNvPr id="18" name="Analyze">
            <a:extLst xmlns:a="http://schemas.openxmlformats.org/drawingml/2006/main">
              <a:ext uri="{FF2B5EF4-FFF2-40B4-BE49-F238E27FC236}">
                <a16:creationId xmlns:a16="http://schemas.microsoft.com/office/drawing/2014/main" id="{614A0DEF-B12B-4FA8-BF15-BC05A259C8CA}"/>
              </a:ext>
            </a:extLst>
          </p:cNvPr>
          <p:cNvSpPr>
            <a:spLocks xmlns:a="http://schemas.openxmlformats.org/drawingml/2006/main" noGrp="1"/>
          </p:cNvSpPr>
          <p:nvPr/>
        </p:nvSpPr>
        <p:spPr>
          <a:xfrm xmlns:a="http://schemas.openxmlformats.org/drawingml/2006/main">
            <a:off x="5276850" y="3067050"/>
            <a:ext cx="16954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112139"/>
                </a:solidFill>
                <a:latin typeface="Segoe UI"/>
                <a:ea typeface="Segoe UI"/>
                <a:cs typeface="Segoe UI"/>
              </a:defRPr>
            </a:pPr>
            <a:r>
              <a:rPr sz="2025" b="1">
                <a:solidFill>
                  <a:srgbClr val="112139"/>
                </a:solidFill>
                <a:latin typeface="Segoe UI"/>
                <a:ea typeface="Segoe UI"/>
                <a:cs typeface="Segoe UI"/>
              </a:rPr>
              <a:t>Analyze</a:t>
            </a:r>
          </a:p>
        </p:txBody>
      </p:sp>
      <p:sp>
        <p:nvSpPr>
          <p:cNvPr id="19" name="Explore patterns and compare useful results.">
            <a:extLst xmlns:a="http://schemas.openxmlformats.org/drawingml/2006/main">
              <a:ext uri="{FF2B5EF4-FFF2-40B4-BE49-F238E27FC236}">
                <a16:creationId xmlns:a16="http://schemas.microsoft.com/office/drawing/2014/main" id="{B2279A82-AA83-4205-B233-1818C0358CAA}"/>
              </a:ext>
            </a:extLst>
          </p:cNvPr>
          <p:cNvSpPr>
            <a:spLocks xmlns:a="http://schemas.openxmlformats.org/drawingml/2006/main" noGrp="1"/>
          </p:cNvSpPr>
          <p:nvPr/>
        </p:nvSpPr>
        <p:spPr>
          <a:xfrm xmlns:a="http://schemas.openxmlformats.org/drawingml/2006/main">
            <a:off x="5276850" y="3695700"/>
            <a:ext cx="16954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B6B83"/>
                </a:solidFill>
                <a:latin typeface="Segoe UI"/>
                <a:ea typeface="Segoe UI"/>
                <a:cs typeface="Segoe UI"/>
              </a:defRPr>
            </a:pPr>
            <a:r>
              <a:rPr sz="1500" b="0">
                <a:solidFill>
                  <a:srgbClr val="5B6B83"/>
                </a:solidFill>
                <a:latin typeface="Segoe UI"/>
                <a:ea typeface="Segoe UI"/>
                <a:cs typeface="Segoe UI"/>
              </a:rPr>
              <a:t>Explore patterns and</a:t>
            </a:r>
          </a:p>
          <a:p xmlns:a="http://schemas.openxmlformats.org/drawingml/2006/main">
            <a:pPr algn="l">
              <a:defRPr sz="1500" b="0">
                <a:solidFill>
                  <a:srgbClr val="5B6B83"/>
                </a:solidFill>
                <a:latin typeface="Segoe UI"/>
                <a:ea typeface="Segoe UI"/>
                <a:cs typeface="Segoe UI"/>
              </a:defRPr>
            </a:pPr>
            <a:r>
              <a:rPr sz="1500" b="0">
                <a:solidFill>
                  <a:srgbClr val="5B6B83"/>
                </a:solidFill>
                <a:latin typeface="Segoe UI"/>
                <a:ea typeface="Segoe UI"/>
                <a:cs typeface="Segoe UI"/>
              </a:rPr>
              <a:t>compare useful results.</a:t>
            </a:r>
          </a:p>
        </p:txBody>
      </p:sp>
      <p:sp>
        <p:nvSpPr>
          <p:cNvPr id="20" name="">
            <a:extLst xmlns:a="http://schemas.openxmlformats.org/drawingml/2006/main">
              <a:ext uri="{FF2B5EF4-FFF2-40B4-BE49-F238E27FC236}">
                <a16:creationId xmlns:a16="http://schemas.microsoft.com/office/drawing/2014/main" id="{B65BD978-C562-4473-8B4D-E942211D41DF}"/>
              </a:ext>
            </a:extLst>
          </p:cNvPr>
          <p:cNvSpPr>
            <a:spLocks xmlns:a="http://schemas.openxmlformats.org/drawingml/2006/main" noGrp="1"/>
          </p:cNvSpPr>
          <p:nvPr/>
        </p:nvSpPr>
        <p:spPr>
          <a:xfrm xmlns:a="http://schemas.openxmlformats.org/drawingml/2006/main">
            <a:off x="7286625" y="2114550"/>
            <a:ext cx="2085975" cy="2676525"/>
          </a:xfrm>
          <a:prstGeom xmlns:a="http://schemas.openxmlformats.org/drawingml/2006/main" prst="roundRect">
            <a:avLst>
              <a:gd name="adj" fmla="val 9132"/>
            </a:avLst>
          </a:prstGeom>
          <a:solidFill xmlns:a="http://schemas.openxmlformats.org/drawingml/2006/main">
            <a:srgbClr val="FFFFFF"/>
          </a:solidFill>
          <a:ln xmlns:a="http://schemas.openxmlformats.org/drawingml/2006/main" w="9525">
            <a:solidFill>
              <a:srgbClr val="DFE7F1"/>
            </a:solidFill>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61" name=""/>
          <p:cNvPicPr>
            <a:picLocks xmlns:a="http://schemas.openxmlformats.org/drawingml/2006/main" noChangeAspect="1"/>
          </p:cNvPicPr>
          <p:nvPr/>
        </p:nvPicPr>
        <p:blipFill>
          <a:blip xmlns:r="http://schemas.openxmlformats.org/officeDocument/2006/relationships" xmlns:a="http://schemas.openxmlformats.org/drawingml/2006/main" r:embed="R44108b65d681427e"/>
          <a:stretch xmlns:a="http://schemas.openxmlformats.org/drawingml/2006/main"/>
        </p:blipFill>
        <p:spPr>
          <a:xfrm xmlns:a="http://schemas.openxmlformats.org/drawingml/2006/main">
            <a:off x="7515225" y="2343150"/>
            <a:ext cx="438150" cy="438150"/>
          </a:xfrm>
          <a:prstGeom xmlns:a="http://schemas.openxmlformats.org/drawingml/2006/main" prst="rect">
            <a:avLst/>
          </a:prstGeom>
        </p:spPr>
      </p:pic>
      <p:sp>
        <p:nvSpPr>
          <p:cNvPr id="22" name="Validate">
            <a:extLst xmlns:a="http://schemas.openxmlformats.org/drawingml/2006/main">
              <a:ext uri="{FF2B5EF4-FFF2-40B4-BE49-F238E27FC236}">
                <a16:creationId xmlns:a16="http://schemas.microsoft.com/office/drawing/2014/main" id="{0E64024E-CBB8-4A9C-9A21-9D8781E81EF0}"/>
              </a:ext>
            </a:extLst>
          </p:cNvPr>
          <p:cNvSpPr>
            <a:spLocks xmlns:a="http://schemas.openxmlformats.org/drawingml/2006/main" noGrp="1"/>
          </p:cNvSpPr>
          <p:nvPr/>
        </p:nvSpPr>
        <p:spPr>
          <a:xfrm xmlns:a="http://schemas.openxmlformats.org/drawingml/2006/main">
            <a:off x="7515225" y="3067050"/>
            <a:ext cx="16954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112139"/>
                </a:solidFill>
                <a:latin typeface="Segoe UI"/>
                <a:ea typeface="Segoe UI"/>
                <a:cs typeface="Segoe UI"/>
              </a:defRPr>
            </a:pPr>
            <a:r>
              <a:rPr sz="2025" b="1">
                <a:solidFill>
                  <a:srgbClr val="112139"/>
                </a:solidFill>
                <a:latin typeface="Segoe UI"/>
                <a:ea typeface="Segoe UI"/>
                <a:cs typeface="Segoe UI"/>
              </a:rPr>
              <a:t>Validate</a:t>
            </a:r>
          </a:p>
        </p:txBody>
      </p:sp>
      <p:sp>
        <p:nvSpPr>
          <p:cNvPr id="23" name="Check assumptions and model trade-offs.">
            <a:extLst xmlns:a="http://schemas.openxmlformats.org/drawingml/2006/main">
              <a:ext uri="{FF2B5EF4-FFF2-40B4-BE49-F238E27FC236}">
                <a16:creationId xmlns:a16="http://schemas.microsoft.com/office/drawing/2014/main" id="{A87177BB-AE60-441A-8A96-D5C9C162A327}"/>
              </a:ext>
            </a:extLst>
          </p:cNvPr>
          <p:cNvSpPr>
            <a:spLocks xmlns:a="http://schemas.openxmlformats.org/drawingml/2006/main" noGrp="1"/>
          </p:cNvSpPr>
          <p:nvPr/>
        </p:nvSpPr>
        <p:spPr>
          <a:xfrm xmlns:a="http://schemas.openxmlformats.org/drawingml/2006/main">
            <a:off x="7515225" y="3695700"/>
            <a:ext cx="16954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B6B83"/>
                </a:solidFill>
                <a:latin typeface="Segoe UI"/>
                <a:ea typeface="Segoe UI"/>
                <a:cs typeface="Segoe UI"/>
              </a:defRPr>
            </a:pPr>
            <a:r>
              <a:rPr sz="1500" b="0">
                <a:solidFill>
                  <a:srgbClr val="5B6B83"/>
                </a:solidFill>
                <a:latin typeface="Segoe UI"/>
                <a:ea typeface="Segoe UI"/>
                <a:cs typeface="Segoe UI"/>
              </a:rPr>
              <a:t>Check assumptions</a:t>
            </a:r>
          </a:p>
          <a:p xmlns:a="http://schemas.openxmlformats.org/drawingml/2006/main">
            <a:pPr algn="l">
              <a:defRPr sz="1500" b="0">
                <a:solidFill>
                  <a:srgbClr val="5B6B83"/>
                </a:solidFill>
                <a:latin typeface="Segoe UI"/>
                <a:ea typeface="Segoe UI"/>
                <a:cs typeface="Segoe UI"/>
              </a:defRPr>
            </a:pPr>
            <a:r>
              <a:rPr sz="1500" b="0">
                <a:solidFill>
                  <a:srgbClr val="5B6B83"/>
                </a:solidFill>
                <a:latin typeface="Segoe UI"/>
                <a:ea typeface="Segoe UI"/>
                <a:cs typeface="Segoe UI"/>
              </a:rPr>
              <a:t>and model trade-offs.</a:t>
            </a:r>
          </a:p>
        </p:txBody>
      </p:sp>
      <p:sp>
        <p:nvSpPr>
          <p:cNvPr id="24" name="">
            <a:extLst xmlns:a="http://schemas.openxmlformats.org/drawingml/2006/main">
              <a:ext uri="{FF2B5EF4-FFF2-40B4-BE49-F238E27FC236}">
                <a16:creationId xmlns:a16="http://schemas.microsoft.com/office/drawing/2014/main" id="{A508DE20-747A-4FC9-80A4-E1FE33643B34}"/>
              </a:ext>
            </a:extLst>
          </p:cNvPr>
          <p:cNvSpPr>
            <a:spLocks xmlns:a="http://schemas.openxmlformats.org/drawingml/2006/main" noGrp="1"/>
          </p:cNvSpPr>
          <p:nvPr/>
        </p:nvSpPr>
        <p:spPr>
          <a:xfrm xmlns:a="http://schemas.openxmlformats.org/drawingml/2006/main">
            <a:off x="9525000" y="2114550"/>
            <a:ext cx="2085975" cy="2676525"/>
          </a:xfrm>
          <a:prstGeom xmlns:a="http://schemas.openxmlformats.org/drawingml/2006/main" prst="roundRect">
            <a:avLst>
              <a:gd name="adj" fmla="val 9132"/>
            </a:avLst>
          </a:prstGeom>
          <a:solidFill xmlns:a="http://schemas.openxmlformats.org/drawingml/2006/main">
            <a:srgbClr val="FFFFFF"/>
          </a:solidFill>
          <a:ln xmlns:a="http://schemas.openxmlformats.org/drawingml/2006/main" w="9525">
            <a:solidFill>
              <a:srgbClr val="DFE7F1"/>
            </a:solidFill>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65" name=""/>
          <p:cNvPicPr>
            <a:picLocks xmlns:a="http://schemas.openxmlformats.org/drawingml/2006/main" noChangeAspect="1"/>
          </p:cNvPicPr>
          <p:nvPr/>
        </p:nvPicPr>
        <p:blipFill>
          <a:blip xmlns:r="http://schemas.openxmlformats.org/officeDocument/2006/relationships" xmlns:a="http://schemas.openxmlformats.org/drawingml/2006/main" r:embed="R02ce3922d39b434b"/>
          <a:stretch xmlns:a="http://schemas.openxmlformats.org/drawingml/2006/main"/>
        </p:blipFill>
        <p:spPr>
          <a:xfrm xmlns:a="http://schemas.openxmlformats.org/drawingml/2006/main">
            <a:off x="9753600" y="2343150"/>
            <a:ext cx="438150" cy="438150"/>
          </a:xfrm>
          <a:prstGeom xmlns:a="http://schemas.openxmlformats.org/drawingml/2006/main" prst="rect">
            <a:avLst/>
          </a:prstGeom>
        </p:spPr>
      </p:pic>
      <p:sp>
        <p:nvSpPr>
          <p:cNvPr id="26" name="Communicate">
            <a:extLst xmlns:a="http://schemas.openxmlformats.org/drawingml/2006/main">
              <a:ext uri="{FF2B5EF4-FFF2-40B4-BE49-F238E27FC236}">
                <a16:creationId xmlns:a16="http://schemas.microsoft.com/office/drawing/2014/main" id="{D293F69A-3444-4EFD-9D22-4FC086E1A39A}"/>
              </a:ext>
            </a:extLst>
          </p:cNvPr>
          <p:cNvSpPr>
            <a:spLocks xmlns:a="http://schemas.openxmlformats.org/drawingml/2006/main" noGrp="1"/>
          </p:cNvSpPr>
          <p:nvPr/>
        </p:nvSpPr>
        <p:spPr>
          <a:xfrm xmlns:a="http://schemas.openxmlformats.org/drawingml/2006/main">
            <a:off x="9753600" y="3067050"/>
            <a:ext cx="16954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112139"/>
                </a:solidFill>
                <a:latin typeface="Segoe UI"/>
                <a:ea typeface="Segoe UI"/>
                <a:cs typeface="Segoe UI"/>
              </a:defRPr>
            </a:pPr>
            <a:r>
              <a:rPr sz="2025" b="1">
                <a:solidFill>
                  <a:srgbClr val="112139"/>
                </a:solidFill>
                <a:latin typeface="Segoe UI"/>
                <a:ea typeface="Segoe UI"/>
                <a:cs typeface="Segoe UI"/>
              </a:rPr>
              <a:t>Communicate</a:t>
            </a:r>
          </a:p>
        </p:txBody>
      </p:sp>
      <p:sp>
        <p:nvSpPr>
          <p:cNvPr id="27" name="Explain what the findings mean and their limits.">
            <a:extLst xmlns:a="http://schemas.openxmlformats.org/drawingml/2006/main">
              <a:ext uri="{FF2B5EF4-FFF2-40B4-BE49-F238E27FC236}">
                <a16:creationId xmlns:a16="http://schemas.microsoft.com/office/drawing/2014/main" id="{6F160EBD-A4A9-4D9E-8521-6EBFCD01AEB8}"/>
              </a:ext>
            </a:extLst>
          </p:cNvPr>
          <p:cNvSpPr>
            <a:spLocks xmlns:a="http://schemas.openxmlformats.org/drawingml/2006/main" noGrp="1"/>
          </p:cNvSpPr>
          <p:nvPr/>
        </p:nvSpPr>
        <p:spPr>
          <a:xfrm xmlns:a="http://schemas.openxmlformats.org/drawingml/2006/main">
            <a:off x="9753600" y="3695700"/>
            <a:ext cx="16954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B6B83"/>
                </a:solidFill>
                <a:latin typeface="Segoe UI"/>
                <a:ea typeface="Segoe UI"/>
                <a:cs typeface="Segoe UI"/>
              </a:defRPr>
            </a:pPr>
            <a:r>
              <a:rPr sz="1500" b="0">
                <a:solidFill>
                  <a:srgbClr val="5B6B83"/>
                </a:solidFill>
                <a:latin typeface="Segoe UI"/>
                <a:ea typeface="Segoe UI"/>
                <a:cs typeface="Segoe UI"/>
              </a:rPr>
              <a:t>Explain what the findings</a:t>
            </a:r>
          </a:p>
          <a:p xmlns:a="http://schemas.openxmlformats.org/drawingml/2006/main">
            <a:pPr algn="l">
              <a:defRPr sz="1500" b="0">
                <a:solidFill>
                  <a:srgbClr val="5B6B83"/>
                </a:solidFill>
                <a:latin typeface="Segoe UI"/>
                <a:ea typeface="Segoe UI"/>
                <a:cs typeface="Segoe UI"/>
              </a:defRPr>
            </a:pPr>
            <a:r>
              <a:rPr sz="1500" b="0">
                <a:solidFill>
                  <a:srgbClr val="5B6B83"/>
                </a:solidFill>
                <a:latin typeface="Segoe UI"/>
                <a:ea typeface="Segoe UI"/>
                <a:cs typeface="Segoe UI"/>
              </a:rPr>
              <a:t>mean and their limits.</a:t>
            </a:r>
          </a:p>
        </p:txBody>
      </p:sp>
      <p:cxnSp>
        <p:nvCxnSpPr>
          <p:cNvPr id="68" name=""/>
          <p:cNvCxnSpPr>
            <a:stCxn xmlns:a="http://schemas.openxmlformats.org/drawingml/2006/main" id="8" idx="3"/>
            <a:endCxn xmlns:a="http://schemas.openxmlformats.org/drawingml/2006/main" id="12" idx="1"/>
          </p:cNvCxnSpPr>
          <p:nvPr/>
        </p:nvCxnSpPr>
        <p:spPr>
          <a:xfrm xmlns:a="http://schemas.openxmlformats.org/drawingml/2006/main">
            <a:off x="2657475" y="3452813"/>
            <a:ext cx="152400" cy="0"/>
          </a:xfrm>
          <a:prstGeom xmlns:a="http://schemas.openxmlformats.org/drawingml/2006/main" prst="straightConnector1">
            <a:avLst/>
          </a:prstGeom>
          <a:ln xmlns:a="http://schemas.openxmlformats.org/drawingml/2006/main" w="19050">
            <a:solidFill>
              <a:srgbClr val="2463EB"/>
            </a:solidFill>
            <a:tailEnd type="arrow" w="sm" len="sm"/>
          </a:ln>
        </p:spPr>
      </p:cxnSp>
      <p:cxnSp>
        <p:nvCxnSpPr>
          <p:cNvPr id="69" name=""/>
          <p:cNvCxnSpPr>
            <a:stCxn xmlns:a="http://schemas.openxmlformats.org/drawingml/2006/main" id="12" idx="3"/>
            <a:endCxn xmlns:a="http://schemas.openxmlformats.org/drawingml/2006/main" id="16" idx="1"/>
          </p:cNvCxnSpPr>
          <p:nvPr/>
        </p:nvCxnSpPr>
        <p:spPr>
          <a:xfrm xmlns:a="http://schemas.openxmlformats.org/drawingml/2006/main">
            <a:off x="4895850" y="3452813"/>
            <a:ext cx="152400" cy="0"/>
          </a:xfrm>
          <a:prstGeom xmlns:a="http://schemas.openxmlformats.org/drawingml/2006/main" prst="straightConnector1">
            <a:avLst/>
          </a:prstGeom>
          <a:ln xmlns:a="http://schemas.openxmlformats.org/drawingml/2006/main" w="19050">
            <a:solidFill>
              <a:srgbClr val="2463EB"/>
            </a:solidFill>
            <a:tailEnd type="arrow" w="sm" len="sm"/>
          </a:ln>
        </p:spPr>
      </p:cxnSp>
      <p:cxnSp>
        <p:nvCxnSpPr>
          <p:cNvPr id="70" name=""/>
          <p:cNvCxnSpPr>
            <a:stCxn xmlns:a="http://schemas.openxmlformats.org/drawingml/2006/main" id="16" idx="3"/>
            <a:endCxn xmlns:a="http://schemas.openxmlformats.org/drawingml/2006/main" id="20" idx="1"/>
          </p:cNvCxnSpPr>
          <p:nvPr/>
        </p:nvCxnSpPr>
        <p:spPr>
          <a:xfrm xmlns:a="http://schemas.openxmlformats.org/drawingml/2006/main">
            <a:off x="7134225" y="3452813"/>
            <a:ext cx="152400" cy="0"/>
          </a:xfrm>
          <a:prstGeom xmlns:a="http://schemas.openxmlformats.org/drawingml/2006/main" prst="straightConnector1">
            <a:avLst/>
          </a:prstGeom>
          <a:ln xmlns:a="http://schemas.openxmlformats.org/drawingml/2006/main" w="19050">
            <a:solidFill>
              <a:srgbClr val="2463EB"/>
            </a:solidFill>
            <a:tailEnd type="arrow" w="sm" len="sm"/>
          </a:ln>
        </p:spPr>
      </p:cxnSp>
      <p:cxnSp>
        <p:nvCxnSpPr>
          <p:cNvPr id="71" name=""/>
          <p:cNvCxnSpPr>
            <a:stCxn xmlns:a="http://schemas.openxmlformats.org/drawingml/2006/main" id="20" idx="3"/>
            <a:endCxn xmlns:a="http://schemas.openxmlformats.org/drawingml/2006/main" id="24" idx="1"/>
          </p:cNvCxnSpPr>
          <p:nvPr/>
        </p:nvCxnSpPr>
        <p:spPr>
          <a:xfrm xmlns:a="http://schemas.openxmlformats.org/drawingml/2006/main">
            <a:off x="9372600" y="3452813"/>
            <a:ext cx="152400" cy="0"/>
          </a:xfrm>
          <a:prstGeom xmlns:a="http://schemas.openxmlformats.org/drawingml/2006/main" prst="straightConnector1">
            <a:avLst/>
          </a:prstGeom>
          <a:ln xmlns:a="http://schemas.openxmlformats.org/drawingml/2006/main" w="19050">
            <a:solidFill>
              <a:srgbClr val="2463EB"/>
            </a:solidFill>
            <a:tailEnd type="arrow" w="sm" len="sm"/>
          </a:ln>
        </p:spPr>
      </p:cxnSp>
      <p:sp>
        <p:nvSpPr>
          <p:cNvPr id="32" name="STRENGTHS I BRING">
            <a:extLst xmlns:a="http://schemas.openxmlformats.org/drawingml/2006/main">
              <a:ext uri="{FF2B5EF4-FFF2-40B4-BE49-F238E27FC236}">
                <a16:creationId xmlns:a16="http://schemas.microsoft.com/office/drawing/2014/main" id="{469A076F-4FD9-4381-B5AB-8AD5C7A76011}"/>
              </a:ext>
            </a:extLst>
          </p:cNvPr>
          <p:cNvSpPr>
            <a:spLocks xmlns:a="http://schemas.openxmlformats.org/drawingml/2006/main" noGrp="1"/>
          </p:cNvSpPr>
          <p:nvPr/>
        </p:nvSpPr>
        <p:spPr>
          <a:xfrm xmlns:a="http://schemas.openxmlformats.org/drawingml/2006/main">
            <a:off x="571500" y="517207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2463EB"/>
                </a:solidFill>
                <a:latin typeface="Segoe UI"/>
                <a:ea typeface="Segoe UI"/>
                <a:cs typeface="Segoe UI"/>
              </a:defRPr>
            </a:pPr>
            <a:r>
              <a:rPr sz="1050" b="1">
                <a:solidFill>
                  <a:srgbClr val="2463EB"/>
                </a:solidFill>
                <a:latin typeface="Segoe UI"/>
                <a:ea typeface="Segoe UI"/>
                <a:cs typeface="Segoe UI"/>
              </a:rPr>
              <a:t>STRENGTHS I BRING</a:t>
            </a:r>
          </a:p>
        </p:txBody>
      </p:sp>
      <p:pic>
        <p:nvPicPr>
          <p:cNvPr id="73" name=""/>
          <p:cNvPicPr>
            <a:picLocks xmlns:a="http://schemas.openxmlformats.org/drawingml/2006/main" noChangeAspect="1"/>
          </p:cNvPicPr>
          <p:nvPr/>
        </p:nvPicPr>
        <p:blipFill>
          <a:blip xmlns:r="http://schemas.openxmlformats.org/officeDocument/2006/relationships" xmlns:a="http://schemas.openxmlformats.org/drawingml/2006/main" r:embed="Rc18010f7272a4738"/>
          <a:stretch xmlns:a="http://schemas.openxmlformats.org/drawingml/2006/main"/>
        </p:blipFill>
        <p:spPr>
          <a:xfrm xmlns:a="http://schemas.openxmlformats.org/drawingml/2006/main">
            <a:off x="571500" y="5619750"/>
            <a:ext cx="323850" cy="323850"/>
          </a:xfrm>
          <a:prstGeom xmlns:a="http://schemas.openxmlformats.org/drawingml/2006/main" prst="rect">
            <a:avLst/>
          </a:prstGeom>
        </p:spPr>
      </p:pic>
      <p:sp>
        <p:nvSpPr>
          <p:cNvPr id="34" name="Detail-oriented">
            <a:extLst xmlns:a="http://schemas.openxmlformats.org/drawingml/2006/main">
              <a:ext uri="{FF2B5EF4-FFF2-40B4-BE49-F238E27FC236}">
                <a16:creationId xmlns:a16="http://schemas.microsoft.com/office/drawing/2014/main" id="{50136F75-3818-495C-B5C3-2AD8D945EC7D}"/>
              </a:ext>
            </a:extLst>
          </p:cNvPr>
          <p:cNvSpPr>
            <a:spLocks xmlns:a="http://schemas.openxmlformats.org/drawingml/2006/main" noGrp="1"/>
          </p:cNvSpPr>
          <p:nvPr/>
        </p:nvSpPr>
        <p:spPr>
          <a:xfrm xmlns:a="http://schemas.openxmlformats.org/drawingml/2006/main">
            <a:off x="1038225" y="5600700"/>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12139"/>
                </a:solidFill>
                <a:latin typeface="Segoe UI"/>
                <a:ea typeface="Segoe UI"/>
                <a:cs typeface="Segoe UI"/>
              </a:defRPr>
            </a:pPr>
            <a:r>
              <a:rPr sz="1650" b="1">
                <a:solidFill>
                  <a:srgbClr val="112139"/>
                </a:solidFill>
                <a:latin typeface="Segoe UI"/>
                <a:ea typeface="Segoe UI"/>
                <a:cs typeface="Segoe UI"/>
              </a:rPr>
              <a:t>Detail-oriented</a:t>
            </a:r>
          </a:p>
        </p:txBody>
      </p:sp>
      <p:pic>
        <p:nvPicPr>
          <p:cNvPr id="75" name=""/>
          <p:cNvPicPr>
            <a:picLocks xmlns:a="http://schemas.openxmlformats.org/drawingml/2006/main" noChangeAspect="1"/>
          </p:cNvPicPr>
          <p:nvPr/>
        </p:nvPicPr>
        <p:blipFill>
          <a:blip xmlns:r="http://schemas.openxmlformats.org/officeDocument/2006/relationships" xmlns:a="http://schemas.openxmlformats.org/drawingml/2006/main" r:embed="R54448f65868f4393"/>
          <a:stretch xmlns:a="http://schemas.openxmlformats.org/drawingml/2006/main"/>
        </p:blipFill>
        <p:spPr>
          <a:xfrm xmlns:a="http://schemas.openxmlformats.org/drawingml/2006/main">
            <a:off x="3429000" y="5619750"/>
            <a:ext cx="323850" cy="323850"/>
          </a:xfrm>
          <a:prstGeom xmlns:a="http://schemas.openxmlformats.org/drawingml/2006/main" prst="rect">
            <a:avLst/>
          </a:prstGeom>
        </p:spPr>
      </p:pic>
      <p:sp>
        <p:nvSpPr>
          <p:cNvPr id="36" name="Collaborative">
            <a:extLst xmlns:a="http://schemas.openxmlformats.org/drawingml/2006/main">
              <a:ext uri="{FF2B5EF4-FFF2-40B4-BE49-F238E27FC236}">
                <a16:creationId xmlns:a16="http://schemas.microsoft.com/office/drawing/2014/main" id="{72C76B51-89A7-4EC8-BE56-D5FC8A22A9C8}"/>
              </a:ext>
            </a:extLst>
          </p:cNvPr>
          <p:cNvSpPr>
            <a:spLocks xmlns:a="http://schemas.openxmlformats.org/drawingml/2006/main" noGrp="1"/>
          </p:cNvSpPr>
          <p:nvPr/>
        </p:nvSpPr>
        <p:spPr>
          <a:xfrm xmlns:a="http://schemas.openxmlformats.org/drawingml/2006/main">
            <a:off x="3895725" y="5600700"/>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12139"/>
                </a:solidFill>
                <a:latin typeface="Segoe UI"/>
                <a:ea typeface="Segoe UI"/>
                <a:cs typeface="Segoe UI"/>
              </a:defRPr>
            </a:pPr>
            <a:r>
              <a:rPr sz="1650" b="1">
                <a:solidFill>
                  <a:srgbClr val="112139"/>
                </a:solidFill>
                <a:latin typeface="Segoe UI"/>
                <a:ea typeface="Segoe UI"/>
                <a:cs typeface="Segoe UI"/>
              </a:rPr>
              <a:t>Collaborative</a:t>
            </a:r>
          </a:p>
        </p:txBody>
      </p:sp>
      <p:pic>
        <p:nvPicPr>
          <p:cNvPr id="77" name=""/>
          <p:cNvPicPr>
            <a:picLocks xmlns:a="http://schemas.openxmlformats.org/drawingml/2006/main" noChangeAspect="1"/>
          </p:cNvPicPr>
          <p:nvPr/>
        </p:nvPicPr>
        <p:blipFill>
          <a:blip xmlns:r="http://schemas.openxmlformats.org/officeDocument/2006/relationships" xmlns:a="http://schemas.openxmlformats.org/drawingml/2006/main" r:embed="Rb8624de5ac7c436e"/>
          <a:stretch xmlns:a="http://schemas.openxmlformats.org/drawingml/2006/main"/>
        </p:blipFill>
        <p:spPr>
          <a:xfrm xmlns:a="http://schemas.openxmlformats.org/drawingml/2006/main">
            <a:off x="6286500" y="5619750"/>
            <a:ext cx="323850" cy="323850"/>
          </a:xfrm>
          <a:prstGeom xmlns:a="http://schemas.openxmlformats.org/drawingml/2006/main" prst="rect">
            <a:avLst/>
          </a:prstGeom>
        </p:spPr>
      </p:pic>
      <p:sp>
        <p:nvSpPr>
          <p:cNvPr id="38" name="Adaptable">
            <a:extLst xmlns:a="http://schemas.openxmlformats.org/drawingml/2006/main">
              <a:ext uri="{FF2B5EF4-FFF2-40B4-BE49-F238E27FC236}">
                <a16:creationId xmlns:a16="http://schemas.microsoft.com/office/drawing/2014/main" id="{9576877F-B6D7-4DE5-8879-2EB28B977A2F}"/>
              </a:ext>
            </a:extLst>
          </p:cNvPr>
          <p:cNvSpPr>
            <a:spLocks xmlns:a="http://schemas.openxmlformats.org/drawingml/2006/main" noGrp="1"/>
          </p:cNvSpPr>
          <p:nvPr/>
        </p:nvSpPr>
        <p:spPr>
          <a:xfrm xmlns:a="http://schemas.openxmlformats.org/drawingml/2006/main">
            <a:off x="6753225" y="5600700"/>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12139"/>
                </a:solidFill>
                <a:latin typeface="Segoe UI"/>
                <a:ea typeface="Segoe UI"/>
                <a:cs typeface="Segoe UI"/>
              </a:defRPr>
            </a:pPr>
            <a:r>
              <a:rPr sz="1650" b="1">
                <a:solidFill>
                  <a:srgbClr val="112139"/>
                </a:solidFill>
                <a:latin typeface="Segoe UI"/>
                <a:ea typeface="Segoe UI"/>
                <a:cs typeface="Segoe UI"/>
              </a:rPr>
              <a:t>Adaptable</a:t>
            </a:r>
          </a:p>
        </p:txBody>
      </p:sp>
      <p:pic>
        <p:nvPicPr>
          <p:cNvPr id="79" name=""/>
          <p:cNvPicPr>
            <a:picLocks xmlns:a="http://schemas.openxmlformats.org/drawingml/2006/main" noChangeAspect="1"/>
          </p:cNvPicPr>
          <p:nvPr/>
        </p:nvPicPr>
        <p:blipFill>
          <a:blip xmlns:r="http://schemas.openxmlformats.org/officeDocument/2006/relationships" xmlns:a="http://schemas.openxmlformats.org/drawingml/2006/main" r:embed="Rc4b3be30e2cd4a81"/>
          <a:stretch xmlns:a="http://schemas.openxmlformats.org/drawingml/2006/main"/>
        </p:blipFill>
        <p:spPr>
          <a:xfrm xmlns:a="http://schemas.openxmlformats.org/drawingml/2006/main">
            <a:off x="9144000" y="5619750"/>
            <a:ext cx="323850" cy="323850"/>
          </a:xfrm>
          <a:prstGeom xmlns:a="http://schemas.openxmlformats.org/drawingml/2006/main" prst="rect">
            <a:avLst/>
          </a:prstGeom>
        </p:spPr>
      </p:pic>
      <p:sp>
        <p:nvSpPr>
          <p:cNvPr id="40" name="Problem-solving">
            <a:extLst xmlns:a="http://schemas.openxmlformats.org/drawingml/2006/main">
              <a:ext uri="{FF2B5EF4-FFF2-40B4-BE49-F238E27FC236}">
                <a16:creationId xmlns:a16="http://schemas.microsoft.com/office/drawing/2014/main" id="{8AD8D678-E87F-4846-88FC-107B433129CB}"/>
              </a:ext>
            </a:extLst>
          </p:cNvPr>
          <p:cNvSpPr>
            <a:spLocks xmlns:a="http://schemas.openxmlformats.org/drawingml/2006/main" noGrp="1"/>
          </p:cNvSpPr>
          <p:nvPr/>
        </p:nvSpPr>
        <p:spPr>
          <a:xfrm xmlns:a="http://schemas.openxmlformats.org/drawingml/2006/main">
            <a:off x="9610725" y="5600700"/>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12139"/>
                </a:solidFill>
                <a:latin typeface="Segoe UI"/>
                <a:ea typeface="Segoe UI"/>
                <a:cs typeface="Segoe UI"/>
              </a:defRPr>
            </a:pPr>
            <a:r>
              <a:rPr sz="1650" b="1">
                <a:solidFill>
                  <a:srgbClr val="112139"/>
                </a:solidFill>
                <a:latin typeface="Segoe UI"/>
                <a:ea typeface="Segoe UI"/>
                <a:cs typeface="Segoe UI"/>
              </a:rPr>
              <a:t>Problem-solving</a:t>
            </a:r>
          </a:p>
        </p:txBody>
      </p:sp>
    </p:spTree>
    <p:extLst>
      <p:ext uri="{BB962C8B-B14F-4D97-AF65-F5344CB8AC3E}">
        <p14:creationId xmlns:p14="http://schemas.microsoft.com/office/powerpoint/2010/main" val="1256801706"/>
      </p:ext>
    </p:extLst>
  </p:cSld>
</p:sld>
</file>

<file path=ppt/slides/slide9.xml><?xml version="1.0" encoding="utf-8"?>
<p:sld xmlns:p="http://schemas.openxmlformats.org/presentationml/2006/main">
  <p:cSld>
    <p:bg>
      <p:bgPr>
        <a:gradFill xmlns:a="http://schemas.openxmlformats.org/drawingml/2006/main">
          <a:gsLst>
            <a:gs pos="0">
              <a:srgbClr val="FFFFFF"/>
            </a:gs>
            <a:gs pos="70000">
              <a:srgbClr val="F3F8FF"/>
            </a:gs>
            <a:gs pos="100000">
              <a:srgbClr val="EAF6FF"/>
            </a:gs>
          </a:gsLst>
          <a:lin ang="0"/>
        </a:gradFill>
      </p:bgPr>
    </p:bg>
    <p:spTree>
      <p:nvGrpSpPr>
        <p:cNvPr id="1" name=""/>
        <p:cNvGrpSpPr/>
        <p:nvPr/>
      </p:nvGrpSpPr>
      <p:grpSpPr>
        <a:xfrm xmlns:a="http://schemas.openxmlformats.org/drawingml/2006/main"/>
      </p:grpSpPr>
      <p:sp>
        <p:nvSpPr>
          <p:cNvPr id="22" name="CONTACT">
            <a:extLst xmlns:a="http://schemas.openxmlformats.org/drawingml/2006/main">
              <a:ext uri="{FF2B5EF4-FFF2-40B4-BE49-F238E27FC236}">
                <a16:creationId xmlns:a16="http://schemas.microsoft.com/office/drawing/2014/main" id="{2B31BF26-D2D5-479B-8B33-860E9E1E6B14}"/>
              </a:ext>
            </a:extLst>
          </p:cNvPr>
          <p:cNvSpPr>
            <a:spLocks xmlns:a="http://schemas.openxmlformats.org/drawingml/2006/main" noGrp="1"/>
          </p:cNvSpPr>
          <p:nvPr/>
        </p:nvSpPr>
        <p:spPr>
          <a:xfrm xmlns:a="http://schemas.openxmlformats.org/drawingml/2006/main">
            <a:off x="571500" y="304800"/>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2463EB"/>
                </a:solidFill>
                <a:latin typeface="Segoe UI"/>
                <a:ea typeface="Segoe UI"/>
                <a:cs typeface="Segoe UI"/>
              </a:defRPr>
            </a:pPr>
            <a:r>
              <a:rPr sz="1050" b="1">
                <a:solidFill>
                  <a:srgbClr val="2463EB"/>
                </a:solidFill>
                <a:latin typeface="Segoe UI"/>
                <a:ea typeface="Segoe UI"/>
                <a:cs typeface="Segoe UI"/>
              </a:rPr>
              <a:t>CONTACT</a:t>
            </a:r>
          </a:p>
        </p:txBody>
      </p:sp>
      <p:sp>
        <p:nvSpPr>
          <p:cNvPr id="2" name="REVALDY ARRAHMAN">
            <a:extLst xmlns:a="http://schemas.openxmlformats.org/drawingml/2006/main">
              <a:ext uri="{FF2B5EF4-FFF2-40B4-BE49-F238E27FC236}">
                <a16:creationId xmlns:a16="http://schemas.microsoft.com/office/drawing/2014/main" id="{E133C497-5455-4F49-BF2D-29E157F13D99}"/>
              </a:ext>
            </a:extLst>
          </p:cNvPr>
          <p:cNvSpPr>
            <a:spLocks xmlns:a="http://schemas.openxmlformats.org/drawingml/2006/main" noGrp="1"/>
          </p:cNvSpPr>
          <p:nvPr/>
        </p:nvSpPr>
        <p:spPr>
          <a:xfrm xmlns:a="http://schemas.openxmlformats.org/drawingml/2006/main">
            <a:off x="8810625" y="314325"/>
            <a:ext cx="2800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00" b="1">
                <a:solidFill>
                  <a:srgbClr val="5B6B83"/>
                </a:solidFill>
                <a:latin typeface="Segoe UI"/>
                <a:ea typeface="Segoe UI"/>
                <a:cs typeface="Segoe UI"/>
              </a:defRPr>
            </a:pPr>
            <a:r>
              <a:rPr sz="900" b="1">
                <a:solidFill>
                  <a:srgbClr val="5B6B83"/>
                </a:solidFill>
                <a:latin typeface="Segoe UI"/>
                <a:ea typeface="Segoe UI"/>
                <a:cs typeface="Segoe UI"/>
              </a:rPr>
              <a:t>REVALDY ARRAHMAN</a:t>
            </a:r>
          </a:p>
        </p:txBody>
      </p:sp>
      <p:sp>
        <p:nvSpPr>
          <p:cNvPr id="3" name="">
            <a:extLst xmlns:a="http://schemas.openxmlformats.org/drawingml/2006/main">
              <a:ext uri="{FF2B5EF4-FFF2-40B4-BE49-F238E27FC236}">
                <a16:creationId xmlns:a16="http://schemas.microsoft.com/office/drawing/2014/main" id="{D66794DF-AC71-4ADD-BA63-D5BB452D7D57}"/>
              </a:ext>
            </a:extLst>
          </p:cNvPr>
          <p:cNvSpPr>
            <a:spLocks xmlns:a="http://schemas.openxmlformats.org/drawingml/2006/main" noGrp="1"/>
          </p:cNvSpPr>
          <p:nvPr/>
        </p:nvSpPr>
        <p:spPr>
          <a:xfrm xmlns:a="http://schemas.openxmlformats.org/drawingml/2006/main">
            <a:off x="571500" y="6496050"/>
            <a:ext cx="11049000" cy="0"/>
          </a:xfrm>
          <a:prstGeom xmlns:a="http://schemas.openxmlformats.org/drawingml/2006/main" prst="line">
            <a:avLst/>
          </a:prstGeom>
          <a:noFill xmlns:a="http://schemas.openxmlformats.org/drawingml/2006/main"/>
          <a:ln xmlns:a="http://schemas.openxmlformats.org/drawingml/2006/main" w="9525">
            <a:solidFill>
              <a:srgbClr val="DFE7F1"/>
            </a:solidFill>
          </a:ln>
        </p:spPr>
      </p:sp>
      <p:sp>
        <p:nvSpPr>
          <p:cNvPr id="4" name="DATA PORTFOLIO">
            <a:extLst xmlns:a="http://schemas.openxmlformats.org/drawingml/2006/main">
              <a:ext uri="{FF2B5EF4-FFF2-40B4-BE49-F238E27FC236}">
                <a16:creationId xmlns:a16="http://schemas.microsoft.com/office/drawing/2014/main" id="{625FC227-13B1-4CBF-B0E2-147361862F93}"/>
              </a:ext>
            </a:extLst>
          </p:cNvPr>
          <p:cNvSpPr>
            <a:spLocks xmlns:a="http://schemas.openxmlformats.org/drawingml/2006/main" noGrp="1"/>
          </p:cNvSpPr>
          <p:nvPr/>
        </p:nvSpPr>
        <p:spPr>
          <a:xfrm xmlns:a="http://schemas.openxmlformats.org/drawingml/2006/main">
            <a:off x="571500" y="6581775"/>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825" b="1">
                <a:solidFill>
                  <a:srgbClr val="5B6B83"/>
                </a:solidFill>
                <a:latin typeface="Segoe UI"/>
                <a:ea typeface="Segoe UI"/>
                <a:cs typeface="Segoe UI"/>
              </a:defRPr>
            </a:pPr>
            <a:r>
              <a:rPr sz="825" b="1">
                <a:solidFill>
                  <a:srgbClr val="5B6B83"/>
                </a:solidFill>
                <a:latin typeface="Segoe UI"/>
                <a:ea typeface="Segoe UI"/>
                <a:cs typeface="Segoe UI"/>
              </a:rPr>
              <a:t>DATA PORTFOLIO</a:t>
            </a:r>
          </a:p>
        </p:txBody>
      </p:sp>
      <p:sp>
        <p:nvSpPr>
          <p:cNvPr id="5" name="09">
            <a:extLst xmlns:a="http://schemas.openxmlformats.org/drawingml/2006/main">
              <a:ext uri="{FF2B5EF4-FFF2-40B4-BE49-F238E27FC236}">
                <a16:creationId xmlns:a16="http://schemas.microsoft.com/office/drawing/2014/main" id="{11E9F339-ADB0-4136-BC90-F4A326916A4C}"/>
              </a:ext>
            </a:extLst>
          </p:cNvPr>
          <p:cNvSpPr>
            <a:spLocks xmlns:a="http://schemas.openxmlformats.org/drawingml/2006/main" noGrp="1"/>
          </p:cNvSpPr>
          <p:nvPr/>
        </p:nvSpPr>
        <p:spPr>
          <a:xfrm xmlns:a="http://schemas.openxmlformats.org/drawingml/2006/main">
            <a:off x="11106150" y="6562725"/>
            <a:ext cx="5143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1">
                <a:solidFill>
                  <a:srgbClr val="2463EB"/>
                </a:solidFill>
                <a:latin typeface="Segoe UI"/>
                <a:ea typeface="Segoe UI"/>
                <a:cs typeface="Segoe UI"/>
              </a:defRPr>
            </a:pPr>
            <a:r>
              <a:rPr sz="975" b="1">
                <a:solidFill>
                  <a:srgbClr val="2463EB"/>
                </a:solidFill>
                <a:latin typeface="Segoe UI"/>
                <a:ea typeface="Segoe UI"/>
                <a:cs typeface="Segoe UI"/>
              </a:rPr>
              <a:t>09</a:t>
            </a:r>
          </a:p>
        </p:txBody>
      </p:sp>
      <p:sp>
        <p:nvSpPr>
          <p:cNvPr id="6" name="Let’s Turn Data Into Impact.">
            <a:extLst xmlns:a="http://schemas.openxmlformats.org/drawingml/2006/main">
              <a:ext uri="{FF2B5EF4-FFF2-40B4-BE49-F238E27FC236}">
                <a16:creationId xmlns:a16="http://schemas.microsoft.com/office/drawing/2014/main" id="{19B3C819-303E-483C-A751-8C9474FBD1CC}"/>
              </a:ext>
            </a:extLst>
          </p:cNvPr>
          <p:cNvSpPr>
            <a:spLocks xmlns:a="http://schemas.openxmlformats.org/drawingml/2006/main" noGrp="1"/>
          </p:cNvSpPr>
          <p:nvPr/>
        </p:nvSpPr>
        <p:spPr>
          <a:xfrm xmlns:a="http://schemas.openxmlformats.org/drawingml/2006/main">
            <a:off x="542925" y="1228725"/>
            <a:ext cx="10086975"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475" b="1">
                <a:solidFill>
                  <a:srgbClr val="112139"/>
                </a:solidFill>
                <a:latin typeface="Segoe UI"/>
                <a:ea typeface="Segoe UI"/>
                <a:cs typeface="Segoe UI"/>
              </a:defRPr>
            </a:pPr>
            <a:r>
              <a:rPr sz="5475" b="1">
                <a:solidFill>
                  <a:srgbClr val="112139"/>
                </a:solidFill>
                <a:latin typeface="Segoe UI"/>
                <a:ea typeface="Segoe UI"/>
                <a:cs typeface="Segoe UI"/>
              </a:rPr>
              <a:t>Let’s Turn Data</a:t>
            </a:r>
          </a:p>
          <a:p xmlns:a="http://schemas.openxmlformats.org/drawingml/2006/main">
            <a:pPr algn="l">
              <a:defRPr sz="5475" b="1">
                <a:solidFill>
                  <a:srgbClr val="112139"/>
                </a:solidFill>
                <a:latin typeface="Segoe UI"/>
                <a:ea typeface="Segoe UI"/>
                <a:cs typeface="Segoe UI"/>
              </a:defRPr>
            </a:pPr>
            <a:r>
              <a:rPr sz="5475" b="1">
                <a:solidFill>
                  <a:srgbClr val="112139"/>
                </a:solidFill>
                <a:latin typeface="Segoe UI"/>
                <a:ea typeface="Segoe UI"/>
                <a:cs typeface="Segoe UI"/>
              </a:rPr>
              <a:t>Into Impact.</a:t>
            </a:r>
          </a:p>
        </p:txBody>
      </p:sp>
      <p:sp>
        <p:nvSpPr>
          <p:cNvPr id="7" name="Revaldy Arrahman">
            <a:extLst xmlns:a="http://schemas.openxmlformats.org/drawingml/2006/main">
              <a:ext uri="{FF2B5EF4-FFF2-40B4-BE49-F238E27FC236}">
                <a16:creationId xmlns:a16="http://schemas.microsoft.com/office/drawing/2014/main" id="{6ACE2F86-C890-469F-9C0C-B2D407E0508E}"/>
              </a:ext>
            </a:extLst>
          </p:cNvPr>
          <p:cNvSpPr>
            <a:spLocks xmlns:a="http://schemas.openxmlformats.org/drawingml/2006/main" noGrp="1"/>
          </p:cNvSpPr>
          <p:nvPr/>
        </p:nvSpPr>
        <p:spPr>
          <a:xfrm xmlns:a="http://schemas.openxmlformats.org/drawingml/2006/main">
            <a:off x="581025" y="3352800"/>
            <a:ext cx="7181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12139"/>
                </a:solidFill>
                <a:latin typeface="Segoe UI"/>
                <a:ea typeface="Segoe UI"/>
                <a:cs typeface="Segoe UI"/>
              </a:defRPr>
            </a:pPr>
            <a:r>
              <a:rPr sz="2250" b="1">
                <a:solidFill>
                  <a:srgbClr val="112139"/>
                </a:solidFill>
                <a:latin typeface="Segoe UI"/>
                <a:ea typeface="Segoe UI"/>
                <a:cs typeface="Segoe UI"/>
              </a:rPr>
              <a:t>Revaldy Arrahman</a:t>
            </a:r>
          </a:p>
        </p:txBody>
      </p:sp>
      <p:sp>
        <p:nvSpPr>
          <p:cNvPr id="8" name="Open to Data Analyst &amp; Data Engineer opportuniti">
            <a:extLst xmlns:a="http://schemas.openxmlformats.org/drawingml/2006/main">
              <a:ext uri="{FF2B5EF4-FFF2-40B4-BE49-F238E27FC236}">
                <a16:creationId xmlns:a16="http://schemas.microsoft.com/office/drawing/2014/main" id="{9A62880F-C3B4-4101-8361-C024A4E5EA84}"/>
              </a:ext>
            </a:extLst>
          </p:cNvPr>
          <p:cNvSpPr>
            <a:spLocks xmlns:a="http://schemas.openxmlformats.org/drawingml/2006/main" noGrp="1"/>
          </p:cNvSpPr>
          <p:nvPr/>
        </p:nvSpPr>
        <p:spPr>
          <a:xfrm xmlns:a="http://schemas.openxmlformats.org/drawingml/2006/main">
            <a:off x="581025" y="392430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2463EB"/>
                </a:solidFill>
                <a:latin typeface="Segoe UI"/>
                <a:ea typeface="Segoe UI"/>
                <a:cs typeface="Segoe UI"/>
              </a:defRPr>
            </a:pPr>
            <a:r>
              <a:rPr sz="1950" b="1">
                <a:solidFill>
                  <a:srgbClr val="2463EB"/>
                </a:solidFill>
                <a:latin typeface="Segoe UI"/>
                <a:ea typeface="Segoe UI"/>
                <a:cs typeface="Segoe UI"/>
              </a:rPr>
              <a:t>Open to Data Analyst &amp; Data Engineer opportunities</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73713ae02f694a2c"/>
          <a:stretch xmlns:a="http://schemas.openxmlformats.org/drawingml/2006/main"/>
        </p:blipFill>
        <p:spPr>
          <a:xfrm xmlns:a="http://schemas.openxmlformats.org/drawingml/2006/main">
            <a:off x="581025" y="4714875"/>
            <a:ext cx="257175" cy="257175"/>
          </a:xfrm>
          <a:prstGeom xmlns:a="http://schemas.openxmlformats.org/drawingml/2006/main" prst="rect">
            <a:avLst/>
          </a:prstGeom>
        </p:spPr>
      </p:pic>
      <p:sp>
        <p:nvSpPr>
          <p:cNvPr id="10" name="EMAIL">
            <a:extLst xmlns:a="http://schemas.openxmlformats.org/drawingml/2006/main">
              <a:ext uri="{FF2B5EF4-FFF2-40B4-BE49-F238E27FC236}">
                <a16:creationId xmlns:a16="http://schemas.microsoft.com/office/drawing/2014/main" id="{73B48A3D-E720-4773-B202-E0D832310D0E}"/>
              </a:ext>
            </a:extLst>
          </p:cNvPr>
          <p:cNvSpPr>
            <a:spLocks xmlns:a="http://schemas.openxmlformats.org/drawingml/2006/main" noGrp="1"/>
          </p:cNvSpPr>
          <p:nvPr/>
        </p:nvSpPr>
        <p:spPr>
          <a:xfrm xmlns:a="http://schemas.openxmlformats.org/drawingml/2006/main">
            <a:off x="1000125" y="4733925"/>
            <a:ext cx="13239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2463EB"/>
                </a:solidFill>
                <a:latin typeface="Segoe UI"/>
                <a:ea typeface="Segoe UI"/>
                <a:cs typeface="Segoe UI"/>
              </a:defRPr>
            </a:pPr>
            <a:r>
              <a:rPr sz="1050" b="1">
                <a:solidFill>
                  <a:srgbClr val="2463EB"/>
                </a:solidFill>
                <a:latin typeface="Segoe UI"/>
                <a:ea typeface="Segoe UI"/>
                <a:cs typeface="Segoe UI"/>
              </a:rPr>
              <a:t>EMAIL</a:t>
            </a:r>
          </a:p>
        </p:txBody>
      </p:sp>
      <p:sp>
        <p:nvSpPr>
          <p:cNvPr id="11" name="[Add email address]">
            <a:extLst xmlns:a="http://schemas.openxmlformats.org/drawingml/2006/main">
              <a:ext uri="{FF2B5EF4-FFF2-40B4-BE49-F238E27FC236}">
                <a16:creationId xmlns:a16="http://schemas.microsoft.com/office/drawing/2014/main" id="{CC660926-8F97-49AF-B7E2-DA763FA560C1}"/>
              </a:ext>
            </a:extLst>
          </p:cNvPr>
          <p:cNvSpPr>
            <a:spLocks xmlns:a="http://schemas.openxmlformats.org/drawingml/2006/main" noGrp="1"/>
          </p:cNvSpPr>
          <p:nvPr/>
        </p:nvSpPr>
        <p:spPr>
          <a:xfrm xmlns:a="http://schemas.openxmlformats.org/drawingml/2006/main">
            <a:off x="2628900" y="4705350"/>
            <a:ext cx="52673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B6B83"/>
                </a:solidFill>
                <a:latin typeface="Segoe UI"/>
                <a:ea typeface="Segoe UI"/>
                <a:cs typeface="Segoe UI"/>
              </a:defRPr>
            </a:pPr>
            <a:r>
              <a:rPr sz="1650" b="0">
                <a:solidFill>
                  <a:srgbClr val="5B6B83"/>
                </a:solidFill>
                <a:latin typeface="Segoe UI"/>
                <a:ea typeface="Segoe UI"/>
                <a:cs typeface="Segoe UI"/>
              </a:rPr>
              <a:t>[Add email address]</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c2f7d15384444b77"/>
          <a:stretch xmlns:a="http://schemas.openxmlformats.org/drawingml/2006/main"/>
        </p:blipFill>
        <p:spPr>
          <a:xfrm xmlns:a="http://schemas.openxmlformats.org/drawingml/2006/main">
            <a:off x="581025" y="5210175"/>
            <a:ext cx="257175" cy="257175"/>
          </a:xfrm>
          <a:prstGeom xmlns:a="http://schemas.openxmlformats.org/drawingml/2006/main" prst="rect">
            <a:avLst/>
          </a:prstGeom>
        </p:spPr>
      </p:pic>
      <p:sp>
        <p:nvSpPr>
          <p:cNvPr id="13" name="LINKEDIN">
            <a:extLst xmlns:a="http://schemas.openxmlformats.org/drawingml/2006/main">
              <a:ext uri="{FF2B5EF4-FFF2-40B4-BE49-F238E27FC236}">
                <a16:creationId xmlns:a16="http://schemas.microsoft.com/office/drawing/2014/main" id="{1711B621-977F-4604-8C98-38C8DAA6164F}"/>
              </a:ext>
            </a:extLst>
          </p:cNvPr>
          <p:cNvSpPr>
            <a:spLocks xmlns:a="http://schemas.openxmlformats.org/drawingml/2006/main" noGrp="1"/>
          </p:cNvSpPr>
          <p:nvPr/>
        </p:nvSpPr>
        <p:spPr>
          <a:xfrm xmlns:a="http://schemas.openxmlformats.org/drawingml/2006/main">
            <a:off x="1000125" y="5229225"/>
            <a:ext cx="13239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2463EB"/>
                </a:solidFill>
                <a:latin typeface="Segoe UI"/>
                <a:ea typeface="Segoe UI"/>
                <a:cs typeface="Segoe UI"/>
              </a:defRPr>
            </a:pPr>
            <a:r>
              <a:rPr sz="1050" b="1">
                <a:solidFill>
                  <a:srgbClr val="2463EB"/>
                </a:solidFill>
                <a:latin typeface="Segoe UI"/>
                <a:ea typeface="Segoe UI"/>
                <a:cs typeface="Segoe UI"/>
              </a:rPr>
              <a:t>LINKEDIN</a:t>
            </a:r>
          </a:p>
        </p:txBody>
      </p:sp>
      <p:sp>
        <p:nvSpPr>
          <p:cNvPr id="14" name="[Add LinkedIn URL]">
            <a:extLst xmlns:a="http://schemas.openxmlformats.org/drawingml/2006/main">
              <a:ext uri="{FF2B5EF4-FFF2-40B4-BE49-F238E27FC236}">
                <a16:creationId xmlns:a16="http://schemas.microsoft.com/office/drawing/2014/main" id="{5D498770-BFEA-4FE1-8992-1DBA17108BB3}"/>
              </a:ext>
            </a:extLst>
          </p:cNvPr>
          <p:cNvSpPr>
            <a:spLocks xmlns:a="http://schemas.openxmlformats.org/drawingml/2006/main" noGrp="1"/>
          </p:cNvSpPr>
          <p:nvPr/>
        </p:nvSpPr>
        <p:spPr>
          <a:xfrm xmlns:a="http://schemas.openxmlformats.org/drawingml/2006/main">
            <a:off x="2628900" y="5200650"/>
            <a:ext cx="52673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B6B83"/>
                </a:solidFill>
                <a:latin typeface="Segoe UI"/>
                <a:ea typeface="Segoe UI"/>
                <a:cs typeface="Segoe UI"/>
              </a:defRPr>
            </a:pPr>
            <a:r>
              <a:rPr sz="1650" b="0">
                <a:solidFill>
                  <a:srgbClr val="5B6B83"/>
                </a:solidFill>
                <a:latin typeface="Segoe UI"/>
                <a:ea typeface="Segoe UI"/>
                <a:cs typeface="Segoe UI"/>
              </a:rPr>
              <a:t>[Add LinkedIn URL]</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8275c3aa2db04542"/>
          <a:stretch xmlns:a="http://schemas.openxmlformats.org/drawingml/2006/main"/>
        </p:blipFill>
        <p:spPr>
          <a:xfrm xmlns:a="http://schemas.openxmlformats.org/drawingml/2006/main">
            <a:off x="581025" y="5705475"/>
            <a:ext cx="257175" cy="257175"/>
          </a:xfrm>
          <a:prstGeom xmlns:a="http://schemas.openxmlformats.org/drawingml/2006/main" prst="rect">
            <a:avLst/>
          </a:prstGeom>
        </p:spPr>
      </p:pic>
      <p:sp>
        <p:nvSpPr>
          <p:cNvPr id="16" name="GITHUB">
            <a:extLst xmlns:a="http://schemas.openxmlformats.org/drawingml/2006/main">
              <a:ext uri="{FF2B5EF4-FFF2-40B4-BE49-F238E27FC236}">
                <a16:creationId xmlns:a16="http://schemas.microsoft.com/office/drawing/2014/main" id="{5CC74101-D1A2-40EA-A8FD-37F12D57DFBB}"/>
              </a:ext>
            </a:extLst>
          </p:cNvPr>
          <p:cNvSpPr>
            <a:spLocks xmlns:a="http://schemas.openxmlformats.org/drawingml/2006/main" noGrp="1"/>
          </p:cNvSpPr>
          <p:nvPr/>
        </p:nvSpPr>
        <p:spPr>
          <a:xfrm xmlns:a="http://schemas.openxmlformats.org/drawingml/2006/main">
            <a:off x="1000125" y="5724525"/>
            <a:ext cx="13239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2463EB"/>
                </a:solidFill>
                <a:latin typeface="Segoe UI"/>
                <a:ea typeface="Segoe UI"/>
                <a:cs typeface="Segoe UI"/>
              </a:defRPr>
            </a:pPr>
            <a:r>
              <a:rPr sz="1050" b="1">
                <a:solidFill>
                  <a:srgbClr val="2463EB"/>
                </a:solidFill>
                <a:latin typeface="Segoe UI"/>
                <a:ea typeface="Segoe UI"/>
                <a:cs typeface="Segoe UI"/>
              </a:rPr>
              <a:t>GITHUB</a:t>
            </a:r>
          </a:p>
        </p:txBody>
      </p:sp>
      <p:sp>
        <p:nvSpPr>
          <p:cNvPr id="17" name="[Add GitHub URL]">
            <a:extLst xmlns:a="http://schemas.openxmlformats.org/drawingml/2006/main">
              <a:ext uri="{FF2B5EF4-FFF2-40B4-BE49-F238E27FC236}">
                <a16:creationId xmlns:a16="http://schemas.microsoft.com/office/drawing/2014/main" id="{5900980C-E0AE-4085-B14B-B4C04ACDBB9E}"/>
              </a:ext>
            </a:extLst>
          </p:cNvPr>
          <p:cNvSpPr>
            <a:spLocks xmlns:a="http://schemas.openxmlformats.org/drawingml/2006/main" noGrp="1"/>
          </p:cNvSpPr>
          <p:nvPr/>
        </p:nvSpPr>
        <p:spPr>
          <a:xfrm xmlns:a="http://schemas.openxmlformats.org/drawingml/2006/main">
            <a:off x="2628900" y="5695950"/>
            <a:ext cx="52673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B6B83"/>
                </a:solidFill>
                <a:latin typeface="Segoe UI"/>
                <a:ea typeface="Segoe UI"/>
                <a:cs typeface="Segoe UI"/>
              </a:defRPr>
            </a:pPr>
            <a:r>
              <a:rPr sz="1650" b="0">
                <a:solidFill>
                  <a:srgbClr val="5B6B83"/>
                </a:solidFill>
                <a:latin typeface="Segoe UI"/>
                <a:ea typeface="Segoe UI"/>
                <a:cs typeface="Segoe UI"/>
              </a:rPr>
              <a:t>[Add GitHub URL]</a:t>
            </a:r>
          </a:p>
        </p:txBody>
      </p:sp>
      <p:sp>
        <p:nvSpPr>
          <p:cNvPr id="18" name="">
            <a:extLst xmlns:a="http://schemas.openxmlformats.org/drawingml/2006/main">
              <a:ext uri="{FF2B5EF4-FFF2-40B4-BE49-F238E27FC236}">
                <a16:creationId xmlns:a16="http://schemas.microsoft.com/office/drawing/2014/main" id="{1DB848ED-E370-442C-9EED-D61B330757D6}"/>
              </a:ext>
            </a:extLst>
          </p:cNvPr>
          <p:cNvSpPr>
            <a:spLocks xmlns:a="http://schemas.openxmlformats.org/drawingml/2006/main" noGrp="1"/>
          </p:cNvSpPr>
          <p:nvPr/>
        </p:nvSpPr>
        <p:spPr>
          <a:xfrm xmlns:a="http://schemas.openxmlformats.org/drawingml/2006/main">
            <a:off x="9525000" y="4505325"/>
            <a:ext cx="2047875" cy="1733550"/>
          </a:xfrm>
          <a:prstGeom xmlns:a="http://schemas.openxmlformats.org/drawingml/2006/main" prst="roundRect">
            <a:avLst>
              <a:gd name="adj" fmla="val 10989"/>
            </a:avLst>
          </a:prstGeom>
          <a:solidFill xmlns:a="http://schemas.openxmlformats.org/drawingml/2006/main">
            <a:srgbClr val="FFFFFF"/>
          </a:solidFill>
          <a:ln xmlns:a="http://schemas.openxmlformats.org/drawingml/2006/main" w="9525">
            <a:solidFill>
              <a:srgbClr val="DFE7F1"/>
            </a:solidFill>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b0cf1f200e01400b"/>
          <a:stretch xmlns:a="http://schemas.openxmlformats.org/drawingml/2006/main"/>
        </p:blipFill>
        <p:spPr>
          <a:xfrm xmlns:a="http://schemas.openxmlformats.org/drawingml/2006/main">
            <a:off x="10172700" y="4695825"/>
            <a:ext cx="762000" cy="762000"/>
          </a:xfrm>
          <a:prstGeom xmlns:a="http://schemas.openxmlformats.org/drawingml/2006/main" prst="rect">
            <a:avLst/>
          </a:prstGeom>
        </p:spPr>
      </p:pic>
      <p:sp>
        <p:nvSpPr>
          <p:cNvPr id="20" name="QR placeholder">
            <a:extLst xmlns:a="http://schemas.openxmlformats.org/drawingml/2006/main">
              <a:ext uri="{FF2B5EF4-FFF2-40B4-BE49-F238E27FC236}">
                <a16:creationId xmlns:a16="http://schemas.microsoft.com/office/drawing/2014/main" id="{1AFEE9B9-744F-4BFB-9B1D-899741CE5AA5}"/>
              </a:ext>
            </a:extLst>
          </p:cNvPr>
          <p:cNvSpPr>
            <a:spLocks xmlns:a="http://schemas.openxmlformats.org/drawingml/2006/main" noGrp="1"/>
          </p:cNvSpPr>
          <p:nvPr/>
        </p:nvSpPr>
        <p:spPr>
          <a:xfrm xmlns:a="http://schemas.openxmlformats.org/drawingml/2006/main">
            <a:off x="9715500" y="5610225"/>
            <a:ext cx="166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75" b="1">
                <a:solidFill>
                  <a:srgbClr val="112139"/>
                </a:solidFill>
                <a:latin typeface="Segoe UI"/>
                <a:ea typeface="Segoe UI"/>
                <a:cs typeface="Segoe UI"/>
              </a:defRPr>
            </a:pPr>
            <a:r>
              <a:rPr sz="1275" b="1">
                <a:solidFill>
                  <a:srgbClr val="112139"/>
                </a:solidFill>
                <a:latin typeface="Segoe UI"/>
                <a:ea typeface="Segoe UI"/>
                <a:cs typeface="Segoe UI"/>
              </a:rPr>
              <a:t>QR placeholder</a:t>
            </a:r>
          </a:p>
        </p:txBody>
      </p:sp>
      <p:sp>
        <p:nvSpPr>
          <p:cNvPr id="21" name="Portfolio website">
            <a:extLst xmlns:a="http://schemas.openxmlformats.org/drawingml/2006/main">
              <a:ext uri="{FF2B5EF4-FFF2-40B4-BE49-F238E27FC236}">
                <a16:creationId xmlns:a16="http://schemas.microsoft.com/office/drawing/2014/main" id="{F6A8A09C-82B8-4C54-B0C7-6A475EFEB65D}"/>
              </a:ext>
            </a:extLst>
          </p:cNvPr>
          <p:cNvSpPr>
            <a:spLocks xmlns:a="http://schemas.openxmlformats.org/drawingml/2006/main" noGrp="1"/>
          </p:cNvSpPr>
          <p:nvPr/>
        </p:nvSpPr>
        <p:spPr>
          <a:xfrm xmlns:a="http://schemas.openxmlformats.org/drawingml/2006/main">
            <a:off x="9715500" y="5924550"/>
            <a:ext cx="1666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125" b="0">
                <a:solidFill>
                  <a:srgbClr val="5B6B83"/>
                </a:solidFill>
                <a:latin typeface="Segoe UI"/>
                <a:ea typeface="Segoe UI"/>
                <a:cs typeface="Segoe UI"/>
              </a:defRPr>
            </a:pPr>
            <a:r>
              <a:rPr sz="1125" b="0">
                <a:solidFill>
                  <a:srgbClr val="5B6B83"/>
                </a:solidFill>
                <a:latin typeface="Segoe UI"/>
                <a:ea typeface="Segoe UI"/>
                <a:cs typeface="Segoe UI"/>
              </a:rPr>
              <a:t>Portfolio website</a:t>
            </a:r>
          </a:p>
        </p:txBody>
      </p:sp>
    </p:spTree>
    <p:extLst>
      <p:ext uri="{BB962C8B-B14F-4D97-AF65-F5344CB8AC3E}">
        <p14:creationId xmlns:p14="http://schemas.microsoft.com/office/powerpoint/2010/main" val="15537229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2026-10-02T02:17:12.5910000Z</dcterms:created>
  <dcterms:modified xsi:type="dcterms:W3CDTF">2026-10-02T02:17:12.5920000Z</dcterms:modified>
</coreProperties>
</file>